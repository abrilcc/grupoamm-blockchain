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8" r:id="rId1"/>
  </p:sldMasterIdLst>
  <p:notesMasterIdLst>
    <p:notesMasterId r:id="rId29"/>
  </p:notesMasterIdLst>
  <p:sldIdLst>
    <p:sldId id="256" r:id="rId2"/>
    <p:sldId id="294" r:id="rId3"/>
    <p:sldId id="295" r:id="rId4"/>
    <p:sldId id="258" r:id="rId5"/>
    <p:sldId id="263" r:id="rId6"/>
    <p:sldId id="264" r:id="rId7"/>
    <p:sldId id="293" r:id="rId8"/>
    <p:sldId id="265" r:id="rId9"/>
    <p:sldId id="269" r:id="rId10"/>
    <p:sldId id="271" r:id="rId11"/>
    <p:sldId id="273" r:id="rId12"/>
    <p:sldId id="272" r:id="rId13"/>
    <p:sldId id="292" r:id="rId14"/>
    <p:sldId id="270" r:id="rId15"/>
    <p:sldId id="274" r:id="rId16"/>
    <p:sldId id="275" r:id="rId17"/>
    <p:sldId id="291" r:id="rId18"/>
    <p:sldId id="276" r:id="rId19"/>
    <p:sldId id="278" r:id="rId20"/>
    <p:sldId id="279" r:id="rId21"/>
    <p:sldId id="290" r:id="rId22"/>
    <p:sldId id="282" r:id="rId23"/>
    <p:sldId id="287" r:id="rId24"/>
    <p:sldId id="284" r:id="rId25"/>
    <p:sldId id="286" r:id="rId26"/>
    <p:sldId id="288" r:id="rId27"/>
    <p:sldId id="289" r:id="rId28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ción predeterminada" id="{BF123A26-A142-4BE2-B140-FA2E5ED73703}">
          <p14:sldIdLst>
            <p14:sldId id="256"/>
            <p14:sldId id="294"/>
            <p14:sldId id="295"/>
            <p14:sldId id="258"/>
            <p14:sldId id="263"/>
            <p14:sldId id="264"/>
            <p14:sldId id="293"/>
            <p14:sldId id="265"/>
            <p14:sldId id="269"/>
            <p14:sldId id="271"/>
            <p14:sldId id="273"/>
            <p14:sldId id="272"/>
            <p14:sldId id="292"/>
            <p14:sldId id="270"/>
            <p14:sldId id="274"/>
            <p14:sldId id="275"/>
            <p14:sldId id="291"/>
            <p14:sldId id="276"/>
            <p14:sldId id="278"/>
            <p14:sldId id="279"/>
            <p14:sldId id="290"/>
            <p14:sldId id="282"/>
            <p14:sldId id="287"/>
            <p14:sldId id="284"/>
            <p14:sldId id="286"/>
            <p14:sldId id="288"/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9933"/>
    <a:srgbClr val="00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>
        <p:scale>
          <a:sx n="66" d="100"/>
          <a:sy n="66" d="100"/>
        </p:scale>
        <p:origin x="900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371FA8D-B60B-4538-ABC7-436764FCB4D8}" type="datetimeFigureOut">
              <a:rPr lang="es-ES" smtClean="0"/>
              <a:t>06/12/2025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C258D99-116B-43CA-B39C-69B46296A37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619915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258D99-116B-43CA-B39C-69B46296A373}" type="slidenum">
              <a:rPr lang="es-ES" smtClean="0"/>
              <a:t>19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19766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3C373-9367-FFFC-18F3-B0EC242A4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CD5BA2E-96EE-C305-F953-7AFC7D7CBD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863429F-50D7-B2D1-9E50-7644ADF7B6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55F9D93-220E-378B-A8A7-3FA3B81548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258D99-116B-43CA-B39C-69B46296A373}" type="slidenum">
              <a:rPr lang="es-ES" smtClean="0"/>
              <a:t>20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294925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4EA456-C374-31D0-997F-E89DDA9CB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2B80ED8-0102-F55D-B23A-4EA6BA962F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FA956A5-1FD9-F2F5-4F71-D973DFA10E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B0F4CD8-C22D-5C0D-DEC7-098E552E03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258D99-116B-43CA-B39C-69B46296A373}" type="slidenum">
              <a:rPr lang="es-ES" smtClean="0"/>
              <a:t>22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226145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D2C685-5A69-9A2E-5521-DA19B5937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2ABBC3A-DBAA-EF80-C2FB-C9ACFA5290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5E3D25E-66FA-CCB8-BC9F-EE9C7DCCAC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2BA9A5A-963E-47B8-3FE6-11D28DA26B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258D99-116B-43CA-B39C-69B46296A373}" type="slidenum">
              <a:rPr lang="es-ES" smtClean="0"/>
              <a:t>24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157362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AD0C36-0FBB-A271-5944-395AB8F90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71C6633-FC21-ED7F-D148-9EC5779D5A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002DB12-BBE0-77CA-F49D-6D2670DB82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EC61B8B-BFE6-BF5E-08D4-9D33183D09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258D99-116B-43CA-B39C-69B46296A373}" type="slidenum">
              <a:rPr lang="es-ES" smtClean="0"/>
              <a:t>26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404589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756FB-E05E-443F-88A1-CFC9063899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4727" y="1597961"/>
            <a:ext cx="9144000" cy="3162300"/>
          </a:xfrm>
        </p:spPr>
        <p:txBody>
          <a:bodyPr anchor="b">
            <a:normAutofit/>
          </a:bodyPr>
          <a:lstStyle>
            <a:lvl1pPr algn="l"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5DA97A-281B-4A77-9D2C-C5E6A860E6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84727" y="4902488"/>
            <a:ext cx="9144000" cy="985075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FD7BAE-E194-4223-BB4E-5E487863F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8A28C-4C6A-46EA-90C0-4EE0B89CC5C7}" type="datetimeFigureOut">
              <a:rPr lang="en-US" smtClean="0"/>
              <a:t>12/6/2025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21F6C9-7279-4DF8-9462-3EFEFA03F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457072-0A38-49AD-8D0D-0E42DD488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EF7F31-0B8A-474A-B86C-91F381754329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44979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98199-C6CF-4DFF-A750-435F06CC7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F2D5EB-F993-411F-9DBA-971321FC00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A5D216-27F9-4078-8349-ABC9F614A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8A28C-4C6A-46EA-90C0-4EE0B89CC5C7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84F8A8-FBA7-4F25-ADEA-AF346495DE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4609F8-5897-4724-8FA6-3EFDE8F2D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EF7F31-0B8A-474A-B86C-91F38175432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9618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C0F0C-7BA8-490D-B4C9-CCE145DCD1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4726" y="1709738"/>
            <a:ext cx="9143999" cy="3050523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290E61-B837-4BE4-9BC7-6AF706BCCA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84726" y="4902488"/>
            <a:ext cx="9143999" cy="985075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52E15F-E46D-44C6-9FB9-07B0BC545A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8A28C-4C6A-46EA-90C0-4EE0B89CC5C7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BF6955-3667-4857-B35A-9E12F7988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14B309-D15E-4FA1-9B8D-8C1F3B56C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EF7F31-0B8A-474A-B86C-91F38175432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625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219AB-91F9-4F80-9B5D-2E6FE925F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19F334-D0CF-4DFD-BAA9-3ECD639B1F1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77362" y="2227809"/>
            <a:ext cx="4942438" cy="394915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5E0B5D-4613-4DA7-BA20-58B19BE8A4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227809"/>
            <a:ext cx="4855265" cy="39491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F311AB-0603-424D-BC42-0CEAB3562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8A28C-4C6A-46EA-90C0-4EE0B89CC5C7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3AA2AC-0C5F-4835-BE47-D780C2989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6C54C0-DFDA-4778-9EE8-5E5C30E05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EF7F31-0B8A-474A-B86C-91F38175432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6247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F3603-5B09-4916-8324-A6BDAB4E06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4726" y="365125"/>
            <a:ext cx="9942739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74073C-C15B-4218-9B84-6758955176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84725" y="1681163"/>
            <a:ext cx="491285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116D27-36F6-440B-A9BE-8B9499047C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84726" y="2505075"/>
            <a:ext cx="4912849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12010D-7AC4-4A70-A211-6A29274119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485526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AE85B5-3350-49A4-86A1-E5DAED49162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4855265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73E874-D08B-4D81-B82D-5DF242E4A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8A28C-4C6A-46EA-90C0-4EE0B89CC5C7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E174067-0FFA-41C3-A3A6-E8907CC32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7947985-FBC0-4118-8877-2E327F637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EF7F31-0B8A-474A-B86C-91F38175432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4511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E0282-3DE7-4AB9-83AC-AFEDD22AF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A7436C-706A-443F-86CD-4444C82818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8A28C-4C6A-46EA-90C0-4EE0B89CC5C7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B53292-7EA5-45D0-957F-636A44FC06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76F59D-34BB-462C-B506-040B9E982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EF7F31-0B8A-474A-B86C-91F38175432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10490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BE55245-AB52-41B4-9B28-55E6527DA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8A28C-4C6A-46EA-90C0-4EE0B89CC5C7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73B8AE-58B0-4FDF-8430-9D8D3DD537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9E4D91-8619-43C1-841B-B5F47DE01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EF7F31-0B8A-474A-B86C-91F38175432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66260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DA660-DF93-4947-B93F-BF118D3B5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4727" y="457200"/>
            <a:ext cx="368729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F0292E-B3E1-4FD6-A7FA-C165BAC21C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5844277" cy="487362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FB0ECC-817B-4A71-AFB5-FC60A2BC3A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84727" y="2253343"/>
            <a:ext cx="3687298" cy="361564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788E0B-6135-4F59-A35A-2CA1A8BA4E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8A28C-4C6A-46EA-90C0-4EE0B89CC5C7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0DEF36-4037-4E6D-988F-CC8E3F11C6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5C0D2D-D878-4723-A002-5A601EFB4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EF7F31-0B8A-474A-B86C-91F38175432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8298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5C59D5-B8A1-4C9C-A61F-E082A44330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4727" y="720433"/>
            <a:ext cx="3687298" cy="1587337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4CB4F5F-E6E7-45C3-B35C-80F81FB1A5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5827712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633AB7-4F8E-4A9F-AC15-89E6A6E003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84727" y="2449286"/>
            <a:ext cx="3687298" cy="341970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74B526-866D-4E11-A7F9-081BD4EDF4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8A28C-4C6A-46EA-90C0-4EE0B89CC5C7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758BF8-E962-4367-8495-62438FDD48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C20AE1-C97D-4E6C-9DB2-B2904C2CF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EF7F31-0B8A-474A-B86C-91F38175432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877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89E81-5CFF-4A28-B9C8-5D54E51DF2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8A4CC8-DCB0-4E94-98A7-236E3D1866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D1F802-21C2-44B2-A419-55469D8265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8A28C-4C6A-46EA-90C0-4EE0B89CC5C7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BDB709-08FF-4C4A-8670-4CCA9146F9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395375-1CC8-4950-8439-877451C426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EF7F31-0B8A-474A-B86C-91F38175432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85155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CE8BDF0-A155-454D-B3E2-AD15D0905A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073242" y="827313"/>
            <a:ext cx="2280557" cy="5061857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244E0D-96EC-4B35-BA5C-5DAFCC7281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827313"/>
            <a:ext cx="8115300" cy="5061857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3ADC4E-9FB1-439F-B0FB-47F47B342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8A28C-4C6A-46EA-90C0-4EE0B89CC5C7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7EE406-061A-4440-BA75-3B684FC84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6D93CF-F5F3-4897-A51E-47D577FDD3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EF7F31-0B8A-474A-B86C-91F38175432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21534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E192E3E-68A9-4F36-936C-1C8D0B9EF132}"/>
              </a:ext>
            </a:extLst>
          </p:cNvPr>
          <p:cNvSpPr/>
          <p:nvPr/>
        </p:nvSpPr>
        <p:spPr>
          <a:xfrm>
            <a:off x="8803792" y="3455896"/>
            <a:ext cx="3388208" cy="3406341"/>
          </a:xfrm>
          <a:custGeom>
            <a:avLst/>
            <a:gdLst>
              <a:gd name="connsiteX0" fmla="*/ 3388058 w 3388208"/>
              <a:gd name="connsiteY0" fmla="*/ 0 h 3406341"/>
              <a:gd name="connsiteX1" fmla="*/ 3388208 w 3388208"/>
              <a:gd name="connsiteY1" fmla="*/ 0 h 3406341"/>
              <a:gd name="connsiteX2" fmla="*/ 3388208 w 3388208"/>
              <a:gd name="connsiteY2" fmla="*/ 3406341 h 3406341"/>
              <a:gd name="connsiteX3" fmla="*/ 0 w 3388208"/>
              <a:gd name="connsiteY3" fmla="*/ 3406341 h 3406341"/>
              <a:gd name="connsiteX4" fmla="*/ 79006 w 3388208"/>
              <a:gd name="connsiteY4" fmla="*/ 3404386 h 3406341"/>
              <a:gd name="connsiteX5" fmla="*/ 3383947 w 3388208"/>
              <a:gd name="connsiteY5" fmla="*/ 164274 h 3406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388208" h="3406341">
                <a:moveTo>
                  <a:pt x="3388058" y="0"/>
                </a:moveTo>
                <a:lnTo>
                  <a:pt x="3388208" y="0"/>
                </a:lnTo>
                <a:lnTo>
                  <a:pt x="3388208" y="3406341"/>
                </a:lnTo>
                <a:lnTo>
                  <a:pt x="0" y="3406341"/>
                </a:lnTo>
                <a:lnTo>
                  <a:pt x="79006" y="3404386"/>
                </a:lnTo>
                <a:cubicBezTo>
                  <a:pt x="1864742" y="3315784"/>
                  <a:pt x="3296223" y="1912901"/>
                  <a:pt x="3383947" y="164274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214EB0-7E6D-4536-9350-5CB688B56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362" y="720434"/>
            <a:ext cx="9950103" cy="150737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F5455E-4725-4924-BF7D-2E1FC9E391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77362" y="2427316"/>
            <a:ext cx="9950103" cy="35135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CAD9D9-1A1D-4438-9F3D-E5E58FD72F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243751" y="6356350"/>
            <a:ext cx="22966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fld id="{8C28A28C-4C6A-46EA-90C0-4EE0B89CC5C7}" type="datetimeFigureOut">
              <a:rPr lang="en-US" smtClean="0"/>
              <a:pPr/>
              <a:t>12/6/2025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80A827-D7BF-4CA4-8C29-5AE54ADA47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-1610380" y="1926575"/>
            <a:ext cx="383035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717188-1DE1-4DA5-8161-21179E4ADE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40355" y="6356350"/>
            <a:ext cx="4109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fld id="{5DEF7F31-0B8A-474A-B86C-91F38175432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94152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1" r:id="rId6"/>
    <p:sldLayoutId id="2147483727" r:id="rId7"/>
    <p:sldLayoutId id="2147483728" r:id="rId8"/>
    <p:sldLayoutId id="2147483729" r:id="rId9"/>
    <p:sldLayoutId id="2147483730" r:id="rId10"/>
    <p:sldLayoutId id="2147483732" r:id="rId11"/>
  </p:sldLayoutIdLst>
  <p:txStyles>
    <p:titleStyle>
      <a:lvl1pPr algn="l" defTabSz="914400" rtl="0" eaLnBrk="1" latinLnBrk="0" hangingPunct="1">
        <a:lnSpc>
          <a:spcPct val="110000"/>
        </a:lnSpc>
        <a:spcBef>
          <a:spcPct val="0"/>
        </a:spcBef>
        <a:buNone/>
        <a:defRPr sz="3200" b="1" kern="1200">
          <a:solidFill>
            <a:schemeClr val="tx1"/>
          </a:solidFill>
          <a:effectLst/>
          <a:latin typeface="Arial" panose="020B06040202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1pPr>
      <a:lvl2pPr marL="274320" indent="0" algn="l" defTabSz="914400" rtl="0" eaLnBrk="1" latinLnBrk="0" hangingPunct="1">
        <a:lnSpc>
          <a:spcPct val="120000"/>
        </a:lnSpc>
        <a:spcBef>
          <a:spcPts val="500"/>
        </a:spcBef>
        <a:buFontTx/>
        <a:buNone/>
        <a:defRPr sz="1600" b="1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2pPr>
      <a:lvl3pPr marL="54864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3pPr>
      <a:lvl4pPr marL="594360" indent="0" algn="l" defTabSz="914400" rtl="0" eaLnBrk="1" latinLnBrk="0" hangingPunct="1">
        <a:lnSpc>
          <a:spcPct val="120000"/>
        </a:lnSpc>
        <a:spcBef>
          <a:spcPts val="500"/>
        </a:spcBef>
        <a:buFontTx/>
        <a:buNone/>
        <a:defRPr sz="1200" b="1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4pPr>
      <a:lvl5pPr marL="82296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96F4257-8A8B-4687-A362-2FB0FD5953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94934CB-326A-529A-3C85-6B11903F6E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482" y="1702177"/>
            <a:ext cx="4914709" cy="3162300"/>
          </a:xfrm>
        </p:spPr>
        <p:txBody>
          <a:bodyPr anchor="t">
            <a:normAutofit/>
          </a:bodyPr>
          <a:lstStyle/>
          <a:p>
            <a:pPr algn="ctr"/>
            <a:r>
              <a:rPr lang="en-US" sz="4500" dirty="0">
                <a:latin typeface="Arial" panose="020B0604020202020204" pitchFamily="34" charset="0"/>
                <a:cs typeface="Arial" panose="020B0604020202020204" pitchFamily="34" charset="0"/>
              </a:rPr>
              <a:t>Automated Market Makers</a:t>
            </a:r>
            <a:endParaRPr lang="es-ES" sz="4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FA5B048-078F-1782-472D-133C26E1E1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92019" y="3431191"/>
            <a:ext cx="3231633" cy="985075"/>
          </a:xfrm>
        </p:spPr>
        <p:txBody>
          <a:bodyPr>
            <a:normAutofit/>
          </a:bodyPr>
          <a:lstStyle/>
          <a:p>
            <a:r>
              <a:rPr lang="es-ES" dirty="0"/>
              <a:t>Mateo </a:t>
            </a:r>
            <a:r>
              <a:rPr lang="es-ES" dirty="0" err="1"/>
              <a:t>Cesaroni</a:t>
            </a:r>
            <a:r>
              <a:rPr lang="es-ES" dirty="0"/>
              <a:t> </a:t>
            </a:r>
            <a:r>
              <a:rPr lang="en-US" dirty="0"/>
              <a:t>– Abril Elisiri</a:t>
            </a:r>
            <a:endParaRPr lang="es-E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5B7E46-FCBF-464B-8083-9AF1A059E1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15672" y="-1263"/>
            <a:ext cx="3484819" cy="343026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79A868-152F-4392-8D0D-C56B1C229B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15672" y="3429000"/>
            <a:ext cx="3483870" cy="3429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15" name="Rectangle 34">
            <a:extLst>
              <a:ext uri="{FF2B5EF4-FFF2-40B4-BE49-F238E27FC236}">
                <a16:creationId xmlns:a16="http://schemas.microsoft.com/office/drawing/2014/main" id="{613F7046-4879-4110-98EC-7B7416E55F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5243582" y="3407228"/>
            <a:ext cx="3428999" cy="3484818"/>
          </a:xfrm>
          <a:custGeom>
            <a:avLst/>
            <a:gdLst>
              <a:gd name="connsiteX0" fmla="*/ 0 w 3484819"/>
              <a:gd name="connsiteY0" fmla="*/ 0 h 3430264"/>
              <a:gd name="connsiteX1" fmla="*/ 3484819 w 3484819"/>
              <a:gd name="connsiteY1" fmla="*/ 0 h 3430264"/>
              <a:gd name="connsiteX2" fmla="*/ 3484819 w 3484819"/>
              <a:gd name="connsiteY2" fmla="*/ 3430264 h 3430264"/>
              <a:gd name="connsiteX3" fmla="*/ 0 w 3484819"/>
              <a:gd name="connsiteY3" fmla="*/ 3430264 h 3430264"/>
              <a:gd name="connsiteX4" fmla="*/ 0 w 3484819"/>
              <a:gd name="connsiteY4" fmla="*/ 0 h 3430264"/>
              <a:gd name="connsiteX0" fmla="*/ 0 w 3484819"/>
              <a:gd name="connsiteY0" fmla="*/ 0 h 3430264"/>
              <a:gd name="connsiteX1" fmla="*/ 3484819 w 3484819"/>
              <a:gd name="connsiteY1" fmla="*/ 0 h 3430264"/>
              <a:gd name="connsiteX2" fmla="*/ 0 w 3484819"/>
              <a:gd name="connsiteY2" fmla="*/ 3430264 h 3430264"/>
              <a:gd name="connsiteX3" fmla="*/ 0 w 3484819"/>
              <a:gd name="connsiteY3" fmla="*/ 0 h 343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84819" h="3430264">
                <a:moveTo>
                  <a:pt x="0" y="0"/>
                </a:moveTo>
                <a:lnTo>
                  <a:pt x="3484819" y="0"/>
                </a:lnTo>
                <a:lnTo>
                  <a:pt x="0" y="343026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E14A411-88B5-46A6-AD90-72073BCBB6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09837" y="3431225"/>
            <a:ext cx="3482163" cy="3430264"/>
          </a:xfrm>
          <a:custGeom>
            <a:avLst/>
            <a:gdLst>
              <a:gd name="connsiteX0" fmla="*/ 3478283 w 3482163"/>
              <a:gd name="connsiteY0" fmla="*/ 0 h 3430264"/>
              <a:gd name="connsiteX1" fmla="*/ 3482163 w 3482163"/>
              <a:gd name="connsiteY1" fmla="*/ 0 h 3430264"/>
              <a:gd name="connsiteX2" fmla="*/ 3482163 w 3482163"/>
              <a:gd name="connsiteY2" fmla="*/ 3430264 h 3430264"/>
              <a:gd name="connsiteX3" fmla="*/ 0 w 3482163"/>
              <a:gd name="connsiteY3" fmla="*/ 3430264 h 3430264"/>
              <a:gd name="connsiteX4" fmla="*/ 0 w 3482163"/>
              <a:gd name="connsiteY4" fmla="*/ 3426283 h 3430264"/>
              <a:gd name="connsiteX5" fmla="*/ 335407 w 3482163"/>
              <a:gd name="connsiteY5" fmla="*/ 3410137 h 3430264"/>
              <a:gd name="connsiteX6" fmla="*/ 3473897 w 3482163"/>
              <a:gd name="connsiteY6" fmla="*/ 170675 h 343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482163" h="3430264">
                <a:moveTo>
                  <a:pt x="3478283" y="0"/>
                </a:moveTo>
                <a:lnTo>
                  <a:pt x="3482163" y="0"/>
                </a:lnTo>
                <a:lnTo>
                  <a:pt x="3482163" y="3430264"/>
                </a:lnTo>
                <a:lnTo>
                  <a:pt x="0" y="3430264"/>
                </a:lnTo>
                <a:lnTo>
                  <a:pt x="0" y="3426283"/>
                </a:lnTo>
                <a:lnTo>
                  <a:pt x="335407" y="3410137"/>
                </a:lnTo>
                <a:cubicBezTo>
                  <a:pt x="2041201" y="3245035"/>
                  <a:pt x="3386298" y="1871077"/>
                  <a:pt x="3473897" y="170675"/>
                </a:cubicBezTo>
                <a:close/>
              </a:path>
            </a:pathLst>
          </a:cu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pic>
        <p:nvPicPr>
          <p:cNvPr id="4" name="Picture 3" descr="Una red de puntos conectados">
            <a:extLst>
              <a:ext uri="{FF2B5EF4-FFF2-40B4-BE49-F238E27FC236}">
                <a16:creationId xmlns:a16="http://schemas.microsoft.com/office/drawing/2014/main" id="{3D5C28A0-F9C2-4109-8DA8-C0998B40D4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025" r="28186"/>
          <a:stretch>
            <a:fillRect/>
          </a:stretch>
        </p:blipFill>
        <p:spPr>
          <a:xfrm>
            <a:off x="8699542" y="2"/>
            <a:ext cx="3492458" cy="6858001"/>
          </a:xfrm>
          <a:custGeom>
            <a:avLst/>
            <a:gdLst/>
            <a:ahLst/>
            <a:cxnLst/>
            <a:rect l="l" t="t" r="r" b="b"/>
            <a:pathLst>
              <a:path w="3492458" h="6858001">
                <a:moveTo>
                  <a:pt x="0" y="0"/>
                </a:moveTo>
                <a:lnTo>
                  <a:pt x="3492458" y="0"/>
                </a:lnTo>
                <a:lnTo>
                  <a:pt x="3492458" y="3430264"/>
                </a:lnTo>
                <a:lnTo>
                  <a:pt x="3488603" y="3430264"/>
                </a:lnTo>
                <a:lnTo>
                  <a:pt x="3484192" y="3601898"/>
                </a:lnTo>
                <a:cubicBezTo>
                  <a:pt x="3390753" y="5415660"/>
                  <a:pt x="1866561" y="6858001"/>
                  <a:pt x="0" y="6858001"/>
                </a:cubicBezTo>
                <a:lnTo>
                  <a:pt x="0" y="3430264"/>
                </a:lnTo>
                <a:lnTo>
                  <a:pt x="0" y="3425249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9306130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0FC99-F429-7CE7-D974-8EF6315EF8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C74819F-48B3-C692-FF8F-587CE1CBE4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7644" y="1426663"/>
            <a:ext cx="9950103" cy="5094361"/>
          </a:xfrm>
        </p:spPr>
        <p:txBody>
          <a:bodyPr>
            <a:normAutofit lnSpcReduction="10000"/>
          </a:bodyPr>
          <a:lstStyle/>
          <a:p>
            <a:r>
              <a:rPr lang="en-US" sz="2400" b="1" dirty="0" err="1"/>
              <a:t>Tipos</a:t>
            </a:r>
            <a:r>
              <a:rPr lang="en-US" sz="2400" b="1" dirty="0"/>
              <a:t> de Exchanges</a:t>
            </a:r>
          </a:p>
          <a:p>
            <a:pPr lvl="1"/>
            <a:r>
              <a:rPr lang="es-ES" sz="2200" dirty="0"/>
              <a:t>   </a:t>
            </a:r>
            <a:r>
              <a:rPr lang="es-ES" sz="2200" dirty="0" err="1"/>
              <a:t>Exchanges</a:t>
            </a:r>
            <a:r>
              <a:rPr lang="es-ES" sz="2200" dirty="0"/>
              <a:t> centralizados: </a:t>
            </a:r>
            <a:r>
              <a:rPr lang="es-ES" sz="2200" dirty="0" err="1"/>
              <a:t>Order</a:t>
            </a:r>
            <a:r>
              <a:rPr lang="es-ES" sz="2200" dirty="0"/>
              <a:t> Book</a:t>
            </a:r>
          </a:p>
          <a:p>
            <a:pPr lvl="1"/>
            <a:r>
              <a:rPr lang="es-ES" sz="2200" dirty="0"/>
              <a:t>   P2P</a:t>
            </a:r>
          </a:p>
          <a:p>
            <a:pPr lvl="1"/>
            <a:r>
              <a:rPr lang="es-ES" sz="2200" dirty="0"/>
              <a:t>   </a:t>
            </a:r>
            <a:r>
              <a:rPr lang="es-ES" sz="2200" dirty="0" err="1"/>
              <a:t>Automated</a:t>
            </a:r>
            <a:r>
              <a:rPr lang="es-ES" sz="2200" dirty="0"/>
              <a:t> </a:t>
            </a:r>
            <a:r>
              <a:rPr lang="es-ES" sz="2200" dirty="0" err="1"/>
              <a:t>Market</a:t>
            </a:r>
            <a:r>
              <a:rPr lang="es-ES" sz="2200" dirty="0"/>
              <a:t> </a:t>
            </a:r>
            <a:r>
              <a:rPr lang="es-ES" sz="2200" dirty="0" err="1"/>
              <a:t>Makers</a:t>
            </a:r>
            <a:endParaRPr lang="es-ES" sz="2200" dirty="0"/>
          </a:p>
          <a:p>
            <a:r>
              <a:rPr lang="es-ES" sz="2400" b="1" dirty="0" err="1"/>
              <a:t>Constant</a:t>
            </a:r>
            <a:r>
              <a:rPr lang="es-ES" sz="2400" b="1" dirty="0"/>
              <a:t> </a:t>
            </a:r>
            <a:r>
              <a:rPr lang="es-ES" sz="2400" b="1" dirty="0" err="1"/>
              <a:t>Product</a:t>
            </a:r>
            <a:r>
              <a:rPr lang="es-ES" sz="2400" b="1" dirty="0"/>
              <a:t> </a:t>
            </a:r>
            <a:r>
              <a:rPr lang="es-ES" sz="2400" b="1" dirty="0" err="1"/>
              <a:t>Market</a:t>
            </a:r>
            <a:r>
              <a:rPr lang="es-ES" sz="2400" b="1" dirty="0"/>
              <a:t> </a:t>
            </a:r>
            <a:r>
              <a:rPr lang="es-ES" sz="2400" b="1" dirty="0" err="1"/>
              <a:t>Maker</a:t>
            </a:r>
            <a:r>
              <a:rPr lang="es-ES" sz="2400" b="1" dirty="0"/>
              <a:t> </a:t>
            </a:r>
            <a:r>
              <a:rPr lang="es-ES" sz="2400" b="1" dirty="0" err="1"/>
              <a:t>Model</a:t>
            </a:r>
            <a:endParaRPr lang="es-ES" sz="2400" b="1" dirty="0"/>
          </a:p>
          <a:p>
            <a:pPr lvl="1"/>
            <a:r>
              <a:rPr lang="es-ES" sz="2200" b="1" dirty="0"/>
              <a:t>   Trading</a:t>
            </a:r>
          </a:p>
          <a:p>
            <a:pPr lvl="1"/>
            <a:r>
              <a:rPr lang="es-ES" sz="2200" b="1" dirty="0"/>
              <a:t>   </a:t>
            </a:r>
            <a:r>
              <a:rPr lang="es-ES" sz="2200" b="1" dirty="0" err="1"/>
              <a:t>Liquidity</a:t>
            </a:r>
            <a:r>
              <a:rPr lang="es-ES" sz="2200" b="1" dirty="0"/>
              <a:t> </a:t>
            </a:r>
            <a:r>
              <a:rPr lang="es-ES" sz="2200" b="1" dirty="0" err="1"/>
              <a:t>providers</a:t>
            </a:r>
            <a:endParaRPr lang="es-ES" sz="2200" b="1" dirty="0"/>
          </a:p>
          <a:p>
            <a:r>
              <a:rPr lang="es-ES" sz="2400" b="1" dirty="0" err="1"/>
              <a:t>Uniswap</a:t>
            </a:r>
            <a:endParaRPr lang="es-ES" sz="2400" b="1" dirty="0"/>
          </a:p>
          <a:p>
            <a:pPr lvl="1"/>
            <a:r>
              <a:rPr lang="es-ES" sz="2200" b="1" dirty="0"/>
              <a:t>   </a:t>
            </a:r>
            <a:r>
              <a:rPr lang="es-ES" sz="2200" b="1" dirty="0" err="1"/>
              <a:t>Slippage</a:t>
            </a:r>
            <a:endParaRPr lang="es-ES" sz="2200" b="1" dirty="0"/>
          </a:p>
          <a:p>
            <a:pPr lvl="1"/>
            <a:r>
              <a:rPr lang="es-ES" sz="2200" dirty="0"/>
              <a:t>   </a:t>
            </a:r>
            <a:r>
              <a:rPr lang="es-ES" sz="2200" dirty="0" err="1"/>
              <a:t>Impermanent</a:t>
            </a:r>
            <a:r>
              <a:rPr lang="es-ES" sz="2200" dirty="0"/>
              <a:t> </a:t>
            </a:r>
            <a:r>
              <a:rPr lang="es-ES" sz="2200" dirty="0" err="1"/>
              <a:t>Loss</a:t>
            </a:r>
            <a:endParaRPr lang="es-ES" sz="2200" dirty="0"/>
          </a:p>
          <a:p>
            <a:pPr lvl="1"/>
            <a:r>
              <a:rPr lang="es-ES" sz="2200" dirty="0"/>
              <a:t>   </a:t>
            </a:r>
            <a:r>
              <a:rPr lang="es-ES" sz="2200" dirty="0" err="1"/>
              <a:t>Sandwich</a:t>
            </a:r>
            <a:r>
              <a:rPr lang="es-ES" sz="2200" dirty="0"/>
              <a:t> </a:t>
            </a:r>
            <a:r>
              <a:rPr lang="es-ES" sz="2200" dirty="0" err="1"/>
              <a:t>Attack</a:t>
            </a:r>
            <a:endParaRPr lang="es-ES" sz="2200" dirty="0"/>
          </a:p>
          <a:p>
            <a:pPr lvl="1"/>
            <a:endParaRPr lang="es-ES" sz="2200" b="1" dirty="0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D6739618-1823-0F6E-B32F-2DF4708EE4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7643" y="499208"/>
            <a:ext cx="9950103" cy="710160"/>
          </a:xfrm>
        </p:spPr>
        <p:txBody>
          <a:bodyPr anchor="t">
            <a:noAutofit/>
          </a:bodyPr>
          <a:lstStyle/>
          <a:p>
            <a:r>
              <a:rPr lang="en-US" sz="4000" dirty="0"/>
              <a:t>Automated Market Makers</a:t>
            </a:r>
            <a:endParaRPr lang="es-ES" sz="4000" dirty="0"/>
          </a:p>
        </p:txBody>
      </p:sp>
    </p:spTree>
    <p:extLst>
      <p:ext uri="{BB962C8B-B14F-4D97-AF65-F5344CB8AC3E}">
        <p14:creationId xmlns:p14="http://schemas.microsoft.com/office/powerpoint/2010/main" val="8114861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90BAD-89EE-FF56-E094-03B077E88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98BB0D5-CCC7-0533-38F7-4A16BD66BA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7644" y="1426663"/>
            <a:ext cx="9950103" cy="5094361"/>
          </a:xfrm>
        </p:spPr>
        <p:txBody>
          <a:bodyPr>
            <a:normAutofit lnSpcReduction="10000"/>
          </a:bodyPr>
          <a:lstStyle/>
          <a:p>
            <a:r>
              <a:rPr lang="en-US" sz="2400" b="1" dirty="0" err="1"/>
              <a:t>Tipos</a:t>
            </a:r>
            <a:r>
              <a:rPr lang="en-US" sz="2400" b="1" dirty="0"/>
              <a:t> de Exchanges</a:t>
            </a:r>
          </a:p>
          <a:p>
            <a:pPr lvl="1"/>
            <a:r>
              <a:rPr lang="es-ES" sz="2200" dirty="0"/>
              <a:t>   </a:t>
            </a:r>
            <a:r>
              <a:rPr lang="es-ES" sz="2200" dirty="0" err="1"/>
              <a:t>Exchanges</a:t>
            </a:r>
            <a:r>
              <a:rPr lang="es-ES" sz="2200" dirty="0"/>
              <a:t> centralizados: </a:t>
            </a:r>
            <a:r>
              <a:rPr lang="es-ES" sz="2200" dirty="0" err="1"/>
              <a:t>Order</a:t>
            </a:r>
            <a:r>
              <a:rPr lang="es-ES" sz="2200" dirty="0"/>
              <a:t> Book</a:t>
            </a:r>
          </a:p>
          <a:p>
            <a:pPr lvl="1"/>
            <a:r>
              <a:rPr lang="es-ES" sz="2200" dirty="0"/>
              <a:t>   P2P</a:t>
            </a:r>
          </a:p>
          <a:p>
            <a:pPr lvl="1"/>
            <a:r>
              <a:rPr lang="es-ES" sz="2200" dirty="0"/>
              <a:t>   </a:t>
            </a:r>
            <a:r>
              <a:rPr lang="es-ES" sz="2200" dirty="0" err="1"/>
              <a:t>Automated</a:t>
            </a:r>
            <a:r>
              <a:rPr lang="es-ES" sz="2200" dirty="0"/>
              <a:t> </a:t>
            </a:r>
            <a:r>
              <a:rPr lang="es-ES" sz="2200" dirty="0" err="1"/>
              <a:t>Market</a:t>
            </a:r>
            <a:r>
              <a:rPr lang="es-ES" sz="2200" dirty="0"/>
              <a:t> </a:t>
            </a:r>
            <a:r>
              <a:rPr lang="es-ES" sz="2200" dirty="0" err="1"/>
              <a:t>Makers</a:t>
            </a:r>
            <a:endParaRPr lang="es-ES" sz="2200" dirty="0"/>
          </a:p>
          <a:p>
            <a:r>
              <a:rPr lang="es-ES" sz="2400" b="1" dirty="0" err="1">
                <a:solidFill>
                  <a:schemeClr val="bg1">
                    <a:lumMod val="65000"/>
                  </a:schemeClr>
                </a:solidFill>
              </a:rPr>
              <a:t>Constant</a:t>
            </a:r>
            <a:r>
              <a:rPr lang="es-ES" sz="2400" b="1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s-ES" sz="2400" b="1" dirty="0" err="1">
                <a:solidFill>
                  <a:schemeClr val="bg1">
                    <a:lumMod val="65000"/>
                  </a:schemeClr>
                </a:solidFill>
              </a:rPr>
              <a:t>Product</a:t>
            </a:r>
            <a:r>
              <a:rPr lang="es-ES" sz="2400" b="1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s-ES" sz="2400" b="1" dirty="0" err="1">
                <a:solidFill>
                  <a:schemeClr val="bg1">
                    <a:lumMod val="65000"/>
                  </a:schemeClr>
                </a:solidFill>
              </a:rPr>
              <a:t>Market</a:t>
            </a:r>
            <a:r>
              <a:rPr lang="es-ES" sz="2400" b="1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s-ES" sz="2400" b="1" dirty="0" err="1">
                <a:solidFill>
                  <a:schemeClr val="bg1">
                    <a:lumMod val="65000"/>
                  </a:schemeClr>
                </a:solidFill>
              </a:rPr>
              <a:t>Maker</a:t>
            </a:r>
            <a:r>
              <a:rPr lang="es-ES" sz="2400" b="1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s-ES" sz="2400" b="1" dirty="0" err="1">
                <a:solidFill>
                  <a:schemeClr val="bg1">
                    <a:lumMod val="65000"/>
                  </a:schemeClr>
                </a:solidFill>
              </a:rPr>
              <a:t>Model</a:t>
            </a:r>
            <a:endParaRPr lang="es-ES" sz="2400" b="1" dirty="0">
              <a:solidFill>
                <a:schemeClr val="bg1">
                  <a:lumMod val="65000"/>
                </a:schemeClr>
              </a:solidFill>
            </a:endParaRPr>
          </a:p>
          <a:p>
            <a:pPr lvl="1"/>
            <a:r>
              <a:rPr lang="es-ES" sz="2200" b="1" dirty="0">
                <a:solidFill>
                  <a:schemeClr val="bg1">
                    <a:lumMod val="65000"/>
                  </a:schemeClr>
                </a:solidFill>
              </a:rPr>
              <a:t>   Trading</a:t>
            </a:r>
          </a:p>
          <a:p>
            <a:pPr lvl="1"/>
            <a:r>
              <a:rPr lang="es-ES" sz="2200" b="1" dirty="0">
                <a:solidFill>
                  <a:schemeClr val="bg1">
                    <a:lumMod val="65000"/>
                  </a:schemeClr>
                </a:solidFill>
              </a:rPr>
              <a:t>   </a:t>
            </a:r>
            <a:r>
              <a:rPr lang="es-ES" sz="2200" b="1" dirty="0" err="1">
                <a:solidFill>
                  <a:schemeClr val="bg1">
                    <a:lumMod val="65000"/>
                  </a:schemeClr>
                </a:solidFill>
              </a:rPr>
              <a:t>Liquidity</a:t>
            </a:r>
            <a:r>
              <a:rPr lang="es-ES" sz="2200" b="1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s-ES" sz="2200" b="1" dirty="0" err="1">
                <a:solidFill>
                  <a:schemeClr val="bg1">
                    <a:lumMod val="65000"/>
                  </a:schemeClr>
                </a:solidFill>
              </a:rPr>
              <a:t>providers</a:t>
            </a:r>
            <a:endParaRPr lang="es-ES" sz="2200" b="1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lang="es-ES" sz="2400" b="1" dirty="0" err="1">
                <a:solidFill>
                  <a:schemeClr val="bg1">
                    <a:lumMod val="65000"/>
                  </a:schemeClr>
                </a:solidFill>
              </a:rPr>
              <a:t>Uniswap</a:t>
            </a:r>
            <a:endParaRPr lang="es-ES" sz="2400" b="1" dirty="0">
              <a:solidFill>
                <a:schemeClr val="bg1">
                  <a:lumMod val="65000"/>
                </a:schemeClr>
              </a:solidFill>
            </a:endParaRPr>
          </a:p>
          <a:p>
            <a:pPr lvl="1"/>
            <a:r>
              <a:rPr lang="es-ES" sz="2200" b="1" dirty="0">
                <a:solidFill>
                  <a:schemeClr val="bg1">
                    <a:lumMod val="65000"/>
                  </a:schemeClr>
                </a:solidFill>
              </a:rPr>
              <a:t>   </a:t>
            </a:r>
            <a:r>
              <a:rPr lang="es-ES" sz="2200" b="1" dirty="0" err="1">
                <a:solidFill>
                  <a:schemeClr val="bg1">
                    <a:lumMod val="65000"/>
                  </a:schemeClr>
                </a:solidFill>
              </a:rPr>
              <a:t>Slippage</a:t>
            </a:r>
            <a:endParaRPr lang="es-ES" sz="2200" b="1" dirty="0">
              <a:solidFill>
                <a:schemeClr val="bg1">
                  <a:lumMod val="65000"/>
                </a:schemeClr>
              </a:solidFill>
            </a:endParaRPr>
          </a:p>
          <a:p>
            <a:pPr lvl="1"/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  </a:t>
            </a:r>
            <a:r>
              <a:rPr lang="es-ES" sz="2200" dirty="0" err="1">
                <a:solidFill>
                  <a:schemeClr val="bg1">
                    <a:lumMod val="65000"/>
                  </a:schemeClr>
                </a:solidFill>
              </a:rPr>
              <a:t>Impermanent</a:t>
            </a:r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s-ES" sz="2200" dirty="0" err="1">
                <a:solidFill>
                  <a:schemeClr val="bg1">
                    <a:lumMod val="65000"/>
                  </a:schemeClr>
                </a:solidFill>
              </a:rPr>
              <a:t>Loss</a:t>
            </a:r>
            <a:endParaRPr lang="es-ES" sz="2200" dirty="0">
              <a:solidFill>
                <a:schemeClr val="bg1">
                  <a:lumMod val="65000"/>
                </a:schemeClr>
              </a:solidFill>
            </a:endParaRPr>
          </a:p>
          <a:p>
            <a:pPr lvl="1"/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  </a:t>
            </a:r>
            <a:r>
              <a:rPr lang="es-ES" sz="2200" dirty="0" err="1">
                <a:solidFill>
                  <a:schemeClr val="bg1">
                    <a:lumMod val="65000"/>
                  </a:schemeClr>
                </a:solidFill>
              </a:rPr>
              <a:t>Sandwich</a:t>
            </a:r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s-ES" sz="2200" dirty="0" err="1">
                <a:solidFill>
                  <a:schemeClr val="bg1">
                    <a:lumMod val="65000"/>
                  </a:schemeClr>
                </a:solidFill>
              </a:rPr>
              <a:t>Attack</a:t>
            </a:r>
            <a:endParaRPr lang="es-ES" sz="2200" dirty="0">
              <a:solidFill>
                <a:schemeClr val="bg1">
                  <a:lumMod val="65000"/>
                </a:schemeClr>
              </a:solidFill>
            </a:endParaRPr>
          </a:p>
          <a:p>
            <a:pPr lvl="1"/>
            <a:endParaRPr lang="es-ES" sz="2200" b="1" dirty="0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061D077A-300E-B71B-6FAC-BA064F5527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7643" y="499208"/>
            <a:ext cx="9950103" cy="710160"/>
          </a:xfrm>
        </p:spPr>
        <p:txBody>
          <a:bodyPr anchor="t">
            <a:noAutofit/>
          </a:bodyPr>
          <a:lstStyle/>
          <a:p>
            <a:r>
              <a:rPr lang="en-US" sz="4000" dirty="0"/>
              <a:t>Automated Market Makers</a:t>
            </a:r>
            <a:endParaRPr lang="es-ES" sz="4000" dirty="0"/>
          </a:p>
        </p:txBody>
      </p:sp>
    </p:spTree>
    <p:extLst>
      <p:ext uri="{BB962C8B-B14F-4D97-AF65-F5344CB8AC3E}">
        <p14:creationId xmlns:p14="http://schemas.microsoft.com/office/powerpoint/2010/main" val="3850036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7619BB-3F01-509D-7BAC-0451FADD38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361" y="410718"/>
            <a:ext cx="9950103" cy="710160"/>
          </a:xfrm>
        </p:spPr>
        <p:txBody>
          <a:bodyPr anchor="t"/>
          <a:lstStyle/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Tipos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de Exchanges</a:t>
            </a:r>
            <a:endParaRPr lang="es-E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2CEE7AA-F840-0CBA-36A9-BC96711D04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7361" y="1196857"/>
            <a:ext cx="9950103" cy="5250425"/>
          </a:xfrm>
        </p:spPr>
        <p:txBody>
          <a:bodyPr>
            <a:normAutofit fontScale="85000" lnSpcReduction="10000"/>
          </a:bodyPr>
          <a:lstStyle/>
          <a:p>
            <a:r>
              <a:rPr lang="es-ES" sz="2600" b="1" noProof="0" dirty="0" err="1">
                <a:cs typeface="Arial" panose="020B0604020202020204" pitchFamily="34" charset="0"/>
              </a:rPr>
              <a:t>Exchanges</a:t>
            </a:r>
            <a:r>
              <a:rPr lang="es-ES" sz="2600" b="1" noProof="0" dirty="0">
                <a:cs typeface="Arial" panose="020B0604020202020204" pitchFamily="34" charset="0"/>
              </a:rPr>
              <a:t> Centralizados: </a:t>
            </a:r>
            <a:r>
              <a:rPr lang="es-ES" sz="2600" b="1" noProof="0" dirty="0" err="1">
                <a:cs typeface="Arial" panose="020B0604020202020204" pitchFamily="34" charset="0"/>
              </a:rPr>
              <a:t>Order</a:t>
            </a:r>
            <a:r>
              <a:rPr lang="es-ES" sz="2600" b="1" noProof="0" dirty="0">
                <a:cs typeface="Arial" panose="020B0604020202020204" pitchFamily="34" charset="0"/>
              </a:rPr>
              <a:t> Book</a:t>
            </a:r>
          </a:p>
          <a:p>
            <a:pPr marL="0" indent="0">
              <a:buNone/>
            </a:pPr>
            <a:r>
              <a:rPr lang="es-ES" sz="2600" dirty="0">
                <a:cs typeface="Arial" panose="020B0604020202020204" pitchFamily="34" charset="0"/>
              </a:rPr>
              <a:t>En el mercado tradicional, u</a:t>
            </a:r>
            <a:r>
              <a:rPr lang="es-ES" sz="2600" noProof="0" dirty="0">
                <a:cs typeface="Arial" panose="020B0604020202020204" pitchFamily="34" charset="0"/>
              </a:rPr>
              <a:t>n cliente que quiere adquirir una </a:t>
            </a:r>
            <a:r>
              <a:rPr lang="es-ES" sz="2600" noProof="0" dirty="0" err="1">
                <a:cs typeface="Arial" panose="020B0604020202020204" pitchFamily="34" charset="0"/>
              </a:rPr>
              <a:t>acci</a:t>
            </a:r>
            <a:r>
              <a:rPr lang="es-ES" sz="2600" dirty="0" err="1">
                <a:cs typeface="Arial" panose="020B0604020202020204" pitchFamily="34" charset="0"/>
              </a:rPr>
              <a:t>ón</a:t>
            </a:r>
            <a:r>
              <a:rPr lang="es-ES" sz="2600" dirty="0">
                <a:cs typeface="Arial" panose="020B0604020202020204" pitchFamily="34" charset="0"/>
              </a:rPr>
              <a:t> deposita los fondos en una </a:t>
            </a:r>
            <a:r>
              <a:rPr lang="es-ES" sz="2600" noProof="0" dirty="0">
                <a:cs typeface="Arial" panose="020B0604020202020204" pitchFamily="34" charset="0"/>
              </a:rPr>
              <a:t>plataforma intermediaria</a:t>
            </a:r>
            <a:r>
              <a:rPr lang="es-ES" sz="2600" dirty="0">
                <a:cs typeface="Arial" panose="020B0604020202020204" pitchFamily="34" charset="0"/>
              </a:rPr>
              <a:t>, que se encargará de registrar en un </a:t>
            </a:r>
            <a:r>
              <a:rPr lang="es-ES" sz="2600" b="1" dirty="0" err="1">
                <a:cs typeface="Arial" panose="020B0604020202020204" pitchFamily="34" charset="0"/>
              </a:rPr>
              <a:t>Order</a:t>
            </a:r>
            <a:r>
              <a:rPr lang="es-ES" sz="2600" b="1" dirty="0">
                <a:cs typeface="Arial" panose="020B0604020202020204" pitchFamily="34" charset="0"/>
              </a:rPr>
              <a:t> Book</a:t>
            </a:r>
            <a:r>
              <a:rPr lang="es-ES" sz="2600" dirty="0">
                <a:cs typeface="Arial" panose="020B0604020202020204" pitchFamily="34" charset="0"/>
              </a:rPr>
              <a:t> la nueva </a:t>
            </a:r>
            <a:r>
              <a:rPr lang="es-ES" sz="2600" b="1" dirty="0">
                <a:cs typeface="Arial" panose="020B0604020202020204" pitchFamily="34" charset="0"/>
              </a:rPr>
              <a:t>orden de compra</a:t>
            </a:r>
            <a:r>
              <a:rPr lang="es-ES" sz="2600" dirty="0">
                <a:cs typeface="Arial" panose="020B0604020202020204" pitchFamily="34" charset="0"/>
              </a:rPr>
              <a:t> y emparejarla con la de un vendedor que haya puesto una </a:t>
            </a:r>
            <a:r>
              <a:rPr lang="es-ES" sz="2600" b="1" dirty="0">
                <a:cs typeface="Arial" panose="020B0604020202020204" pitchFamily="34" charset="0"/>
              </a:rPr>
              <a:t>orden de venta</a:t>
            </a:r>
            <a:r>
              <a:rPr lang="es-ES" sz="2600" dirty="0">
                <a:cs typeface="Arial" panose="020B0604020202020204" pitchFamily="34" charset="0"/>
              </a:rPr>
              <a:t> por el mismo precio. </a:t>
            </a:r>
          </a:p>
          <a:p>
            <a:pPr marL="0" indent="0">
              <a:buNone/>
            </a:pPr>
            <a:r>
              <a:rPr lang="es-ES" sz="2600" noProof="0" dirty="0">
                <a:cs typeface="Arial" panose="020B0604020202020204" pitchFamily="34" charset="0"/>
              </a:rPr>
              <a:t>En el ecosistema </a:t>
            </a:r>
            <a:r>
              <a:rPr lang="es-ES" sz="2600" dirty="0">
                <a:cs typeface="Arial" panose="020B0604020202020204" pitchFamily="34" charset="0"/>
              </a:rPr>
              <a:t>de criptomonedas como BTC y ETH, </a:t>
            </a:r>
            <a:r>
              <a:rPr lang="es-ES" sz="2600" noProof="0" dirty="0">
                <a:cs typeface="Arial" panose="020B0604020202020204" pitchFamily="34" charset="0"/>
              </a:rPr>
              <a:t>existen </a:t>
            </a:r>
            <a:r>
              <a:rPr lang="es-ES" sz="2600" b="1" noProof="0" dirty="0" err="1">
                <a:cs typeface="Arial" panose="020B0604020202020204" pitchFamily="34" charset="0"/>
              </a:rPr>
              <a:t>exchanges</a:t>
            </a:r>
            <a:r>
              <a:rPr lang="es-ES" sz="2600" b="1" noProof="0" dirty="0">
                <a:cs typeface="Arial" panose="020B0604020202020204" pitchFamily="34" charset="0"/>
              </a:rPr>
              <a:t> centralizados </a:t>
            </a:r>
            <a:r>
              <a:rPr lang="es-ES" sz="2600" noProof="0" dirty="0">
                <a:cs typeface="Arial" panose="020B0604020202020204" pitchFamily="34" charset="0"/>
              </a:rPr>
              <a:t>en plataformas como </a:t>
            </a:r>
            <a:r>
              <a:rPr lang="es-ES" sz="2600" noProof="0" dirty="0" err="1">
                <a:cs typeface="Arial" panose="020B0604020202020204" pitchFamily="34" charset="0"/>
              </a:rPr>
              <a:t>Coinbase</a:t>
            </a:r>
            <a:r>
              <a:rPr lang="es-ES" sz="2600" noProof="0" dirty="0">
                <a:cs typeface="Arial" panose="020B0604020202020204" pitchFamily="34" charset="0"/>
              </a:rPr>
              <a:t> para el depósito de órdenes de compraventa, manteniendo de la misma manera un </a:t>
            </a:r>
            <a:r>
              <a:rPr lang="es-ES" sz="2600" noProof="0" dirty="0" err="1">
                <a:cs typeface="Arial" panose="020B0604020202020204" pitchFamily="34" charset="0"/>
              </a:rPr>
              <a:t>Order</a:t>
            </a:r>
            <a:r>
              <a:rPr lang="es-ES" sz="2600" noProof="0" dirty="0">
                <a:cs typeface="Arial" panose="020B0604020202020204" pitchFamily="34" charset="0"/>
              </a:rPr>
              <a:t> Book, dependiendo de una plataforma intermediaria para el comercio que abstrae la interacción del usuario con la </a:t>
            </a:r>
            <a:r>
              <a:rPr lang="es-ES" sz="2600" noProof="0" dirty="0" err="1">
                <a:cs typeface="Arial" panose="020B0604020202020204" pitchFamily="34" charset="0"/>
              </a:rPr>
              <a:t>blockchain</a:t>
            </a:r>
            <a:r>
              <a:rPr lang="es-ES" sz="2600" noProof="0" dirty="0">
                <a:cs typeface="Arial" panose="020B0604020202020204" pitchFamily="34" charset="0"/>
              </a:rPr>
              <a:t>. </a:t>
            </a:r>
          </a:p>
          <a:p>
            <a:pPr marL="0" indent="0">
              <a:buNone/>
            </a:pPr>
            <a:r>
              <a:rPr lang="es-ES" sz="2600" b="1" noProof="0" dirty="0">
                <a:solidFill>
                  <a:srgbClr val="C00000"/>
                </a:solidFill>
                <a:cs typeface="Arial" panose="020B0604020202020204" pitchFamily="34" charset="0"/>
              </a:rPr>
              <a:t>Se desaprovecha la descentralización de Bitcoin</a:t>
            </a:r>
          </a:p>
          <a:p>
            <a:pPr marL="0" indent="0">
              <a:buNone/>
            </a:pPr>
            <a:r>
              <a:rPr lang="es-ES" sz="2600" b="1" dirty="0">
                <a:solidFill>
                  <a:srgbClr val="C00000"/>
                </a:solidFill>
                <a:cs typeface="Arial" panose="020B0604020202020204" pitchFamily="34" charset="0"/>
              </a:rPr>
              <a:t>Todos los movimientos se asocian a una identidad, se pierde privacidad</a:t>
            </a:r>
            <a:endParaRPr lang="es-ES" sz="2600" b="1" noProof="0" dirty="0">
              <a:solidFill>
                <a:srgbClr val="C0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33758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5C6AC-A714-EBCD-DA4F-4C5181225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387523A-F817-AFF2-054A-BEE6C8A761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361" y="410718"/>
            <a:ext cx="9950103" cy="710160"/>
          </a:xfrm>
        </p:spPr>
        <p:txBody>
          <a:bodyPr anchor="t"/>
          <a:lstStyle/>
          <a:p>
            <a:r>
              <a:rPr lang="en-US" dirty="0" err="1"/>
              <a:t>Tipos</a:t>
            </a:r>
            <a:r>
              <a:rPr lang="en-US" dirty="0"/>
              <a:t> de Exchanges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2CFB671-724F-A16F-11F6-1EDCB7738D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7361" y="1196857"/>
            <a:ext cx="9950103" cy="5250425"/>
          </a:xfrm>
        </p:spPr>
        <p:txBody>
          <a:bodyPr>
            <a:normAutofit lnSpcReduction="10000"/>
          </a:bodyPr>
          <a:lstStyle/>
          <a:p>
            <a:r>
              <a:rPr lang="es-ES" sz="2600" b="1" noProof="0" dirty="0"/>
              <a:t>Plataformas P2P</a:t>
            </a:r>
          </a:p>
          <a:p>
            <a:pPr marL="0" indent="0">
              <a:buNone/>
            </a:pPr>
            <a:r>
              <a:rPr lang="es-ES" sz="2600" dirty="0"/>
              <a:t>Otra manera utilizada para el intercambio de criptomonedas es el esquema </a:t>
            </a:r>
            <a:r>
              <a:rPr lang="es-ES" sz="2600" b="1" dirty="0"/>
              <a:t>peer-</a:t>
            </a:r>
            <a:r>
              <a:rPr lang="es-ES" sz="2600" b="1" dirty="0" err="1"/>
              <a:t>to</a:t>
            </a:r>
            <a:r>
              <a:rPr lang="es-ES" sz="2600" b="1" dirty="0"/>
              <a:t>-peer</a:t>
            </a:r>
            <a:r>
              <a:rPr lang="es-ES" sz="2600" dirty="0"/>
              <a:t>, donde se permite que 2 usuarios realicen una transacción directamente entre sí.</a:t>
            </a:r>
          </a:p>
          <a:p>
            <a:pPr marL="0" indent="0">
              <a:buNone/>
            </a:pPr>
            <a:r>
              <a:rPr lang="es-ES" sz="2600" b="1" dirty="0">
                <a:solidFill>
                  <a:srgbClr val="C00000"/>
                </a:solidFill>
              </a:rPr>
              <a:t>En los esquemas P2P más comunes se requiere una plataforma que actúe como 3rd </a:t>
            </a:r>
            <a:r>
              <a:rPr lang="es-ES" sz="2600" b="1" dirty="0" err="1">
                <a:solidFill>
                  <a:srgbClr val="C00000"/>
                </a:solidFill>
              </a:rPr>
              <a:t>party</a:t>
            </a:r>
            <a:r>
              <a:rPr lang="es-ES" sz="2600" b="1" dirty="0">
                <a:solidFill>
                  <a:srgbClr val="C00000"/>
                </a:solidFill>
              </a:rPr>
              <a:t> que administre un mecanismo de </a:t>
            </a:r>
            <a:r>
              <a:rPr lang="es-ES" sz="2600" b="1" u="sng" dirty="0" err="1">
                <a:solidFill>
                  <a:srgbClr val="C00000"/>
                </a:solidFill>
              </a:rPr>
              <a:t>escrow</a:t>
            </a:r>
            <a:r>
              <a:rPr lang="es-ES" sz="2600" b="1" u="sng" dirty="0">
                <a:solidFill>
                  <a:srgbClr val="C00000"/>
                </a:solidFill>
              </a:rPr>
              <a:t>:</a:t>
            </a:r>
            <a:r>
              <a:rPr lang="es-ES" sz="2600" b="1" dirty="0">
                <a:solidFill>
                  <a:srgbClr val="C00000"/>
                </a:solidFill>
              </a:rPr>
              <a:t> </a:t>
            </a:r>
            <a:r>
              <a:rPr lang="es-ES" sz="2600" dirty="0"/>
              <a:t>un acuerdo legal en donde se retienen los fondos de un usuario hasta que el otro usuario cumpla con su parte del contrato</a:t>
            </a:r>
          </a:p>
          <a:p>
            <a:pPr marL="0" indent="0">
              <a:buNone/>
            </a:pPr>
            <a:r>
              <a:rPr lang="es-ES" sz="2600" b="1" noProof="0" dirty="0">
                <a:solidFill>
                  <a:srgbClr val="C00000"/>
                </a:solidFill>
              </a:rPr>
              <a:t>De ser P2P descentralizado, se requiere confiar que la otra persona cumplirá su parte del contrato</a:t>
            </a:r>
          </a:p>
        </p:txBody>
      </p:sp>
    </p:spTree>
    <p:extLst>
      <p:ext uri="{BB962C8B-B14F-4D97-AF65-F5344CB8AC3E}">
        <p14:creationId xmlns:p14="http://schemas.microsoft.com/office/powerpoint/2010/main" val="36130734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F2B39-756C-A790-FC1E-F5B2A059C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680177-AF90-18DE-CDD9-6440A2051F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361" y="410718"/>
            <a:ext cx="9950103" cy="710160"/>
          </a:xfrm>
        </p:spPr>
        <p:txBody>
          <a:bodyPr anchor="t"/>
          <a:lstStyle/>
          <a:p>
            <a:r>
              <a:rPr lang="en-US" dirty="0" err="1"/>
              <a:t>Tipos</a:t>
            </a:r>
            <a:r>
              <a:rPr lang="en-US" dirty="0"/>
              <a:t> de Exchanges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F06FA56-C121-1170-05BC-3745C952BD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0381" y="973394"/>
            <a:ext cx="9950103" cy="5250425"/>
          </a:xfrm>
        </p:spPr>
        <p:txBody>
          <a:bodyPr>
            <a:noAutofit/>
          </a:bodyPr>
          <a:lstStyle/>
          <a:p>
            <a:r>
              <a:rPr lang="es-ES" sz="2600" b="1" noProof="0" dirty="0" err="1"/>
              <a:t>Automated</a:t>
            </a:r>
            <a:r>
              <a:rPr lang="es-ES" sz="2600" b="1" noProof="0" dirty="0"/>
              <a:t> </a:t>
            </a:r>
            <a:r>
              <a:rPr lang="es-ES" sz="2600" b="1" noProof="0" dirty="0" err="1"/>
              <a:t>Market</a:t>
            </a:r>
            <a:r>
              <a:rPr lang="es-ES" sz="2600" b="1" noProof="0" dirty="0"/>
              <a:t> </a:t>
            </a:r>
            <a:r>
              <a:rPr lang="es-ES" sz="2600" b="1" noProof="0" dirty="0" err="1"/>
              <a:t>Maker</a:t>
            </a:r>
            <a:endParaRPr lang="es-ES" sz="2600" b="1" noProof="0" dirty="0"/>
          </a:p>
          <a:p>
            <a:pPr marL="0" indent="0">
              <a:buNone/>
            </a:pPr>
            <a:r>
              <a:rPr lang="es-ES" sz="2400" dirty="0"/>
              <a:t>Son mecanismos de intercambio descentralizado basados en </a:t>
            </a:r>
            <a:r>
              <a:rPr lang="es-ES" sz="2400" b="1" dirty="0"/>
              <a:t>Smart </a:t>
            </a:r>
            <a:r>
              <a:rPr lang="es-ES" sz="2400" b="1" dirty="0" err="1"/>
              <a:t>contracts</a:t>
            </a:r>
            <a:r>
              <a:rPr lang="es-ES" sz="2400" dirty="0"/>
              <a:t>, que contienen un conjunto de fondos de liquidez administrados algorítmicamente. En este modelo los usuarios intercambian tokens contra una </a:t>
            </a:r>
            <a:r>
              <a:rPr lang="es-ES" sz="2400" b="1" dirty="0"/>
              <a:t>pool </a:t>
            </a:r>
            <a:r>
              <a:rPr lang="es-ES" sz="2400" dirty="0"/>
              <a:t>de liquidez, y los precios se determinan automáticamente mediante una función matemática dependiente de la cantidad de activos que hay en el pool.</a:t>
            </a:r>
            <a:endParaRPr lang="es-ES" sz="2400" b="1" i="1" dirty="0"/>
          </a:p>
          <a:p>
            <a:pPr marL="0" indent="0">
              <a:buNone/>
            </a:pPr>
            <a:r>
              <a:rPr lang="es-ES" sz="2400" b="1" dirty="0">
                <a:solidFill>
                  <a:srgbClr val="339933"/>
                </a:solidFill>
              </a:rPr>
              <a:t>No se requiere depositar fondos en un intermediario</a:t>
            </a:r>
          </a:p>
          <a:p>
            <a:pPr marL="0" indent="0">
              <a:buNone/>
            </a:pPr>
            <a:r>
              <a:rPr lang="es-ES" sz="2400" b="1" dirty="0">
                <a:solidFill>
                  <a:srgbClr val="339933"/>
                </a:solidFill>
              </a:rPr>
              <a:t>No se espera a que aparezca una contraparte dispuesta a comerciar al mismo precio, la permutación de tokens es automática y transparente</a:t>
            </a:r>
          </a:p>
          <a:p>
            <a:pPr marL="0" indent="0">
              <a:buNone/>
            </a:pPr>
            <a:r>
              <a:rPr lang="es-ES" sz="2400" b="1" dirty="0" err="1">
                <a:solidFill>
                  <a:srgbClr val="339933"/>
                </a:solidFill>
              </a:rPr>
              <a:t>Pricing</a:t>
            </a:r>
            <a:r>
              <a:rPr lang="es-ES" sz="2400" b="1" dirty="0">
                <a:solidFill>
                  <a:srgbClr val="339933"/>
                </a:solidFill>
              </a:rPr>
              <a:t> determinístico</a:t>
            </a:r>
            <a:endParaRPr lang="es-ES" sz="2400" dirty="0"/>
          </a:p>
        </p:txBody>
      </p:sp>
    </p:spTree>
    <p:extLst>
      <p:ext uri="{BB962C8B-B14F-4D97-AF65-F5344CB8AC3E}">
        <p14:creationId xmlns:p14="http://schemas.microsoft.com/office/powerpoint/2010/main" val="24765653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9FEF77-126B-58B1-E326-F39F2BEE7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823CEEB-321F-CFC6-51BE-CF9ED7782C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7644" y="1426663"/>
            <a:ext cx="9950103" cy="5094361"/>
          </a:xfrm>
        </p:spPr>
        <p:txBody>
          <a:bodyPr>
            <a:normAutofit lnSpcReduction="10000"/>
          </a:bodyPr>
          <a:lstStyle/>
          <a:p>
            <a:r>
              <a:rPr lang="en-US" sz="2400" b="1" dirty="0" err="1">
                <a:solidFill>
                  <a:schemeClr val="bg1">
                    <a:lumMod val="65000"/>
                  </a:schemeClr>
                </a:solidFill>
              </a:rPr>
              <a:t>Tipos</a:t>
            </a:r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 de Exchanges</a:t>
            </a:r>
          </a:p>
          <a:p>
            <a:pPr lvl="1"/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  </a:t>
            </a:r>
            <a:r>
              <a:rPr lang="es-ES" sz="2200" dirty="0" err="1">
                <a:solidFill>
                  <a:schemeClr val="bg1">
                    <a:lumMod val="65000"/>
                  </a:schemeClr>
                </a:solidFill>
              </a:rPr>
              <a:t>Exchanges</a:t>
            </a:r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centralizados: </a:t>
            </a:r>
            <a:r>
              <a:rPr lang="es-ES" sz="2200" dirty="0" err="1">
                <a:solidFill>
                  <a:schemeClr val="bg1">
                    <a:lumMod val="65000"/>
                  </a:schemeClr>
                </a:solidFill>
              </a:rPr>
              <a:t>Order</a:t>
            </a:r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Book</a:t>
            </a:r>
          </a:p>
          <a:p>
            <a:pPr lvl="1"/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  P2P</a:t>
            </a:r>
          </a:p>
          <a:p>
            <a:pPr lvl="1"/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  </a:t>
            </a:r>
            <a:r>
              <a:rPr lang="es-ES" sz="2200" dirty="0" err="1">
                <a:solidFill>
                  <a:schemeClr val="bg1">
                    <a:lumMod val="65000"/>
                  </a:schemeClr>
                </a:solidFill>
              </a:rPr>
              <a:t>Automated</a:t>
            </a:r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s-ES" sz="2200" dirty="0" err="1">
                <a:solidFill>
                  <a:schemeClr val="bg1">
                    <a:lumMod val="65000"/>
                  </a:schemeClr>
                </a:solidFill>
              </a:rPr>
              <a:t>Market</a:t>
            </a:r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s-ES" sz="2200" dirty="0" err="1">
                <a:solidFill>
                  <a:schemeClr val="bg1">
                    <a:lumMod val="65000"/>
                  </a:schemeClr>
                </a:solidFill>
              </a:rPr>
              <a:t>Makers</a:t>
            </a:r>
            <a:endParaRPr lang="es-ES" sz="2200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lang="es-ES" sz="2400" b="1" dirty="0" err="1"/>
              <a:t>Constant</a:t>
            </a:r>
            <a:r>
              <a:rPr lang="es-ES" sz="2400" b="1" dirty="0"/>
              <a:t> </a:t>
            </a:r>
            <a:r>
              <a:rPr lang="es-ES" sz="2400" b="1" dirty="0" err="1"/>
              <a:t>Product</a:t>
            </a:r>
            <a:r>
              <a:rPr lang="es-ES" sz="2400" b="1" dirty="0"/>
              <a:t> </a:t>
            </a:r>
            <a:r>
              <a:rPr lang="es-ES" sz="2400" b="1" dirty="0" err="1"/>
              <a:t>Market</a:t>
            </a:r>
            <a:r>
              <a:rPr lang="es-ES" sz="2400" b="1" dirty="0"/>
              <a:t> </a:t>
            </a:r>
            <a:r>
              <a:rPr lang="es-ES" sz="2400" b="1" dirty="0" err="1"/>
              <a:t>Maker</a:t>
            </a:r>
            <a:r>
              <a:rPr lang="es-ES" sz="2400" b="1" dirty="0"/>
              <a:t> </a:t>
            </a:r>
            <a:r>
              <a:rPr lang="es-ES" sz="2400" b="1" dirty="0" err="1"/>
              <a:t>Model</a:t>
            </a:r>
            <a:endParaRPr lang="es-ES" sz="2400" b="1" dirty="0"/>
          </a:p>
          <a:p>
            <a:pPr lvl="1"/>
            <a:r>
              <a:rPr lang="es-ES" sz="2200" b="1" dirty="0">
                <a:solidFill>
                  <a:schemeClr val="bg1">
                    <a:lumMod val="65000"/>
                  </a:schemeClr>
                </a:solidFill>
              </a:rPr>
              <a:t>   Trading</a:t>
            </a:r>
          </a:p>
          <a:p>
            <a:pPr lvl="1"/>
            <a:r>
              <a:rPr lang="es-ES" sz="2200" b="1" dirty="0">
                <a:solidFill>
                  <a:schemeClr val="bg1">
                    <a:lumMod val="65000"/>
                  </a:schemeClr>
                </a:solidFill>
              </a:rPr>
              <a:t>   </a:t>
            </a:r>
            <a:r>
              <a:rPr lang="es-ES" sz="2200" b="1" dirty="0" err="1">
                <a:solidFill>
                  <a:schemeClr val="bg1">
                    <a:lumMod val="65000"/>
                  </a:schemeClr>
                </a:solidFill>
              </a:rPr>
              <a:t>Liquidity</a:t>
            </a:r>
            <a:r>
              <a:rPr lang="es-ES" sz="2200" b="1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s-ES" sz="2200" b="1" dirty="0" err="1">
                <a:solidFill>
                  <a:schemeClr val="bg1">
                    <a:lumMod val="65000"/>
                  </a:schemeClr>
                </a:solidFill>
              </a:rPr>
              <a:t>providers</a:t>
            </a:r>
            <a:endParaRPr lang="es-ES" sz="2200" b="1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lang="es-ES" sz="2400" b="1" dirty="0" err="1">
                <a:solidFill>
                  <a:schemeClr val="bg1">
                    <a:lumMod val="65000"/>
                  </a:schemeClr>
                </a:solidFill>
              </a:rPr>
              <a:t>Uniswap</a:t>
            </a:r>
            <a:endParaRPr lang="es-ES" sz="2400" b="1" dirty="0">
              <a:solidFill>
                <a:schemeClr val="bg1">
                  <a:lumMod val="65000"/>
                </a:schemeClr>
              </a:solidFill>
            </a:endParaRPr>
          </a:p>
          <a:p>
            <a:pPr lvl="1"/>
            <a:r>
              <a:rPr lang="es-ES" sz="2200" b="1" dirty="0">
                <a:solidFill>
                  <a:schemeClr val="bg1">
                    <a:lumMod val="65000"/>
                  </a:schemeClr>
                </a:solidFill>
              </a:rPr>
              <a:t>   </a:t>
            </a:r>
            <a:r>
              <a:rPr lang="es-ES" sz="2200" b="1" dirty="0" err="1">
                <a:solidFill>
                  <a:schemeClr val="bg1">
                    <a:lumMod val="65000"/>
                  </a:schemeClr>
                </a:solidFill>
              </a:rPr>
              <a:t>Slippage</a:t>
            </a:r>
            <a:endParaRPr lang="es-ES" sz="2200" b="1" dirty="0">
              <a:solidFill>
                <a:schemeClr val="bg1">
                  <a:lumMod val="65000"/>
                </a:schemeClr>
              </a:solidFill>
            </a:endParaRPr>
          </a:p>
          <a:p>
            <a:pPr lvl="1"/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  </a:t>
            </a:r>
            <a:r>
              <a:rPr lang="es-ES" sz="2200" dirty="0" err="1">
                <a:solidFill>
                  <a:schemeClr val="bg1">
                    <a:lumMod val="65000"/>
                  </a:schemeClr>
                </a:solidFill>
              </a:rPr>
              <a:t>Impermanent</a:t>
            </a:r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s-ES" sz="2200" dirty="0" err="1">
                <a:solidFill>
                  <a:schemeClr val="bg1">
                    <a:lumMod val="65000"/>
                  </a:schemeClr>
                </a:solidFill>
              </a:rPr>
              <a:t>Loss</a:t>
            </a:r>
            <a:endParaRPr lang="es-ES" sz="2200" dirty="0">
              <a:solidFill>
                <a:schemeClr val="bg1">
                  <a:lumMod val="65000"/>
                </a:schemeClr>
              </a:solidFill>
            </a:endParaRPr>
          </a:p>
          <a:p>
            <a:pPr lvl="1"/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  </a:t>
            </a:r>
            <a:r>
              <a:rPr lang="es-ES" sz="2200" dirty="0" err="1">
                <a:solidFill>
                  <a:schemeClr val="bg1">
                    <a:lumMod val="65000"/>
                  </a:schemeClr>
                </a:solidFill>
              </a:rPr>
              <a:t>Sandwich</a:t>
            </a:r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s-ES" sz="2200" dirty="0" err="1">
                <a:solidFill>
                  <a:schemeClr val="bg1">
                    <a:lumMod val="65000"/>
                  </a:schemeClr>
                </a:solidFill>
              </a:rPr>
              <a:t>Attack</a:t>
            </a:r>
            <a:endParaRPr lang="es-ES" sz="2200" dirty="0">
              <a:solidFill>
                <a:schemeClr val="bg1">
                  <a:lumMod val="65000"/>
                </a:schemeClr>
              </a:solidFill>
            </a:endParaRPr>
          </a:p>
          <a:p>
            <a:pPr lvl="1"/>
            <a:endParaRPr lang="es-ES" sz="2200" b="1" dirty="0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573598D8-0598-1A52-0434-873FA182A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7643" y="499208"/>
            <a:ext cx="9950103" cy="710160"/>
          </a:xfrm>
        </p:spPr>
        <p:txBody>
          <a:bodyPr anchor="t">
            <a:noAutofit/>
          </a:bodyPr>
          <a:lstStyle/>
          <a:p>
            <a:r>
              <a:rPr lang="en-US" sz="4000" dirty="0"/>
              <a:t>Automated Market Makers</a:t>
            </a:r>
            <a:endParaRPr lang="es-ES" sz="4000" dirty="0"/>
          </a:p>
        </p:txBody>
      </p:sp>
    </p:spTree>
    <p:extLst>
      <p:ext uri="{BB962C8B-B14F-4D97-AF65-F5344CB8AC3E}">
        <p14:creationId xmlns:p14="http://schemas.microsoft.com/office/powerpoint/2010/main" val="3698581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5EE0A-FC1D-AC3C-68CE-CFD1344F8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00E271-DD1C-BAE5-E5D6-216A210917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361" y="410718"/>
            <a:ext cx="9950103" cy="710160"/>
          </a:xfrm>
        </p:spPr>
        <p:txBody>
          <a:bodyPr anchor="t"/>
          <a:lstStyle/>
          <a:p>
            <a:r>
              <a:rPr lang="es-ES" dirty="0" err="1"/>
              <a:t>Constant</a:t>
            </a:r>
            <a:r>
              <a:rPr lang="es-ES" dirty="0"/>
              <a:t> </a:t>
            </a:r>
            <a:r>
              <a:rPr lang="es-ES" dirty="0" err="1"/>
              <a:t>Product</a:t>
            </a:r>
            <a:r>
              <a:rPr lang="es-ES" dirty="0"/>
              <a:t> </a:t>
            </a:r>
            <a:r>
              <a:rPr lang="es-ES" dirty="0" err="1"/>
              <a:t>Market</a:t>
            </a:r>
            <a:r>
              <a:rPr lang="es-ES" dirty="0"/>
              <a:t> </a:t>
            </a:r>
            <a:r>
              <a:rPr lang="es-ES" dirty="0" err="1"/>
              <a:t>Maker</a:t>
            </a:r>
            <a:r>
              <a:rPr lang="es-ES" dirty="0"/>
              <a:t> </a:t>
            </a:r>
            <a:r>
              <a:rPr lang="es-ES" dirty="0" err="1"/>
              <a:t>Model</a:t>
            </a:r>
            <a:endParaRPr lang="es-E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A30B8E23-A825-B4BA-F3A1-3B14290FAC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77361" y="1196857"/>
                <a:ext cx="9950103" cy="5250425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s-ES" sz="2600" dirty="0"/>
                  <a:t>También conocido como el </a:t>
                </a:r>
                <a:r>
                  <a:rPr lang="es-ES" sz="2600" b="1" dirty="0"/>
                  <a:t>modelo </a:t>
                </a:r>
                <a14:m>
                  <m:oMath xmlns:m="http://schemas.openxmlformats.org/officeDocument/2006/math"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 ×</m:t>
                    </m:r>
                    <m:r>
                      <a:rPr lang="en-US" sz="2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𝒚</m:t>
                    </m:r>
                    <m:r>
                      <a:rPr lang="en-US" sz="2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s-ES" sz="2600" dirty="0"/>
                  <a:t>, es un tipo de AMM que se basa en el producto constante para determinar los precios de los tokens que contenga y la ejecución de los </a:t>
                </a:r>
                <a:r>
                  <a:rPr lang="es-ES" sz="2600" b="1" dirty="0"/>
                  <a:t>swaps</a:t>
                </a:r>
                <a:r>
                  <a:rPr lang="es-ES" sz="2600" dirty="0"/>
                  <a:t>. Sus parámetros principales:</a:t>
                </a:r>
              </a:p>
              <a:p>
                <a14:m>
                  <m:oMath xmlns:m="http://schemas.openxmlformats.org/officeDocument/2006/math"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600" b="1" dirty="0"/>
                  <a:t> = </a:t>
                </a:r>
                <a:r>
                  <a:rPr lang="en-US" sz="2600" dirty="0"/>
                  <a:t>la </a:t>
                </a:r>
                <a:r>
                  <a:rPr lang="en-US" sz="2600" dirty="0" err="1"/>
                  <a:t>cantidad</a:t>
                </a:r>
                <a:r>
                  <a:rPr lang="en-US" sz="2600" dirty="0"/>
                  <a:t> </a:t>
                </a:r>
                <a:r>
                  <a:rPr lang="en-US" sz="2600" dirty="0" err="1"/>
                  <a:t>reservada</a:t>
                </a:r>
                <a:r>
                  <a:rPr lang="en-US" sz="2600" dirty="0"/>
                  <a:t> del token </a:t>
                </a:r>
                <a:r>
                  <a:rPr lang="en-US" sz="2600" b="1" dirty="0"/>
                  <a:t>X</a:t>
                </a:r>
              </a:p>
              <a:p>
                <a14:m>
                  <m:oMath xmlns:m="http://schemas.openxmlformats.org/officeDocument/2006/math">
                    <m:r>
                      <a:rPr lang="en-US" sz="26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US" sz="2600" b="1" dirty="0"/>
                  <a:t> =</a:t>
                </a:r>
                <a:r>
                  <a:rPr lang="en-US" sz="2600" dirty="0"/>
                  <a:t> la </a:t>
                </a:r>
                <a:r>
                  <a:rPr lang="en-US" sz="2600" dirty="0" err="1"/>
                  <a:t>cantidad</a:t>
                </a:r>
                <a:r>
                  <a:rPr lang="en-US" sz="2600" dirty="0"/>
                  <a:t> </a:t>
                </a:r>
                <a:r>
                  <a:rPr lang="en-US" sz="2600" dirty="0" err="1"/>
                  <a:t>reservada</a:t>
                </a:r>
                <a:r>
                  <a:rPr lang="en-US" sz="2600" dirty="0"/>
                  <a:t> del token </a:t>
                </a:r>
                <a:r>
                  <a:rPr lang="en-US" sz="2600" b="1" dirty="0"/>
                  <a:t>Y</a:t>
                </a:r>
                <a:endParaRPr lang="es-ES" sz="2600" b="1" dirty="0"/>
              </a:p>
              <a:p>
                <a14:m>
                  <m:oMath xmlns:m="http://schemas.openxmlformats.org/officeDocument/2006/math">
                    <m:r>
                      <a:rPr lang="en-US" sz="26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𝒌</m:t>
                    </m:r>
                    <m:r>
                      <a:rPr lang="en-US" sz="2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60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600" b="1" i="1">
                        <a:latin typeface="Cambria Math" panose="02040503050406030204" pitchFamily="18" charset="0"/>
                      </a:rPr>
                      <m:t> ×</m:t>
                    </m:r>
                    <m:r>
                      <a:rPr lang="en-US" sz="26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US" sz="2600" dirty="0"/>
                  <a:t>: la </a:t>
                </a:r>
                <a:r>
                  <a:rPr lang="en-US" sz="2600" dirty="0" err="1"/>
                  <a:t>constante</a:t>
                </a:r>
                <a:r>
                  <a:rPr lang="en-US" sz="2600" dirty="0"/>
                  <a:t> de </a:t>
                </a:r>
                <a:r>
                  <a:rPr lang="en-US" sz="2600" dirty="0" err="1"/>
                  <a:t>proporci</a:t>
                </a:r>
                <a:r>
                  <a:rPr lang="es-ES" sz="2600" dirty="0" err="1"/>
                  <a:t>ón</a:t>
                </a:r>
                <a:r>
                  <a:rPr lang="es-ES" sz="2600" dirty="0"/>
                  <a:t> de las reservas</a:t>
                </a:r>
              </a:p>
              <a:p>
                <a:pPr marL="0" indent="0">
                  <a:buNone/>
                </a:pPr>
                <a:r>
                  <a:rPr lang="es-ES" sz="2600" noProof="0" dirty="0"/>
                  <a:t>La idea es que la proporción </a:t>
                </a:r>
                <a14:m>
                  <m:oMath xmlns:m="http://schemas.openxmlformats.org/officeDocument/2006/math">
                    <m:r>
                      <a:rPr lang="en-US" sz="26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s-ES" sz="2600" noProof="0" dirty="0"/>
                  <a:t> entre</a:t>
                </a:r>
                <a:r>
                  <a:rPr lang="es-ES" sz="2600" dirty="0"/>
                  <a:t> los tokens se mantenga </a:t>
                </a:r>
                <a:r>
                  <a:rPr lang="es-ES" sz="2600" noProof="0" dirty="0"/>
                  <a:t>constante durante los intercambios entre clientes y el contrato, mientras que agregar y remover liquidez hacen variar el valor de </a:t>
                </a:r>
                <a14:m>
                  <m:oMath xmlns:m="http://schemas.openxmlformats.org/officeDocument/2006/math">
                    <m:r>
                      <a:rPr lang="en-US" sz="26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s-ES" sz="2600" noProof="0" dirty="0"/>
                  <a:t> manteniendo el balance </a:t>
                </a:r>
                <a14:m>
                  <m:oMath xmlns:m="http://schemas.openxmlformats.org/officeDocument/2006/math"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600" b="1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s-ES" sz="2600" noProof="0" dirty="0"/>
                  <a:t>.</a:t>
                </a:r>
              </a:p>
            </p:txBody>
          </p:sp>
        </mc:Choice>
        <mc:Fallback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A30B8E23-A825-B4BA-F3A1-3B14290FAC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77361" y="1196857"/>
                <a:ext cx="9950103" cy="5250425"/>
              </a:xfrm>
              <a:blipFill>
                <a:blip r:embed="rId2"/>
                <a:stretch>
                  <a:fillRect l="-980" t="-696" r="-184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06011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78C39-31A8-A93B-BA90-89F56BCF0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26EE5A-1031-A78F-1273-EA986990D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361" y="410718"/>
            <a:ext cx="9950103" cy="710160"/>
          </a:xfrm>
        </p:spPr>
        <p:txBody>
          <a:bodyPr anchor="t"/>
          <a:lstStyle/>
          <a:p>
            <a:r>
              <a:rPr lang="es-ES" dirty="0" err="1"/>
              <a:t>Constant</a:t>
            </a:r>
            <a:r>
              <a:rPr lang="es-ES" dirty="0"/>
              <a:t> </a:t>
            </a:r>
            <a:r>
              <a:rPr lang="es-ES" dirty="0" err="1"/>
              <a:t>Product</a:t>
            </a:r>
            <a:r>
              <a:rPr lang="es-ES" dirty="0"/>
              <a:t> </a:t>
            </a:r>
            <a:r>
              <a:rPr lang="es-ES" dirty="0" err="1"/>
              <a:t>Market</a:t>
            </a:r>
            <a:r>
              <a:rPr lang="es-ES" dirty="0"/>
              <a:t> </a:t>
            </a:r>
            <a:r>
              <a:rPr lang="es-ES" dirty="0" err="1"/>
              <a:t>Maker</a:t>
            </a:r>
            <a:r>
              <a:rPr lang="es-ES" dirty="0"/>
              <a:t> </a:t>
            </a:r>
            <a:r>
              <a:rPr lang="es-ES" dirty="0" err="1"/>
              <a:t>Model</a:t>
            </a:r>
            <a:endParaRPr lang="es-E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FEFD6B6C-CE1E-5713-1BC0-6C49457A2DD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77361" y="1196857"/>
                <a:ext cx="9950103" cy="5250425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s-ES" sz="2600" b="1" dirty="0"/>
                  <a:t>Implementación del modelo</a:t>
                </a:r>
              </a:p>
              <a:p>
                <a:pPr marL="0" indent="0">
                  <a:buNone/>
                </a:pPr>
                <a:r>
                  <a:rPr lang="es-ES" sz="2600" noProof="0" dirty="0"/>
                  <a:t>El </a:t>
                </a:r>
                <a:r>
                  <a:rPr lang="es-ES" sz="2600" noProof="0" dirty="0" err="1"/>
                  <a:t>Market</a:t>
                </a:r>
                <a:r>
                  <a:rPr lang="es-ES" sz="2600" noProof="0" dirty="0"/>
                  <a:t> </a:t>
                </a:r>
                <a:r>
                  <a:rPr lang="es-ES" sz="2600" noProof="0" dirty="0" err="1"/>
                  <a:t>Maker</a:t>
                </a:r>
                <a:r>
                  <a:rPr lang="es-ES" sz="2600" noProof="0" dirty="0"/>
                  <a:t> </a:t>
                </a:r>
                <a:r>
                  <a:rPr lang="es-ES" sz="2600" noProof="0" dirty="0" err="1"/>
                  <a:t>Model</a:t>
                </a:r>
                <a:r>
                  <a:rPr lang="es-ES" sz="2600" noProof="0" dirty="0"/>
                  <a:t> es un </a:t>
                </a:r>
                <a:r>
                  <a:rPr lang="es-ES" sz="2600" b="1" noProof="0" dirty="0"/>
                  <a:t>sistema de transición de estados</a:t>
                </a:r>
                <a:r>
                  <a:rPr lang="es-ES" sz="2600" noProof="0" dirty="0"/>
                  <a:t>, en donde tenemos una tupla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s-ES" sz="2600" b="1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2600" b="1" i="1" noProof="0" smtClean="0">
                            <a:latin typeface="Cambria Math" panose="02040503050406030204" pitchFamily="18" charset="0"/>
                          </a:rPr>
                          <m:t>𝒆</m:t>
                        </m:r>
                        <m:r>
                          <a:rPr lang="es-ES" sz="2600" b="1" i="1" noProof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s-ES" sz="2600" b="1" i="1" noProof="0" smtClean="0">
                            <a:latin typeface="Cambria Math" panose="02040503050406030204" pitchFamily="18" charset="0"/>
                          </a:rPr>
                          <m:t>𝒕</m:t>
                        </m:r>
                        <m:r>
                          <a:rPr lang="es-ES" sz="2600" b="1" i="1" noProof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s-ES" sz="2600" b="1" i="1" noProof="0" smtClean="0">
                            <a:latin typeface="Cambria Math" panose="02040503050406030204" pitchFamily="18" charset="0"/>
                          </a:rPr>
                          <m:t>𝒍</m:t>
                        </m:r>
                      </m:e>
                    </m:d>
                  </m:oMath>
                </a14:m>
                <a:r>
                  <a:rPr lang="es-ES" sz="2600" noProof="0" dirty="0"/>
                  <a:t> con la que vamos a representar:</a:t>
                </a:r>
                <a:endParaRPr lang="es-ES" sz="2600" dirty="0"/>
              </a:p>
              <a:p>
                <a14:m>
                  <m:oMath xmlns:m="http://schemas.openxmlformats.org/officeDocument/2006/math">
                    <m:r>
                      <a:rPr lang="es-ES" sz="2600" b="1" i="1">
                        <a:latin typeface="Cambria Math" panose="02040503050406030204" pitchFamily="18" charset="0"/>
                      </a:rPr>
                      <m:t>𝒆</m:t>
                    </m:r>
                  </m:oMath>
                </a14:m>
                <a:r>
                  <a:rPr lang="en-US" sz="2600" b="1" dirty="0"/>
                  <a:t> = </a:t>
                </a:r>
                <a:r>
                  <a:rPr lang="en-US" sz="2600" dirty="0"/>
                  <a:t>la </a:t>
                </a:r>
                <a:r>
                  <a:rPr lang="en-US" sz="2600" dirty="0" err="1"/>
                  <a:t>cantidad</a:t>
                </a:r>
                <a:r>
                  <a:rPr lang="en-US" sz="2600" dirty="0"/>
                  <a:t> de </a:t>
                </a:r>
                <a:r>
                  <a:rPr lang="en-US" sz="2600" b="1" dirty="0"/>
                  <a:t>ETH</a:t>
                </a:r>
                <a:r>
                  <a:rPr lang="en-US" sz="2600" dirty="0"/>
                  <a:t> </a:t>
                </a:r>
                <a:r>
                  <a:rPr lang="en-US" sz="2600" dirty="0" err="1"/>
                  <a:t>en</a:t>
                </a:r>
                <a:r>
                  <a:rPr lang="en-US" sz="2600" dirty="0"/>
                  <a:t> </a:t>
                </a:r>
                <a:r>
                  <a:rPr lang="en-US" sz="2600" dirty="0" err="1"/>
                  <a:t>el</a:t>
                </a:r>
                <a:r>
                  <a:rPr lang="en-US" sz="2600" dirty="0"/>
                  <a:t> </a:t>
                </a:r>
                <a:r>
                  <a:rPr lang="en-US" sz="2600" dirty="0" err="1"/>
                  <a:t>contrato</a:t>
                </a:r>
                <a:endParaRPr lang="en-US" sz="2600" b="1" dirty="0"/>
              </a:p>
              <a:p>
                <a14:m>
                  <m:oMath xmlns:m="http://schemas.openxmlformats.org/officeDocument/2006/math"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𝒕</m:t>
                    </m:r>
                  </m:oMath>
                </a14:m>
                <a:r>
                  <a:rPr lang="en-US" sz="2600" b="1" dirty="0"/>
                  <a:t> =</a:t>
                </a:r>
                <a:r>
                  <a:rPr lang="en-US" sz="2600" dirty="0"/>
                  <a:t> la </a:t>
                </a:r>
                <a:r>
                  <a:rPr lang="en-US" sz="2600" dirty="0" err="1"/>
                  <a:t>cantidad</a:t>
                </a:r>
                <a:r>
                  <a:rPr lang="en-US" sz="2600" dirty="0"/>
                  <a:t> </a:t>
                </a:r>
                <a:r>
                  <a:rPr lang="es-ES" sz="2600" dirty="0"/>
                  <a:t>de </a:t>
                </a:r>
                <a:r>
                  <a:rPr lang="es-ES" sz="2600" b="1" dirty="0"/>
                  <a:t>exchange tokens</a:t>
                </a:r>
              </a:p>
              <a:p>
                <a14:m>
                  <m:oMath xmlns:m="http://schemas.openxmlformats.org/officeDocument/2006/math"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𝒍</m:t>
                    </m:r>
                  </m:oMath>
                </a14:m>
                <a:r>
                  <a:rPr lang="en-US" sz="2600" dirty="0"/>
                  <a:t> </a:t>
                </a:r>
                <a:r>
                  <a:rPr lang="en-US" sz="2600" b="1" dirty="0"/>
                  <a:t>=</a:t>
                </a:r>
                <a:r>
                  <a:rPr lang="en-US" sz="2600" dirty="0"/>
                  <a:t> la </a:t>
                </a:r>
                <a:r>
                  <a:rPr lang="en-US" sz="2600" dirty="0" err="1"/>
                  <a:t>liquidez</a:t>
                </a:r>
                <a:r>
                  <a:rPr lang="en-US" sz="2600" dirty="0"/>
                  <a:t> total</a:t>
                </a:r>
                <a:endParaRPr lang="es-ES" sz="2600" dirty="0"/>
              </a:p>
              <a:p>
                <a:pPr marL="0" indent="0">
                  <a:buNone/>
                </a:pPr>
                <a:r>
                  <a:rPr lang="es-ES" sz="2600" dirty="0"/>
                  <a:t>Cada acción de </a:t>
                </a:r>
                <a:r>
                  <a:rPr lang="es-ES" sz="2600" b="1" dirty="0"/>
                  <a:t>swap</a:t>
                </a:r>
                <a:r>
                  <a:rPr lang="es-ES" sz="2600" dirty="0"/>
                  <a:t> de tokens, aumento y decremento de liquidez van a actualizar el estado del contrato. Esta implementación está basada en </a:t>
                </a:r>
                <a:r>
                  <a:rPr lang="es-ES" sz="2600" b="1" dirty="0" err="1"/>
                  <a:t>Uniswap</a:t>
                </a:r>
                <a:r>
                  <a:rPr lang="es-ES" sz="2600" b="1" dirty="0"/>
                  <a:t> V1</a:t>
                </a:r>
                <a:r>
                  <a:rPr lang="es-ES" sz="2600" dirty="0"/>
                  <a:t> (explicado más adelante), para el swap tendremos ETH y el exchange token será creado con la herramienta </a:t>
                </a:r>
                <a:r>
                  <a:rPr lang="es-ES" sz="2600" b="1" dirty="0"/>
                  <a:t>Open Zeppelin</a:t>
                </a:r>
                <a:r>
                  <a:rPr lang="en-US" sz="2600" b="1" dirty="0"/>
                  <a:t>.</a:t>
                </a:r>
                <a:endParaRPr lang="es-ES" sz="2600" noProof="0" dirty="0"/>
              </a:p>
              <a:p>
                <a:pPr marL="0" indent="0">
                  <a:buNone/>
                </a:pPr>
                <a:endParaRPr lang="es-ES" sz="2600" b="1" noProof="0" dirty="0"/>
              </a:p>
            </p:txBody>
          </p:sp>
        </mc:Choice>
        <mc:Fallback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FEFD6B6C-CE1E-5713-1BC0-6C49457A2DD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77361" y="1196857"/>
                <a:ext cx="9950103" cy="5250425"/>
              </a:xfrm>
              <a:blipFill>
                <a:blip r:embed="rId2"/>
                <a:stretch>
                  <a:fillRect l="-980" t="-696" b="-232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28671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19EC9-C11E-A05F-E621-9E0EBD737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022D9E-817E-0BA9-9048-5F5372F030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361" y="410718"/>
            <a:ext cx="9950103" cy="710160"/>
          </a:xfrm>
        </p:spPr>
        <p:txBody>
          <a:bodyPr anchor="t"/>
          <a:lstStyle/>
          <a:p>
            <a:r>
              <a:rPr lang="es-ES" dirty="0" err="1"/>
              <a:t>Constant</a:t>
            </a:r>
            <a:r>
              <a:rPr lang="es-ES" dirty="0"/>
              <a:t> </a:t>
            </a:r>
            <a:r>
              <a:rPr lang="es-ES" dirty="0" err="1"/>
              <a:t>Product</a:t>
            </a:r>
            <a:r>
              <a:rPr lang="es-ES" dirty="0"/>
              <a:t> </a:t>
            </a:r>
            <a:r>
              <a:rPr lang="es-ES" dirty="0" err="1"/>
              <a:t>Market</a:t>
            </a:r>
            <a:r>
              <a:rPr lang="es-ES" dirty="0"/>
              <a:t> </a:t>
            </a:r>
            <a:r>
              <a:rPr lang="es-ES" dirty="0" err="1"/>
              <a:t>Maker</a:t>
            </a:r>
            <a:r>
              <a:rPr lang="es-ES" dirty="0"/>
              <a:t> </a:t>
            </a:r>
            <a:r>
              <a:rPr lang="es-ES" dirty="0" err="1"/>
              <a:t>Model</a:t>
            </a:r>
            <a:endParaRPr lang="es-E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89ECF7C9-0DD9-74A0-27D0-BCEFAD237F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77360" y="916638"/>
                <a:ext cx="9950103" cy="525042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s-ES" sz="2600" b="1" dirty="0"/>
                  <a:t>Implementación del modelo</a:t>
                </a:r>
              </a:p>
              <a:p>
                <a:pPr marL="0" indent="0">
                  <a:buNone/>
                </a:pPr>
                <a:r>
                  <a:rPr lang="es-ES" sz="2600" dirty="0"/>
                  <a:t>Se define</a:t>
                </a:r>
                <a:r>
                  <a:rPr lang="es-ES" sz="2600" noProof="0" dirty="0"/>
                  <a:t> </a:t>
                </a:r>
                <a14:m>
                  <m:oMath xmlns:m="http://schemas.openxmlformats.org/officeDocument/2006/math"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𝒈𝒆𝒕𝑰𝒏𝒑𝒖𝒕𝑷𝒓𝒊𝒄𝒆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l-GR" sz="2600" b="1" i="1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s-ES" sz="2600" noProof="0" dirty="0"/>
                  <a:t>, que toma como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600" b="1" i="1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s-ES" sz="2600" noProof="0" dirty="0"/>
                  <a:t> la cantidad de fondos </a:t>
                </a:r>
                <a:r>
                  <a:rPr lang="es-ES" sz="2600" dirty="0"/>
                  <a:t>a vender y </a:t>
                </a:r>
                <a:r>
                  <a:rPr lang="es-ES" sz="2600" noProof="0" dirty="0"/>
                  <a:t>devuelve </a:t>
                </a:r>
                <a14:m>
                  <m:oMath xmlns:m="http://schemas.openxmlformats.org/officeDocument/2006/math">
                    <m:r>
                      <a:rPr lang="el-GR" sz="2600" b="1" i="1">
                        <a:latin typeface="Cambria Math" panose="02040503050406030204" pitchFamily="18" charset="0"/>
                      </a:rPr>
                      <m:t>𝜟</m:t>
                    </m:r>
                    <m:r>
                      <a:rPr lang="en-US" sz="2600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s-ES" sz="2600" noProof="0" dirty="0"/>
                  <a:t>, la cantidad del otro token, que se puede comprar con los fondos brindados según la proporción de las reservas.</a:t>
                </a:r>
              </a:p>
              <a:p>
                <a:pPr marL="0" indent="0">
                  <a:buNone/>
                </a:pPr>
                <a:r>
                  <a:rPr lang="es-ES" sz="2600" dirty="0"/>
                  <a:t>Cada compra de tokens tiene una </a:t>
                </a:r>
                <a:r>
                  <a:rPr lang="es-ES" sz="2600" b="1" dirty="0"/>
                  <a:t>fee</a:t>
                </a:r>
                <a:r>
                  <a:rPr lang="es-ES" sz="2600" dirty="0"/>
                  <a:t> representada con </a:t>
                </a:r>
                <a14:m>
                  <m:oMath xmlns:m="http://schemas.openxmlformats.org/officeDocument/2006/math">
                    <m:r>
                      <a:rPr lang="el-GR" sz="2600" b="1" i="1">
                        <a:latin typeface="Cambria Math" panose="02040503050406030204" pitchFamily="18" charset="0"/>
                      </a:rPr>
                      <m:t>𝝆</m:t>
                    </m:r>
                    <m:r>
                      <a:rPr lang="en-US" sz="2600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600" b="1" i="1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600" b="1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600" b="1" i="1"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2600" b="1" i="1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es-ES" sz="2600" dirty="0"/>
                  <a:t>, por lo que usamos </a:t>
                </a:r>
                <a14:m>
                  <m:oMath xmlns:m="http://schemas.openxmlformats.org/officeDocument/2006/math">
                    <m:r>
                      <a:rPr lang="el-GR" sz="2600" b="1" i="1">
                        <a:latin typeface="Cambria Math" panose="02040503050406030204" pitchFamily="18" charset="0"/>
                      </a:rPr>
                      <m:t>𝜸</m:t>
                    </m:r>
                    <m:r>
                      <a:rPr lang="en-US" sz="2600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600" b="1" i="1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600" b="1" i="1">
                        <a:latin typeface="Cambria Math" panose="02040503050406030204" pitchFamily="18" charset="0"/>
                      </a:rPr>
                      <m:t> −</m:t>
                    </m:r>
                    <m:r>
                      <a:rPr lang="el-GR" sz="2600" b="1" i="1">
                        <a:latin typeface="Cambria Math" panose="02040503050406030204" pitchFamily="18" charset="0"/>
                      </a:rPr>
                      <m:t>𝝆</m:t>
                    </m:r>
                  </m:oMath>
                </a14:m>
                <a:r>
                  <a:rPr lang="es-ES" sz="2600" b="1" dirty="0"/>
                  <a:t> </a:t>
                </a:r>
                <a:r>
                  <a:rPr lang="es-ES" sz="2600" dirty="0"/>
                  <a:t>para obtener la parte efectiva de los fondos a gastar.</a:t>
                </a:r>
              </a:p>
              <a:p>
                <a:pPr marL="0" indent="0">
                  <a:buNone/>
                </a:pPr>
                <a:r>
                  <a:rPr lang="es-ES" sz="2600" dirty="0"/>
                  <a:t>Representaremos con </a:t>
                </a:r>
                <a14:m>
                  <m:oMath xmlns:m="http://schemas.openxmlformats.org/officeDocument/2006/math">
                    <m:r>
                      <a:rPr lang="el-GR" sz="2600" b="1" i="1" smtClean="0">
                        <a:latin typeface="Cambria Math" panose="02040503050406030204" pitchFamily="18" charset="0"/>
                      </a:rPr>
                      <m:t>𝜶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6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l-GR" sz="2600" b="1" i="1">
                            <a:latin typeface="Cambria Math" panose="02040503050406030204" pitchFamily="18" charset="0"/>
                          </a:rPr>
                          <m:t>𝜟</m:t>
                        </m:r>
                        <m:r>
                          <a:rPr lang="en-US" sz="2600" b="1" i="1">
                            <a:latin typeface="Cambria Math" panose="02040503050406030204" pitchFamily="18" charset="0"/>
                          </a:rPr>
                          <m:t>𝒙</m:t>
                        </m:r>
                      </m:num>
                      <m:den>
                        <m:r>
                          <a:rPr lang="en-US" sz="2600" b="1" i="1">
                            <a:latin typeface="Cambria Math" panose="02040503050406030204" pitchFamily="18" charset="0"/>
                          </a:rPr>
                          <m:t>𝒙</m:t>
                        </m:r>
                      </m:den>
                    </m:f>
                  </m:oMath>
                </a14:m>
                <a:r>
                  <a:rPr lang="es-ES" sz="2600" dirty="0"/>
                  <a:t> la proporción del token que se va a gastar, relativo a la reserva inicial </a:t>
                </a:r>
                <a14:m>
                  <m:oMath xmlns:m="http://schemas.openxmlformats.org/officeDocument/2006/math">
                    <m:r>
                      <a:rPr lang="en-US" sz="2600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s-ES" sz="2600" dirty="0"/>
                  <a:t> que haya en el </a:t>
                </a:r>
                <a:r>
                  <a:rPr lang="es-ES" sz="2600" b="1" dirty="0" err="1"/>
                  <a:t>liquidity</a:t>
                </a:r>
                <a:r>
                  <a:rPr lang="es-ES" sz="2600" b="1" dirty="0"/>
                  <a:t> pool.</a:t>
                </a:r>
                <a:endParaRPr lang="es-ES" sz="2600" b="1" noProof="0" dirty="0"/>
              </a:p>
              <a:p>
                <a:pPr marL="0" indent="0">
                  <a:buNone/>
                </a:pPr>
                <a:endParaRPr lang="es-ES" sz="2600" noProof="0" dirty="0"/>
              </a:p>
              <a:p>
                <a:pPr marL="0" indent="0">
                  <a:buNone/>
                </a:pPr>
                <a:endParaRPr lang="es-ES" sz="2600" b="1" noProof="0" dirty="0"/>
              </a:p>
            </p:txBody>
          </p:sp>
        </mc:Choice>
        <mc:Fallback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89ECF7C9-0DD9-74A0-27D0-BCEFAD237F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77360" y="916638"/>
                <a:ext cx="9950103" cy="5250425"/>
              </a:xfrm>
              <a:blipFill>
                <a:blip r:embed="rId2"/>
                <a:stretch>
                  <a:fillRect l="-1103" t="-928" r="-1900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265214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B64DD9-95BE-01F9-0631-877FCE685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B50A74-21E6-27D1-F128-24E88AF737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361" y="410718"/>
            <a:ext cx="9950103" cy="710160"/>
          </a:xfrm>
        </p:spPr>
        <p:txBody>
          <a:bodyPr anchor="t"/>
          <a:lstStyle/>
          <a:p>
            <a:r>
              <a:rPr lang="es-ES" dirty="0" err="1"/>
              <a:t>Constant</a:t>
            </a:r>
            <a:r>
              <a:rPr lang="es-ES" dirty="0"/>
              <a:t> </a:t>
            </a:r>
            <a:r>
              <a:rPr lang="es-ES" dirty="0" err="1"/>
              <a:t>Product</a:t>
            </a:r>
            <a:r>
              <a:rPr lang="es-ES" dirty="0"/>
              <a:t> </a:t>
            </a:r>
            <a:r>
              <a:rPr lang="es-ES" dirty="0" err="1"/>
              <a:t>Market</a:t>
            </a:r>
            <a:r>
              <a:rPr lang="es-ES" dirty="0"/>
              <a:t> </a:t>
            </a:r>
            <a:r>
              <a:rPr lang="es-ES" dirty="0" err="1"/>
              <a:t>Maker</a:t>
            </a:r>
            <a:r>
              <a:rPr lang="es-ES" dirty="0"/>
              <a:t> </a:t>
            </a:r>
            <a:r>
              <a:rPr lang="es-ES" dirty="0" err="1"/>
              <a:t>Model</a:t>
            </a:r>
            <a:endParaRPr lang="es-E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E4CA1ECF-BF53-6BD4-B66A-6E0235CC94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77360" y="916638"/>
                <a:ext cx="9950103" cy="5250425"/>
              </a:xfrm>
            </p:spPr>
            <p:txBody>
              <a:bodyPr>
                <a:normAutofit/>
              </a:bodyPr>
              <a:lstStyle/>
              <a:p>
                <a:r>
                  <a:rPr lang="es-ES" sz="2600" b="1" dirty="0"/>
                  <a:t>Implementación del modelo</a:t>
                </a:r>
              </a:p>
              <a:p>
                <a:pPr marL="0" indent="0">
                  <a:buNone/>
                </a:pPr>
                <a:r>
                  <a:rPr lang="es-ES" sz="2600" dirty="0"/>
                  <a:t>Se calculan las nuevas cantidades de tokens como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600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sz="2600" b="1" i="1" smtClean="0">
                            <a:latin typeface="Cambria Math" panose="02040503050406030204" pitchFamily="18" charset="0"/>
                          </a:rPr>
                          <m:t>′′</m:t>
                        </m:r>
                      </m:sup>
                    </m:sSup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+ </m:t>
                    </m:r>
                    <m:r>
                      <a:rPr lang="el-GR" sz="2600" b="1" i="1">
                        <a:latin typeface="Cambria Math" panose="02040503050406030204" pitchFamily="18" charset="0"/>
                      </a:rPr>
                      <m:t>𝜟</m:t>
                    </m:r>
                    <m:r>
                      <a:rPr lang="en-US" sz="2600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s-ES" sz="2600" b="1" dirty="0"/>
                  <a:t>  </a:t>
                </a:r>
                <a:r>
                  <a:rPr lang="es-ES" sz="2600" dirty="0"/>
                  <a:t>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6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p>
                        <m:r>
                          <a:rPr lang="en-US" sz="2600" b="1" i="1">
                            <a:latin typeface="Cambria Math" panose="02040503050406030204" pitchFamily="18" charset="0"/>
                          </a:rPr>
                          <m:t>′′</m:t>
                        </m:r>
                      </m:sup>
                    </m:sSup>
                    <m:r>
                      <a:rPr lang="en-US" sz="2600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− </m:t>
                    </m:r>
                    <m:r>
                      <a:rPr lang="el-GR" sz="2600" b="1" i="1">
                        <a:latin typeface="Cambria Math" panose="02040503050406030204" pitchFamily="18" charset="0"/>
                      </a:rPr>
                      <m:t>𝜟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s-ES" sz="2600" dirty="0"/>
                  <a:t>, y se computa </a:t>
                </a:r>
                <a14:m>
                  <m:oMath xmlns:m="http://schemas.openxmlformats.org/officeDocument/2006/math">
                    <m:r>
                      <a:rPr lang="en-US" sz="26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𝒌</m:t>
                    </m:r>
                    <m:r>
                      <a:rPr lang="en-US" sz="26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𝒙𝒚</m:t>
                    </m:r>
                    <m:r>
                      <a:rPr lang="en-US" sz="2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sSup>
                      <m:sSupPr>
                        <m:ctrlPr>
                          <a:rPr lang="en-US" sz="2600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sz="2600" b="1" i="1" smtClean="0">
                            <a:latin typeface="Cambria Math" panose="02040503050406030204" pitchFamily="18" charset="0"/>
                          </a:rPr>
                          <m:t>′′</m:t>
                        </m:r>
                      </m:sup>
                    </m:sSup>
                    <m:r>
                      <a:rPr lang="en-US" sz="2600" b="1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𝒚</m:t>
                        </m:r>
                      </m:e>
                      <m:sup>
                        <m:r>
                          <a:rPr lang="en-US" sz="2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′′</m:t>
                        </m:r>
                      </m:sup>
                    </m:sSup>
                  </m:oMath>
                </a14:m>
                <a:r>
                  <a:rPr lang="es-ES" sz="2600" dirty="0"/>
                  <a:t>. Despejamos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𝒚</m:t>
                        </m:r>
                      </m:e>
                      <m:sup>
                        <m:r>
                          <a:rPr lang="en-US" sz="2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′′</m:t>
                        </m:r>
                      </m:sup>
                    </m:sSup>
                    <m:r>
                      <a:rPr lang="en-US" sz="2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⌊"/>
                        <m:endChr m:val="⌋"/>
                        <m:ctrlPr>
                          <a:rPr lang="en-US" sz="26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2600" b="1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6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num>
                          <m:den>
                            <m:r>
                              <a:rPr lang="en-US" sz="260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  <m:r>
                              <a:rPr lang="en-US" sz="2600" b="1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600" b="1" i="1">
                                <a:latin typeface="Cambria Math" panose="02040503050406030204" pitchFamily="18" charset="0"/>
                              </a:rPr>
                              <m:t>𝜶𝜸</m:t>
                            </m:r>
                          </m:den>
                        </m:f>
                        <m:r>
                          <a:rPr lang="en-US" sz="2600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d>
                  </m:oMath>
                </a14:m>
                <a:r>
                  <a:rPr lang="es-ES" sz="2600" dirty="0"/>
                  <a:t> y para obtener </a:t>
                </a:r>
                <a14:m>
                  <m:oMath xmlns:m="http://schemas.openxmlformats.org/officeDocument/2006/math">
                    <m:r>
                      <a:rPr lang="el-GR" sz="2600" b="1" i="1">
                        <a:latin typeface="Cambria Math" panose="02040503050406030204" pitchFamily="18" charset="0"/>
                      </a:rPr>
                      <m:t>𝜟</m:t>
                    </m:r>
                    <m:r>
                      <a:rPr lang="en-US" sz="2600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s-ES" sz="2600" b="1" noProof="0" dirty="0"/>
                  <a:t> </a:t>
                </a:r>
                <a:r>
                  <a:rPr lang="es-ES" sz="2600" dirty="0"/>
                  <a:t>lo despejamos 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𝒚</m:t>
                        </m:r>
                      </m:e>
                      <m:sup>
                        <m:r>
                          <a:rPr lang="en-US" sz="2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′′</m:t>
                        </m:r>
                      </m:sup>
                    </m:sSup>
                    <m:r>
                      <a:rPr lang="en-US" sz="2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𝒚</m:t>
                    </m:r>
                    <m:r>
                      <a:rPr lang="en-US" sz="2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l-GR" sz="2600" b="1" i="1">
                        <a:latin typeface="Cambria Math" panose="02040503050406030204" pitchFamily="18" charset="0"/>
                      </a:rPr>
                      <m:t>𝜟</m:t>
                    </m:r>
                    <m:r>
                      <a:rPr lang="en-US" sz="2600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s-ES" sz="2600" noProof="0" dirty="0"/>
                  <a:t>.</a:t>
                </a:r>
                <a:endParaRPr lang="es-ES" sz="2600" b="1" noProof="0" dirty="0"/>
              </a:p>
              <a:p>
                <a:pPr marL="0" indent="0">
                  <a:buNone/>
                </a:pPr>
                <a:endParaRPr lang="es-ES" sz="2600" b="1" noProof="0" dirty="0"/>
              </a:p>
            </p:txBody>
          </p:sp>
        </mc:Choice>
        <mc:Fallback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E4CA1ECF-BF53-6BD4-B66A-6E0235CC94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77360" y="916638"/>
                <a:ext cx="9950103" cy="5250425"/>
              </a:xfrm>
              <a:blipFill>
                <a:blip r:embed="rId2"/>
                <a:stretch>
                  <a:fillRect l="-1103" t="-348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n 7">
            <a:extLst>
              <a:ext uri="{FF2B5EF4-FFF2-40B4-BE49-F238E27FC236}">
                <a16:creationId xmlns:a16="http://schemas.microsoft.com/office/drawing/2014/main" id="{2786C7E4-AA39-FB5B-3DB3-450CD88FD4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1098" y="3368868"/>
            <a:ext cx="8102626" cy="3304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87274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A49A2-DE41-6A68-F870-B11A732D3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E4C4ED-4281-3C25-D75D-31321D32A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361" y="410718"/>
            <a:ext cx="9950103" cy="710160"/>
          </a:xfrm>
        </p:spPr>
        <p:txBody>
          <a:bodyPr anchor="t"/>
          <a:lstStyle/>
          <a:p>
            <a:r>
              <a:rPr lang="es-ES" dirty="0" err="1"/>
              <a:t>Constant</a:t>
            </a:r>
            <a:r>
              <a:rPr lang="es-ES" dirty="0"/>
              <a:t> </a:t>
            </a:r>
            <a:r>
              <a:rPr lang="es-ES" dirty="0" err="1"/>
              <a:t>Product</a:t>
            </a:r>
            <a:r>
              <a:rPr lang="es-ES" dirty="0"/>
              <a:t> </a:t>
            </a:r>
            <a:r>
              <a:rPr lang="es-ES" dirty="0" err="1"/>
              <a:t>Market</a:t>
            </a:r>
            <a:r>
              <a:rPr lang="es-ES" dirty="0"/>
              <a:t> </a:t>
            </a:r>
            <a:r>
              <a:rPr lang="es-ES" dirty="0" err="1"/>
              <a:t>Maker</a:t>
            </a:r>
            <a:r>
              <a:rPr lang="es-ES" dirty="0"/>
              <a:t> </a:t>
            </a:r>
            <a:r>
              <a:rPr lang="es-ES" dirty="0" err="1"/>
              <a:t>Model</a:t>
            </a:r>
            <a:endParaRPr lang="es-E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EE52FB7D-7DC3-B18B-E935-68E9C835FE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77360" y="916638"/>
                <a:ext cx="9950103" cy="5250425"/>
              </a:xfrm>
            </p:spPr>
            <p:txBody>
              <a:bodyPr>
                <a:normAutofit/>
              </a:bodyPr>
              <a:lstStyle/>
              <a:p>
                <a:r>
                  <a:rPr lang="es-ES" sz="2600" b="1" dirty="0"/>
                  <a:t>Implementación del modelo</a:t>
                </a:r>
              </a:p>
              <a:p>
                <a:pPr marL="0" indent="0">
                  <a:buNone/>
                </a:pPr>
                <a:r>
                  <a:rPr lang="es-ES" sz="2600" noProof="0" dirty="0"/>
                  <a:t>De </a:t>
                </a:r>
                <a:r>
                  <a:rPr lang="es-ES" sz="2600" dirty="0"/>
                  <a:t>manera similar, </a:t>
                </a:r>
                <a14:m>
                  <m:oMath xmlns:m="http://schemas.openxmlformats.org/officeDocument/2006/math"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𝒈𝒆𝒕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𝑶𝒖𝒕</m:t>
                    </m:r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𝒑𝒖𝒕𝑷𝒓𝒊𝒄𝒆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l-GR" sz="2600" b="1" i="1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s-ES" sz="2600" noProof="0" dirty="0"/>
                  <a:t> toma como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600" b="1" i="1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s-ES" sz="2600" noProof="0" dirty="0"/>
                  <a:t> la cantidad del token </a:t>
                </a:r>
                <a14:m>
                  <m:oMath xmlns:m="http://schemas.openxmlformats.org/officeDocument/2006/math"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𝒀</m:t>
                    </m:r>
                  </m:oMath>
                </a14:m>
                <a:r>
                  <a:rPr lang="es-ES" sz="2600" noProof="0" dirty="0"/>
                  <a:t> que se quiere comprar, devolviendo cuánto del token </a:t>
                </a:r>
                <a14:m>
                  <m:oMath xmlns:m="http://schemas.openxmlformats.org/officeDocument/2006/math"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es-ES" sz="2600" noProof="0" dirty="0"/>
                  <a:t> se debería gastar para comprarlo.</a:t>
                </a:r>
              </a:p>
              <a:p>
                <a:pPr marL="0" indent="0">
                  <a:buNone/>
                </a:pPr>
                <a:endParaRPr lang="es-ES" sz="2600" noProof="0" dirty="0"/>
              </a:p>
              <a:p>
                <a:pPr marL="0" indent="0">
                  <a:buNone/>
                </a:pPr>
                <a:endParaRPr lang="es-ES" sz="2600" b="1" noProof="0" dirty="0"/>
              </a:p>
            </p:txBody>
          </p:sp>
        </mc:Choice>
        <mc:Fallback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EE52FB7D-7DC3-B18B-E935-68E9C835FE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77360" y="916638"/>
                <a:ext cx="9950103" cy="5250425"/>
              </a:xfrm>
              <a:blipFill>
                <a:blip r:embed="rId2"/>
                <a:stretch>
                  <a:fillRect l="-1103" t="-348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n 4">
            <a:extLst>
              <a:ext uri="{FF2B5EF4-FFF2-40B4-BE49-F238E27FC236}">
                <a16:creationId xmlns:a16="http://schemas.microsoft.com/office/drawing/2014/main" id="{F6099071-22CD-07D9-6568-54EFA8991A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0548" y="2965954"/>
            <a:ext cx="7723080" cy="3591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95121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AD59F6-5176-8706-10EF-914092DCA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902E42C-38B9-0FA2-F0EC-11CBEEC1F7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7644" y="1426663"/>
            <a:ext cx="9950103" cy="5094361"/>
          </a:xfrm>
        </p:spPr>
        <p:txBody>
          <a:bodyPr>
            <a:normAutofit lnSpcReduction="10000"/>
          </a:bodyPr>
          <a:lstStyle/>
          <a:p>
            <a:r>
              <a:rPr lang="en-US" sz="2400" b="1" dirty="0" err="1">
                <a:solidFill>
                  <a:schemeClr val="bg1">
                    <a:lumMod val="65000"/>
                  </a:schemeClr>
                </a:solidFill>
              </a:rPr>
              <a:t>Tipos</a:t>
            </a:r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 de Exchanges</a:t>
            </a:r>
          </a:p>
          <a:p>
            <a:pPr lvl="1"/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  </a:t>
            </a:r>
            <a:r>
              <a:rPr lang="es-ES" sz="2200" dirty="0" err="1">
                <a:solidFill>
                  <a:schemeClr val="bg1">
                    <a:lumMod val="65000"/>
                  </a:schemeClr>
                </a:solidFill>
              </a:rPr>
              <a:t>Exchanges</a:t>
            </a:r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centralizados: </a:t>
            </a:r>
            <a:r>
              <a:rPr lang="es-ES" sz="2200" dirty="0" err="1">
                <a:solidFill>
                  <a:schemeClr val="bg1">
                    <a:lumMod val="65000"/>
                  </a:schemeClr>
                </a:solidFill>
              </a:rPr>
              <a:t>Order</a:t>
            </a:r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Book</a:t>
            </a:r>
          </a:p>
          <a:p>
            <a:pPr lvl="1"/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  P2P</a:t>
            </a:r>
          </a:p>
          <a:p>
            <a:pPr lvl="1"/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  </a:t>
            </a:r>
            <a:r>
              <a:rPr lang="es-ES" sz="2200" dirty="0" err="1">
                <a:solidFill>
                  <a:schemeClr val="bg1">
                    <a:lumMod val="65000"/>
                  </a:schemeClr>
                </a:solidFill>
              </a:rPr>
              <a:t>Automated</a:t>
            </a:r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s-ES" sz="2200" dirty="0" err="1">
                <a:solidFill>
                  <a:schemeClr val="bg1">
                    <a:lumMod val="65000"/>
                  </a:schemeClr>
                </a:solidFill>
              </a:rPr>
              <a:t>Market</a:t>
            </a:r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s-ES" sz="2200" dirty="0" err="1">
                <a:solidFill>
                  <a:schemeClr val="bg1">
                    <a:lumMod val="65000"/>
                  </a:schemeClr>
                </a:solidFill>
              </a:rPr>
              <a:t>Makers</a:t>
            </a:r>
            <a:endParaRPr lang="es-ES" sz="2200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lang="es-ES" sz="2400" b="1" dirty="0" err="1"/>
              <a:t>Constant</a:t>
            </a:r>
            <a:r>
              <a:rPr lang="es-ES" sz="2400" b="1" dirty="0"/>
              <a:t> </a:t>
            </a:r>
            <a:r>
              <a:rPr lang="es-ES" sz="2400" b="1" dirty="0" err="1"/>
              <a:t>Product</a:t>
            </a:r>
            <a:r>
              <a:rPr lang="es-ES" sz="2400" b="1" dirty="0"/>
              <a:t> </a:t>
            </a:r>
            <a:r>
              <a:rPr lang="es-ES" sz="2400" b="1" dirty="0" err="1"/>
              <a:t>Market</a:t>
            </a:r>
            <a:r>
              <a:rPr lang="es-ES" sz="2400" b="1" dirty="0"/>
              <a:t> </a:t>
            </a:r>
            <a:r>
              <a:rPr lang="es-ES" sz="2400" b="1" dirty="0" err="1"/>
              <a:t>Maker</a:t>
            </a:r>
            <a:r>
              <a:rPr lang="es-ES" sz="2400" b="1" dirty="0"/>
              <a:t> </a:t>
            </a:r>
            <a:r>
              <a:rPr lang="es-ES" sz="2400" b="1" dirty="0" err="1"/>
              <a:t>Model</a:t>
            </a:r>
            <a:endParaRPr lang="es-ES" sz="2400" b="1" dirty="0"/>
          </a:p>
          <a:p>
            <a:pPr lvl="1"/>
            <a:r>
              <a:rPr lang="es-ES" sz="2200" b="1" dirty="0"/>
              <a:t>   Trading</a:t>
            </a:r>
          </a:p>
          <a:p>
            <a:pPr lvl="1"/>
            <a:r>
              <a:rPr lang="es-ES" sz="2200" b="1" dirty="0">
                <a:solidFill>
                  <a:schemeClr val="bg1">
                    <a:lumMod val="65000"/>
                  </a:schemeClr>
                </a:solidFill>
              </a:rPr>
              <a:t>   </a:t>
            </a:r>
            <a:r>
              <a:rPr lang="es-ES" sz="2200" b="1" dirty="0" err="1">
                <a:solidFill>
                  <a:schemeClr val="bg1">
                    <a:lumMod val="65000"/>
                  </a:schemeClr>
                </a:solidFill>
              </a:rPr>
              <a:t>Liquidity</a:t>
            </a:r>
            <a:r>
              <a:rPr lang="es-ES" sz="2200" b="1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s-ES" sz="2200" b="1" dirty="0" err="1">
                <a:solidFill>
                  <a:schemeClr val="bg1">
                    <a:lumMod val="65000"/>
                  </a:schemeClr>
                </a:solidFill>
              </a:rPr>
              <a:t>providers</a:t>
            </a:r>
            <a:endParaRPr lang="es-ES" sz="2200" b="1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lang="es-ES" sz="2400" b="1" dirty="0" err="1">
                <a:solidFill>
                  <a:schemeClr val="bg1">
                    <a:lumMod val="65000"/>
                  </a:schemeClr>
                </a:solidFill>
              </a:rPr>
              <a:t>Uniswap</a:t>
            </a:r>
            <a:endParaRPr lang="es-ES" sz="2400" b="1" dirty="0">
              <a:solidFill>
                <a:schemeClr val="bg1">
                  <a:lumMod val="65000"/>
                </a:schemeClr>
              </a:solidFill>
            </a:endParaRPr>
          </a:p>
          <a:p>
            <a:pPr lvl="1"/>
            <a:r>
              <a:rPr lang="es-ES" sz="2200" b="1" dirty="0">
                <a:solidFill>
                  <a:schemeClr val="bg1">
                    <a:lumMod val="65000"/>
                  </a:schemeClr>
                </a:solidFill>
              </a:rPr>
              <a:t>   </a:t>
            </a:r>
            <a:r>
              <a:rPr lang="es-ES" sz="2200" b="1" dirty="0" err="1">
                <a:solidFill>
                  <a:schemeClr val="bg1">
                    <a:lumMod val="65000"/>
                  </a:schemeClr>
                </a:solidFill>
              </a:rPr>
              <a:t>Slippage</a:t>
            </a:r>
            <a:endParaRPr lang="es-ES" sz="2200" b="1" dirty="0">
              <a:solidFill>
                <a:schemeClr val="bg1">
                  <a:lumMod val="65000"/>
                </a:schemeClr>
              </a:solidFill>
            </a:endParaRPr>
          </a:p>
          <a:p>
            <a:pPr lvl="1"/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  </a:t>
            </a:r>
            <a:r>
              <a:rPr lang="es-ES" sz="2200" dirty="0" err="1">
                <a:solidFill>
                  <a:schemeClr val="bg1">
                    <a:lumMod val="65000"/>
                  </a:schemeClr>
                </a:solidFill>
              </a:rPr>
              <a:t>Impermanent</a:t>
            </a:r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s-ES" sz="2200" dirty="0" err="1">
                <a:solidFill>
                  <a:schemeClr val="bg1">
                    <a:lumMod val="65000"/>
                  </a:schemeClr>
                </a:solidFill>
              </a:rPr>
              <a:t>Loss</a:t>
            </a:r>
            <a:endParaRPr lang="es-ES" sz="2200" dirty="0">
              <a:solidFill>
                <a:schemeClr val="bg1">
                  <a:lumMod val="65000"/>
                </a:schemeClr>
              </a:solidFill>
            </a:endParaRPr>
          </a:p>
          <a:p>
            <a:pPr lvl="1"/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  </a:t>
            </a:r>
            <a:r>
              <a:rPr lang="es-ES" sz="2200" dirty="0" err="1">
                <a:solidFill>
                  <a:schemeClr val="bg1">
                    <a:lumMod val="65000"/>
                  </a:schemeClr>
                </a:solidFill>
              </a:rPr>
              <a:t>Sandwich</a:t>
            </a:r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s-ES" sz="2200" dirty="0" err="1">
                <a:solidFill>
                  <a:schemeClr val="bg1">
                    <a:lumMod val="65000"/>
                  </a:schemeClr>
                </a:solidFill>
              </a:rPr>
              <a:t>Attack</a:t>
            </a:r>
            <a:endParaRPr lang="es-ES" sz="2200" dirty="0">
              <a:solidFill>
                <a:schemeClr val="bg1">
                  <a:lumMod val="65000"/>
                </a:schemeClr>
              </a:solidFill>
            </a:endParaRPr>
          </a:p>
          <a:p>
            <a:pPr lvl="1"/>
            <a:endParaRPr lang="es-ES" sz="2200" b="1" dirty="0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165977A3-DF76-B6E5-72FD-F910916C0E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7643" y="499208"/>
            <a:ext cx="9950103" cy="710160"/>
          </a:xfrm>
        </p:spPr>
        <p:txBody>
          <a:bodyPr anchor="t">
            <a:noAutofit/>
          </a:bodyPr>
          <a:lstStyle/>
          <a:p>
            <a:r>
              <a:rPr lang="en-US" sz="4000" dirty="0"/>
              <a:t>Automated Market Makers</a:t>
            </a:r>
            <a:endParaRPr lang="es-ES" sz="4000" dirty="0"/>
          </a:p>
        </p:txBody>
      </p:sp>
    </p:spTree>
    <p:extLst>
      <p:ext uri="{BB962C8B-B14F-4D97-AF65-F5344CB8AC3E}">
        <p14:creationId xmlns:p14="http://schemas.microsoft.com/office/powerpoint/2010/main" val="18981516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1EC71-037A-DA35-ABD6-B25229033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C4D225-FACC-FCC2-3EFD-16ABB4E0FB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361" y="410718"/>
            <a:ext cx="9950103" cy="710160"/>
          </a:xfrm>
        </p:spPr>
        <p:txBody>
          <a:bodyPr anchor="t"/>
          <a:lstStyle/>
          <a:p>
            <a:r>
              <a:rPr lang="es-ES" dirty="0" err="1"/>
              <a:t>Constant</a:t>
            </a:r>
            <a:r>
              <a:rPr lang="es-ES" dirty="0"/>
              <a:t> </a:t>
            </a:r>
            <a:r>
              <a:rPr lang="es-ES" dirty="0" err="1"/>
              <a:t>Product</a:t>
            </a:r>
            <a:r>
              <a:rPr lang="es-ES" dirty="0"/>
              <a:t> </a:t>
            </a:r>
            <a:r>
              <a:rPr lang="es-ES" dirty="0" err="1"/>
              <a:t>Market</a:t>
            </a:r>
            <a:r>
              <a:rPr lang="es-ES" dirty="0"/>
              <a:t> </a:t>
            </a:r>
            <a:r>
              <a:rPr lang="es-ES" dirty="0" err="1"/>
              <a:t>Maker</a:t>
            </a:r>
            <a:r>
              <a:rPr lang="es-ES" dirty="0"/>
              <a:t> </a:t>
            </a:r>
            <a:r>
              <a:rPr lang="es-ES" dirty="0" err="1"/>
              <a:t>Model</a:t>
            </a:r>
            <a:endParaRPr lang="es-E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73C0C724-23CC-F76F-C52D-10DE5E5DDD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77361" y="958646"/>
                <a:ext cx="9950103" cy="5250425"/>
              </a:xfrm>
            </p:spPr>
            <p:txBody>
              <a:bodyPr>
                <a:normAutofit/>
              </a:bodyPr>
              <a:lstStyle/>
              <a:p>
                <a:r>
                  <a:rPr lang="es-ES" sz="2600" b="1" dirty="0"/>
                  <a:t>Trading de tokens</a:t>
                </a:r>
              </a:p>
              <a:p>
                <a:pPr marL="0" indent="0">
                  <a:buNone/>
                </a:pPr>
                <a:r>
                  <a:rPr lang="es-ES" sz="2600" noProof="0" dirty="0"/>
                  <a:t>El usuario va a invocar a </a:t>
                </a:r>
                <a14:m>
                  <m:oMath xmlns:m="http://schemas.openxmlformats.org/officeDocument/2006/math"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𝒆𝒕𝒉𝑻𝒐𝑻𝒐𝒌𝒆𝒏</m:t>
                    </m:r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l-GR" sz="2600" b="1" i="1">
                        <a:latin typeface="Cambria Math" panose="02040503050406030204" pitchFamily="18" charset="0"/>
                      </a:rPr>
                      <m:t>𝜟</m:t>
                    </m:r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𝒆</m:t>
                    </m:r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s-ES" sz="2600" noProof="0" dirty="0"/>
                  <a:t> para enviarle </a:t>
                </a:r>
                <a:r>
                  <a:rPr lang="es-ES" sz="2600" b="1" noProof="0" dirty="0"/>
                  <a:t>ETH</a:t>
                </a:r>
                <a:r>
                  <a:rPr lang="es-ES" sz="2600" noProof="0" dirty="0"/>
                  <a:t> al contrato y obtener una cantidad de </a:t>
                </a:r>
                <a:r>
                  <a:rPr lang="es-ES" sz="2600" b="1" noProof="0" dirty="0"/>
                  <a:t>exchange tokens</a:t>
                </a:r>
                <a:r>
                  <a:rPr lang="es-ES" sz="2600" noProof="0" dirty="0"/>
                  <a:t> calculada automáticamente por la función </a:t>
                </a:r>
                <a14:m>
                  <m:oMath xmlns:m="http://schemas.openxmlformats.org/officeDocument/2006/math">
                    <m:r>
                      <a:rPr lang="es-ES" sz="2600" b="1" i="1">
                        <a:latin typeface="Cambria Math" panose="02040503050406030204" pitchFamily="18" charset="0"/>
                      </a:rPr>
                      <m:t>𝒈𝒆𝒕𝑰𝒏𝒑𝒖𝒕𝑷𝒓𝒊𝒄𝒆</m:t>
                    </m:r>
                    <m:r>
                      <a:rPr lang="en-US" sz="2600" b="1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l-GR" sz="2600" b="1" i="1">
                        <a:latin typeface="Cambria Math" panose="02040503050406030204" pitchFamily="18" charset="0"/>
                      </a:rPr>
                      <m:t>𝜟</m:t>
                    </m:r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𝒆</m:t>
                    </m:r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𝒆</m:t>
                    </m:r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sz="2600" b="1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s-ES" sz="2600" noProof="0" dirty="0"/>
                  <a:t>.</a:t>
                </a:r>
                <a:endParaRPr lang="es-ES" sz="2600" b="1" noProof="0" dirty="0"/>
              </a:p>
              <a:p>
                <a:pPr marL="0" indent="0">
                  <a:buNone/>
                </a:pPr>
                <a:endParaRPr lang="es-ES" sz="2600" noProof="0" dirty="0"/>
              </a:p>
              <a:p>
                <a:pPr marL="0" indent="0">
                  <a:buNone/>
                </a:pPr>
                <a:endParaRPr lang="es-ES" sz="2600" b="1" noProof="0" dirty="0"/>
              </a:p>
            </p:txBody>
          </p:sp>
        </mc:Choice>
        <mc:Fallback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73C0C724-23CC-F76F-C52D-10DE5E5DDD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77361" y="958646"/>
                <a:ext cx="9950103" cy="5250425"/>
              </a:xfrm>
              <a:blipFill>
                <a:blip r:embed="rId2"/>
                <a:stretch>
                  <a:fillRect l="-1103" t="-348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n 4">
            <a:extLst>
              <a:ext uri="{FF2B5EF4-FFF2-40B4-BE49-F238E27FC236}">
                <a16:creationId xmlns:a16="http://schemas.microsoft.com/office/drawing/2014/main" id="{191438AE-8D63-6C0E-22D9-0BD3DEB26A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2064" y="3315445"/>
            <a:ext cx="9527872" cy="3380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85413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C7528-B9AD-396D-272C-6BD140A51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50A610-8F0B-4CD5-EB8E-DA82F0B32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361" y="410718"/>
            <a:ext cx="9950103" cy="710160"/>
          </a:xfrm>
        </p:spPr>
        <p:txBody>
          <a:bodyPr anchor="t"/>
          <a:lstStyle/>
          <a:p>
            <a:r>
              <a:rPr lang="es-ES"/>
              <a:t>Constant Product Market Maker Model</a:t>
            </a:r>
            <a:endParaRPr lang="es-E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03CC9931-D4A2-8BC0-4273-F9AD841F47E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77361" y="958646"/>
                <a:ext cx="9950103" cy="5250425"/>
              </a:xfrm>
            </p:spPr>
            <p:txBody>
              <a:bodyPr>
                <a:normAutofit/>
              </a:bodyPr>
              <a:lstStyle/>
              <a:p>
                <a:r>
                  <a:rPr lang="es-ES" sz="2600" b="1" dirty="0"/>
                  <a:t>Trading de tokens</a:t>
                </a:r>
              </a:p>
              <a:p>
                <a:pPr marL="0" indent="0">
                  <a:buNone/>
                </a:pPr>
                <a:r>
                  <a:rPr lang="es-ES" sz="2600" noProof="0" dirty="0"/>
                  <a:t>Con </a:t>
                </a:r>
                <a14:m>
                  <m:oMath xmlns:m="http://schemas.openxmlformats.org/officeDocument/2006/math"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𝒕𝒐𝒌𝒆𝒏𝑻𝒐𝑬𝒕𝒉</m:t>
                    </m:r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l-GR" sz="2600" b="1" i="1">
                        <a:latin typeface="Cambria Math" panose="02040503050406030204" pitchFamily="18" charset="0"/>
                      </a:rPr>
                      <m:t>𝜟</m:t>
                    </m:r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s-ES" sz="2600" noProof="0" dirty="0"/>
                  <a:t> </a:t>
                </a:r>
                <a:r>
                  <a:rPr lang="es-ES" sz="2600" dirty="0"/>
                  <a:t>puede intercambiar </a:t>
                </a:r>
                <a:r>
                  <a:rPr lang="es-ES" sz="2600" b="1" noProof="0" dirty="0"/>
                  <a:t>exchange tokens</a:t>
                </a:r>
                <a:r>
                  <a:rPr lang="es-ES" sz="2600" noProof="0" dirty="0"/>
                  <a:t> con el contrato y obtener </a:t>
                </a:r>
                <a:r>
                  <a:rPr lang="es-ES" sz="2600" b="1" noProof="0" dirty="0"/>
                  <a:t>ETH</a:t>
                </a:r>
                <a:r>
                  <a:rPr lang="es-ES" sz="2600" noProof="0" dirty="0"/>
                  <a:t> de la misma manera</a:t>
                </a:r>
                <a:r>
                  <a:rPr lang="en-US" sz="2600" noProof="0" dirty="0"/>
                  <a:t>.</a:t>
                </a:r>
                <a:endParaRPr lang="es-ES" sz="2600" b="1" noProof="0" dirty="0"/>
              </a:p>
              <a:p>
                <a:pPr marL="0" indent="0">
                  <a:buNone/>
                </a:pPr>
                <a:endParaRPr lang="es-ES" sz="2600" noProof="0" dirty="0"/>
              </a:p>
              <a:p>
                <a:pPr marL="0" indent="0">
                  <a:buNone/>
                </a:pPr>
                <a:endParaRPr lang="es-ES" sz="2600" b="1" noProof="0" dirty="0"/>
              </a:p>
            </p:txBody>
          </p:sp>
        </mc:Choice>
        <mc:Fallback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03CC9931-D4A2-8BC0-4273-F9AD841F47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77361" y="958646"/>
                <a:ext cx="9950103" cy="5250425"/>
              </a:xfrm>
              <a:blipFill>
                <a:blip r:embed="rId2"/>
                <a:stretch>
                  <a:fillRect l="-1103" t="-348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n 7">
            <a:extLst>
              <a:ext uri="{FF2B5EF4-FFF2-40B4-BE49-F238E27FC236}">
                <a16:creationId xmlns:a16="http://schemas.microsoft.com/office/drawing/2014/main" id="{C3B233B2-70A6-58AA-7703-DEAD72BCC8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352" y="3074909"/>
            <a:ext cx="9812119" cy="3134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66723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EAD553-DC13-565F-A792-5187285A2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3C1063-45F8-3024-D9A3-D97103C27F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361" y="410718"/>
            <a:ext cx="9950103" cy="710160"/>
          </a:xfrm>
        </p:spPr>
        <p:txBody>
          <a:bodyPr anchor="t"/>
          <a:lstStyle/>
          <a:p>
            <a:r>
              <a:rPr lang="es-ES"/>
              <a:t>Constant Product Market Maker Model</a:t>
            </a:r>
            <a:endParaRPr lang="es-E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7223475F-96F0-55F8-7389-3ABAC0B5657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77361" y="958646"/>
                <a:ext cx="9950103" cy="5250425"/>
              </a:xfrm>
            </p:spPr>
            <p:txBody>
              <a:bodyPr>
                <a:normAutofit/>
              </a:bodyPr>
              <a:lstStyle/>
              <a:p>
                <a:r>
                  <a:rPr lang="es-ES" sz="2600" b="1" dirty="0"/>
                  <a:t>Ejemplo de swap (sin comisión</a:t>
                </a:r>
                <a:r>
                  <a:rPr lang="en-US" sz="2600" b="1" dirty="0"/>
                  <a:t>)</a:t>
                </a:r>
                <a:endParaRPr lang="es-ES" sz="2600" b="1" dirty="0"/>
              </a:p>
              <a:p>
                <a:pPr marL="0" indent="0">
                  <a:buNone/>
                </a:pPr>
                <a:r>
                  <a:rPr lang="es-ES" sz="2600" noProof="0" dirty="0"/>
                  <a:t>Estado de la pool de liquidez: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𝟏𝟎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𝑬𝑻𝑯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,           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𝟏</m:t>
                    </m:r>
                    <m:sSup>
                      <m:sSupPr>
                        <m:ctrlPr>
                          <a:rPr lang="en-US" sz="2600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b="1" i="1" smtClean="0">
                            <a:latin typeface="Cambria Math" panose="02040503050406030204" pitchFamily="18" charset="0"/>
                          </a:rPr>
                          <m:t>𝟎</m:t>
                        </m:r>
                      </m:e>
                      <m:sup>
                        <m:r>
                          <a:rPr lang="en-US" sz="2600" b="1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𝟎𝟎𝟎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𝑫𝑨𝑰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,           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𝟏𝟎𝟎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𝟎𝟎𝟎</m:t>
                    </m:r>
                  </m:oMath>
                </a14:m>
                <a:r>
                  <a:rPr lang="es-ES" sz="2600" noProof="0" dirty="0"/>
                  <a:t>.</a:t>
                </a:r>
              </a:p>
              <a:p>
                <a:pPr marL="0" indent="0">
                  <a:buNone/>
                </a:pPr>
                <a:r>
                  <a:rPr lang="es-ES" sz="2600" dirty="0"/>
                  <a:t>Un </a:t>
                </a:r>
                <a:r>
                  <a:rPr lang="es-ES" sz="2600" dirty="0" err="1"/>
                  <a:t>trader</a:t>
                </a:r>
                <a:r>
                  <a:rPr lang="es-ES" sz="2600" dirty="0"/>
                  <a:t> ejecuta </a:t>
                </a:r>
                <a14:m>
                  <m:oMath xmlns:m="http://schemas.openxmlformats.org/officeDocument/2006/math"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𝒆𝒕𝒉𝑻𝒐𝑻𝒐𝒌𝒆𝒏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s-ES" sz="2600" noProof="0" dirty="0"/>
                  <a:t>, agregando a la pool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600" b="1" i="1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s-ES" sz="260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600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600" b="1" i="1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600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600" b="1" i="1">
                        <a:latin typeface="Cambria Math" panose="02040503050406030204" pitchFamily="18" charset="0"/>
                      </a:rPr>
                      <m:t>𝑬𝑻𝑯</m:t>
                    </m:r>
                  </m:oMath>
                </a14:m>
                <a:r>
                  <a:rPr lang="es-ES" sz="2600" noProof="0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6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6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US" sz="2600" b="1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6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600" b="1" i="1" smtClean="0">
                          <a:latin typeface="Cambria Math" panose="02040503050406030204" pitchFamily="18" charset="0"/>
                        </a:rPr>
                        <m:t>𝟏𝟏</m:t>
                      </m:r>
                      <m:r>
                        <a:rPr lang="en-US" sz="26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600" b="1" i="1" smtClean="0">
                          <a:latin typeface="Cambria Math" panose="02040503050406030204" pitchFamily="18" charset="0"/>
                        </a:rPr>
                        <m:t>𝑬𝑻𝑯</m:t>
                      </m:r>
                      <m:r>
                        <a:rPr lang="en-US" sz="2600" b="1" i="1" smtClean="0">
                          <a:latin typeface="Cambria Math" panose="02040503050406030204" pitchFamily="18" charset="0"/>
                        </a:rPr>
                        <m:t>             </m:t>
                      </m:r>
                      <m:sSup>
                        <m:sSupPr>
                          <m:ctrlPr>
                            <a:rPr lang="en-US" sz="26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600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p>
                          <m:r>
                            <a:rPr lang="en-US" sz="2600" b="1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600" b="1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6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600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num>
                        <m:den>
                          <m:sSup>
                            <m:sSupPr>
                              <m:ctrlPr>
                                <a:rPr lang="en-US" sz="26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600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p>
                              <m:r>
                                <a:rPr lang="en-US" sz="2600" b="1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den>
                      </m:f>
                      <m:r>
                        <a:rPr lang="en-US" sz="26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6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600" b="1" i="1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600" b="1" i="1" smtClean="0">
                              <a:latin typeface="Cambria Math" panose="02040503050406030204" pitchFamily="18" charset="0"/>
                            </a:rPr>
                            <m:t>𝟎𝟎</m:t>
                          </m:r>
                          <m:r>
                            <a:rPr lang="en-US" sz="2600" b="1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  <m:r>
                            <a:rPr lang="en-US" sz="2600" b="1" i="1" smtClean="0">
                              <a:latin typeface="Cambria Math" panose="02040503050406030204" pitchFamily="18" charset="0"/>
                            </a:rPr>
                            <m:t>𝟎𝟎𝟎</m:t>
                          </m:r>
                        </m:num>
                        <m:den>
                          <m:r>
                            <a:rPr lang="en-US" sz="2600" b="1" i="1" smtClean="0">
                              <a:latin typeface="Cambria Math" panose="02040503050406030204" pitchFamily="18" charset="0"/>
                            </a:rPr>
                            <m:t>𝟏𝟏</m:t>
                          </m:r>
                        </m:den>
                      </m:f>
                      <m:r>
                        <a:rPr lang="en-US" sz="26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600" b="1" i="1" smtClean="0">
                          <a:latin typeface="Cambria Math" panose="02040503050406030204" pitchFamily="18" charset="0"/>
                        </a:rPr>
                        <m:t>𝟗𝟎𝟗𝟎</m:t>
                      </m:r>
                      <m:r>
                        <a:rPr lang="en-US" sz="26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600" b="1" i="1" smtClean="0">
                          <a:latin typeface="Cambria Math" panose="02040503050406030204" pitchFamily="18" charset="0"/>
                        </a:rPr>
                        <m:t>𝟗𝟏</m:t>
                      </m:r>
                      <m:r>
                        <a:rPr lang="en-US" sz="26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600" b="1" i="1" smtClean="0">
                          <a:latin typeface="Cambria Math" panose="02040503050406030204" pitchFamily="18" charset="0"/>
                        </a:rPr>
                        <m:t>𝑫𝑨𝑰</m:t>
                      </m:r>
                    </m:oMath>
                  </m:oMathPara>
                </a14:m>
                <a:endParaRPr lang="es-ES" sz="2600" noProof="0" dirty="0"/>
              </a:p>
              <a:p>
                <a:pPr marL="0" indent="0">
                  <a:buNone/>
                </a:pPr>
                <a:r>
                  <a:rPr lang="es-ES" sz="2600" dirty="0"/>
                  <a:t>Si 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6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p>
                        <m:r>
                          <a:rPr lang="en-US" sz="2600" b="1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l-GR" sz="2600" b="1" i="1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sz="2600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s-ES" sz="2600" dirty="0"/>
                  <a:t> despejamos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600" b="1" i="1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s-ES" sz="2600" noProof="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600" b="1" i="1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2600" b="1" i="1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sz="2600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6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sz="2600" b="1" i="1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6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600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p>
                          <m:r>
                            <a:rPr lang="en-US" sz="2600" b="1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6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600" b="1" i="1" smtClean="0">
                          <a:latin typeface="Cambria Math" panose="02040503050406030204" pitchFamily="18" charset="0"/>
                        </a:rPr>
                        <m:t>𝟏</m:t>
                      </m:r>
                      <m:sSup>
                        <m:sSupPr>
                          <m:ctrlPr>
                            <a:rPr lang="en-US" sz="26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600" b="1" i="1" smtClean="0">
                              <a:latin typeface="Cambria Math" panose="02040503050406030204" pitchFamily="18" charset="0"/>
                            </a:rPr>
                            <m:t>𝟎</m:t>
                          </m:r>
                        </m:e>
                        <m:sup>
                          <m:r>
                            <a:rPr lang="en-US" sz="2600" b="1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600" b="1" i="1" smtClean="0">
                          <a:latin typeface="Cambria Math" panose="02040503050406030204" pitchFamily="18" charset="0"/>
                        </a:rPr>
                        <m:t>𝟎𝟎𝟎</m:t>
                      </m:r>
                      <m:r>
                        <a:rPr lang="en-US" sz="2600" b="1" i="1" smtClean="0"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sz="2600" b="1" i="1" smtClean="0">
                          <a:latin typeface="Cambria Math" panose="02040503050406030204" pitchFamily="18" charset="0"/>
                        </a:rPr>
                        <m:t>𝟗𝟎𝟗𝟎</m:t>
                      </m:r>
                      <m:r>
                        <a:rPr lang="en-US" sz="26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600" b="1" i="1" smtClean="0">
                          <a:latin typeface="Cambria Math" panose="02040503050406030204" pitchFamily="18" charset="0"/>
                        </a:rPr>
                        <m:t>𝟗𝟏</m:t>
                      </m:r>
                      <m:r>
                        <a:rPr lang="en-US" sz="26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600" b="1" i="1" smtClean="0">
                          <a:latin typeface="Cambria Math" panose="02040503050406030204" pitchFamily="18" charset="0"/>
                        </a:rPr>
                        <m:t>𝟗𝟎𝟗</m:t>
                      </m:r>
                      <m:r>
                        <a:rPr lang="en-US" sz="26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600" b="1" i="1" smtClean="0">
                          <a:latin typeface="Cambria Math" panose="02040503050406030204" pitchFamily="18" charset="0"/>
                        </a:rPr>
                        <m:t>𝟎𝟗</m:t>
                      </m:r>
                      <m:r>
                        <a:rPr lang="en-US" sz="26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600" b="1" i="1" smtClean="0">
                          <a:latin typeface="Cambria Math" panose="02040503050406030204" pitchFamily="18" charset="0"/>
                        </a:rPr>
                        <m:t>𝑫𝑨𝑰</m:t>
                      </m:r>
                    </m:oMath>
                  </m:oMathPara>
                </a14:m>
                <a:endParaRPr lang="es-ES" sz="2600" noProof="0" dirty="0"/>
              </a:p>
              <a:p>
                <a:pPr marL="0" indent="0">
                  <a:buNone/>
                </a:pPr>
                <a:endParaRPr lang="es-ES" sz="2600" b="1" noProof="0" dirty="0"/>
              </a:p>
            </p:txBody>
          </p:sp>
        </mc:Choice>
        <mc:Fallback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7223475F-96F0-55F8-7389-3ABAC0B5657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77361" y="958646"/>
                <a:ext cx="9950103" cy="5250425"/>
              </a:xfrm>
              <a:blipFill>
                <a:blip r:embed="rId2"/>
                <a:stretch>
                  <a:fillRect l="-1103" t="-348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310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CFB7EF-5257-6EDB-97F2-69F1044CF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3B41F90-B52A-016C-0EA3-2EB90B3059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7644" y="1426663"/>
            <a:ext cx="9950103" cy="5094361"/>
          </a:xfrm>
        </p:spPr>
        <p:txBody>
          <a:bodyPr>
            <a:normAutofit lnSpcReduction="10000"/>
          </a:bodyPr>
          <a:lstStyle/>
          <a:p>
            <a:r>
              <a:rPr lang="en-US" sz="2400" b="1" dirty="0" err="1">
                <a:solidFill>
                  <a:schemeClr val="bg1">
                    <a:lumMod val="65000"/>
                  </a:schemeClr>
                </a:solidFill>
              </a:rPr>
              <a:t>Tipos</a:t>
            </a:r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 de Exchanges</a:t>
            </a:r>
          </a:p>
          <a:p>
            <a:pPr lvl="1"/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  </a:t>
            </a:r>
            <a:r>
              <a:rPr lang="es-ES" sz="2200" dirty="0" err="1">
                <a:solidFill>
                  <a:schemeClr val="bg1">
                    <a:lumMod val="65000"/>
                  </a:schemeClr>
                </a:solidFill>
              </a:rPr>
              <a:t>Exchanges</a:t>
            </a:r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centralizados: </a:t>
            </a:r>
            <a:r>
              <a:rPr lang="es-ES" sz="2200" dirty="0" err="1">
                <a:solidFill>
                  <a:schemeClr val="bg1">
                    <a:lumMod val="65000"/>
                  </a:schemeClr>
                </a:solidFill>
              </a:rPr>
              <a:t>Order</a:t>
            </a:r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Book</a:t>
            </a:r>
          </a:p>
          <a:p>
            <a:pPr lvl="1"/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  P2P</a:t>
            </a:r>
          </a:p>
          <a:p>
            <a:pPr lvl="1"/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  </a:t>
            </a:r>
            <a:r>
              <a:rPr lang="es-ES" sz="2200" dirty="0" err="1">
                <a:solidFill>
                  <a:schemeClr val="bg1">
                    <a:lumMod val="65000"/>
                  </a:schemeClr>
                </a:solidFill>
              </a:rPr>
              <a:t>Automated</a:t>
            </a:r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s-ES" sz="2200" dirty="0" err="1">
                <a:solidFill>
                  <a:schemeClr val="bg1">
                    <a:lumMod val="65000"/>
                  </a:schemeClr>
                </a:solidFill>
              </a:rPr>
              <a:t>Market</a:t>
            </a:r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s-ES" sz="2200" dirty="0" err="1">
                <a:solidFill>
                  <a:schemeClr val="bg1">
                    <a:lumMod val="65000"/>
                  </a:schemeClr>
                </a:solidFill>
              </a:rPr>
              <a:t>Makers</a:t>
            </a:r>
            <a:endParaRPr lang="es-ES" sz="2200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lang="es-ES" sz="2400" b="1" dirty="0" err="1"/>
              <a:t>Constant</a:t>
            </a:r>
            <a:r>
              <a:rPr lang="es-ES" sz="2400" b="1" dirty="0"/>
              <a:t> </a:t>
            </a:r>
            <a:r>
              <a:rPr lang="es-ES" sz="2400" b="1" dirty="0" err="1"/>
              <a:t>Product</a:t>
            </a:r>
            <a:r>
              <a:rPr lang="es-ES" sz="2400" b="1" dirty="0"/>
              <a:t> </a:t>
            </a:r>
            <a:r>
              <a:rPr lang="es-ES" sz="2400" b="1" dirty="0" err="1"/>
              <a:t>Market</a:t>
            </a:r>
            <a:r>
              <a:rPr lang="es-ES" sz="2400" b="1" dirty="0"/>
              <a:t> </a:t>
            </a:r>
            <a:r>
              <a:rPr lang="es-ES" sz="2400" b="1" dirty="0" err="1"/>
              <a:t>Maker</a:t>
            </a:r>
            <a:r>
              <a:rPr lang="es-ES" sz="2400" b="1" dirty="0"/>
              <a:t> </a:t>
            </a:r>
            <a:r>
              <a:rPr lang="es-ES" sz="2400" b="1" dirty="0" err="1"/>
              <a:t>Model</a:t>
            </a:r>
            <a:endParaRPr lang="es-ES" sz="2400" b="1" dirty="0"/>
          </a:p>
          <a:p>
            <a:pPr lvl="1"/>
            <a:r>
              <a:rPr lang="es-ES" sz="2200" b="1" dirty="0">
                <a:solidFill>
                  <a:schemeClr val="bg1">
                    <a:lumMod val="65000"/>
                  </a:schemeClr>
                </a:solidFill>
              </a:rPr>
              <a:t>   Trading</a:t>
            </a:r>
          </a:p>
          <a:p>
            <a:pPr lvl="1"/>
            <a:r>
              <a:rPr lang="es-ES" sz="2200" b="1" dirty="0">
                <a:solidFill>
                  <a:schemeClr val="bg1">
                    <a:lumMod val="65000"/>
                  </a:schemeClr>
                </a:solidFill>
              </a:rPr>
              <a:t>   </a:t>
            </a:r>
            <a:r>
              <a:rPr lang="es-ES" sz="2200" b="1" dirty="0" err="1"/>
              <a:t>Liquidity</a:t>
            </a:r>
            <a:r>
              <a:rPr lang="es-ES" sz="2200" b="1" dirty="0"/>
              <a:t> </a:t>
            </a:r>
            <a:r>
              <a:rPr lang="es-ES" sz="2200" b="1" dirty="0" err="1"/>
              <a:t>providers</a:t>
            </a:r>
            <a:endParaRPr lang="es-ES" sz="2200" b="1" dirty="0"/>
          </a:p>
          <a:p>
            <a:r>
              <a:rPr lang="es-ES" sz="2400" b="1" dirty="0" err="1">
                <a:solidFill>
                  <a:schemeClr val="bg1">
                    <a:lumMod val="65000"/>
                  </a:schemeClr>
                </a:solidFill>
              </a:rPr>
              <a:t>Uniswap</a:t>
            </a:r>
            <a:endParaRPr lang="es-ES" sz="2400" b="1" dirty="0">
              <a:solidFill>
                <a:schemeClr val="bg1">
                  <a:lumMod val="65000"/>
                </a:schemeClr>
              </a:solidFill>
            </a:endParaRPr>
          </a:p>
          <a:p>
            <a:pPr lvl="1"/>
            <a:r>
              <a:rPr lang="es-ES" sz="2200" b="1" dirty="0">
                <a:solidFill>
                  <a:schemeClr val="bg1">
                    <a:lumMod val="65000"/>
                  </a:schemeClr>
                </a:solidFill>
              </a:rPr>
              <a:t>   </a:t>
            </a:r>
            <a:r>
              <a:rPr lang="es-ES" sz="2200" b="1" dirty="0" err="1">
                <a:solidFill>
                  <a:schemeClr val="bg1">
                    <a:lumMod val="65000"/>
                  </a:schemeClr>
                </a:solidFill>
              </a:rPr>
              <a:t>Slippage</a:t>
            </a:r>
            <a:endParaRPr lang="es-ES" sz="2200" b="1" dirty="0">
              <a:solidFill>
                <a:schemeClr val="bg1">
                  <a:lumMod val="65000"/>
                </a:schemeClr>
              </a:solidFill>
            </a:endParaRPr>
          </a:p>
          <a:p>
            <a:pPr lvl="1"/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  </a:t>
            </a:r>
            <a:r>
              <a:rPr lang="es-ES" sz="2200" dirty="0" err="1">
                <a:solidFill>
                  <a:schemeClr val="bg1">
                    <a:lumMod val="65000"/>
                  </a:schemeClr>
                </a:solidFill>
              </a:rPr>
              <a:t>Impermanent</a:t>
            </a:r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s-ES" sz="2200" dirty="0" err="1">
                <a:solidFill>
                  <a:schemeClr val="bg1">
                    <a:lumMod val="65000"/>
                  </a:schemeClr>
                </a:solidFill>
              </a:rPr>
              <a:t>Loss</a:t>
            </a:r>
            <a:endParaRPr lang="es-ES" sz="2200" dirty="0">
              <a:solidFill>
                <a:schemeClr val="bg1">
                  <a:lumMod val="65000"/>
                </a:schemeClr>
              </a:solidFill>
            </a:endParaRPr>
          </a:p>
          <a:p>
            <a:pPr lvl="1"/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  </a:t>
            </a:r>
            <a:r>
              <a:rPr lang="es-ES" sz="2200" dirty="0" err="1">
                <a:solidFill>
                  <a:schemeClr val="bg1">
                    <a:lumMod val="65000"/>
                  </a:schemeClr>
                </a:solidFill>
              </a:rPr>
              <a:t>Sandwich</a:t>
            </a:r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s-ES" sz="2200" dirty="0" err="1">
                <a:solidFill>
                  <a:schemeClr val="bg1">
                    <a:lumMod val="65000"/>
                  </a:schemeClr>
                </a:solidFill>
              </a:rPr>
              <a:t>Attack</a:t>
            </a:r>
            <a:endParaRPr lang="es-ES" sz="2200" dirty="0">
              <a:solidFill>
                <a:schemeClr val="bg1">
                  <a:lumMod val="65000"/>
                </a:schemeClr>
              </a:solidFill>
            </a:endParaRPr>
          </a:p>
          <a:p>
            <a:pPr lvl="1"/>
            <a:endParaRPr lang="es-ES" sz="2200" b="1" dirty="0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E10D79E4-E206-CEE1-1848-81F8BF018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7643" y="499208"/>
            <a:ext cx="9950103" cy="710160"/>
          </a:xfrm>
        </p:spPr>
        <p:txBody>
          <a:bodyPr anchor="t">
            <a:noAutofit/>
          </a:bodyPr>
          <a:lstStyle/>
          <a:p>
            <a:r>
              <a:rPr lang="en-US" sz="4000" dirty="0"/>
              <a:t>Automated Market Makers</a:t>
            </a:r>
            <a:endParaRPr lang="es-ES" sz="4000" dirty="0"/>
          </a:p>
        </p:txBody>
      </p:sp>
    </p:spTree>
    <p:extLst>
      <p:ext uri="{BB962C8B-B14F-4D97-AF65-F5344CB8AC3E}">
        <p14:creationId xmlns:p14="http://schemas.microsoft.com/office/powerpoint/2010/main" val="6027930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310439-793B-0C1A-5790-BEC2AD98F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1AC4F38-8626-3953-8378-89950A32A9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361" y="410718"/>
            <a:ext cx="9950103" cy="710160"/>
          </a:xfrm>
        </p:spPr>
        <p:txBody>
          <a:bodyPr anchor="t"/>
          <a:lstStyle/>
          <a:p>
            <a:r>
              <a:rPr lang="es-ES" dirty="0" err="1"/>
              <a:t>Constant</a:t>
            </a:r>
            <a:r>
              <a:rPr lang="es-ES" dirty="0"/>
              <a:t> </a:t>
            </a:r>
            <a:r>
              <a:rPr lang="es-ES" dirty="0" err="1"/>
              <a:t>Product</a:t>
            </a:r>
            <a:r>
              <a:rPr lang="es-ES" dirty="0"/>
              <a:t> </a:t>
            </a:r>
            <a:r>
              <a:rPr lang="es-ES" dirty="0" err="1"/>
              <a:t>Market</a:t>
            </a:r>
            <a:r>
              <a:rPr lang="es-ES" dirty="0"/>
              <a:t> </a:t>
            </a:r>
            <a:r>
              <a:rPr lang="es-ES" dirty="0" err="1"/>
              <a:t>Maker</a:t>
            </a:r>
            <a:r>
              <a:rPr lang="es-ES" dirty="0"/>
              <a:t> </a:t>
            </a:r>
            <a:r>
              <a:rPr lang="es-ES" dirty="0" err="1"/>
              <a:t>Model</a:t>
            </a:r>
            <a:endParaRPr lang="es-E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3824E18F-9AC0-B35B-D14F-A42514FAC0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77360" y="1196857"/>
                <a:ext cx="9950103" cy="5250425"/>
              </a:xfrm>
            </p:spPr>
            <p:txBody>
              <a:bodyPr>
                <a:normAutofit/>
              </a:bodyPr>
              <a:lstStyle/>
              <a:p>
                <a:r>
                  <a:rPr lang="es-ES" sz="2600" b="1" dirty="0"/>
                  <a:t>Liquidity </a:t>
                </a:r>
                <a:r>
                  <a:rPr lang="es-ES" sz="2600" b="1" dirty="0" err="1"/>
                  <a:t>providers</a:t>
                </a:r>
                <a:endParaRPr lang="es-ES" sz="2600" b="1" dirty="0"/>
              </a:p>
              <a:p>
                <a:pPr marL="0" indent="0">
                  <a:buNone/>
                </a:pPr>
                <a:r>
                  <a:rPr lang="es-ES" sz="2600" dirty="0"/>
                  <a:t>En los </a:t>
                </a:r>
                <a:r>
                  <a:rPr lang="es-ES" sz="2600" b="1" dirty="0"/>
                  <a:t>CPMMM </a:t>
                </a:r>
                <a:r>
                  <a:rPr lang="es-ES" sz="2600" dirty="0"/>
                  <a:t>existe el rol de </a:t>
                </a:r>
                <a:r>
                  <a:rPr lang="es-ES" sz="2600" b="1" dirty="0" err="1"/>
                  <a:t>Liquidity</a:t>
                </a:r>
                <a:r>
                  <a:rPr lang="es-ES" sz="2600" b="1" dirty="0"/>
                  <a:t> </a:t>
                </a:r>
                <a:r>
                  <a:rPr lang="es-ES" sz="2600" b="1" dirty="0" err="1"/>
                  <a:t>Provider</a:t>
                </a:r>
                <a:r>
                  <a:rPr lang="es-ES" sz="2600" dirty="0"/>
                  <a:t>, un inversor que se dedica a prestarle tokens a la </a:t>
                </a:r>
                <a:r>
                  <a:rPr lang="es-ES" sz="2600" b="1" dirty="0" err="1"/>
                  <a:t>liquidity</a:t>
                </a:r>
                <a:r>
                  <a:rPr lang="es-ES" sz="2600" b="1" dirty="0"/>
                  <a:t> pool.</a:t>
                </a:r>
                <a:endParaRPr lang="es-ES" sz="2600" dirty="0"/>
              </a:p>
              <a:p>
                <a:pPr marL="0" indent="0">
                  <a:buNone/>
                </a:pPr>
                <a:r>
                  <a:rPr lang="es-ES" sz="2600" dirty="0"/>
                  <a:t>La </a:t>
                </a:r>
                <a:r>
                  <a:rPr lang="es-ES" sz="2600" b="1" dirty="0"/>
                  <a:t>fee</a:t>
                </a:r>
                <a:r>
                  <a:rPr lang="es-ES" sz="2600" dirty="0"/>
                  <a:t> </a:t>
                </a:r>
                <a14:m>
                  <m:oMath xmlns:m="http://schemas.openxmlformats.org/officeDocument/2006/math">
                    <m:r>
                      <a:rPr lang="el-GR" sz="2600" b="1" i="1">
                        <a:latin typeface="Cambria Math" panose="02040503050406030204" pitchFamily="18" charset="0"/>
                      </a:rPr>
                      <m:t>𝝆</m:t>
                    </m:r>
                  </m:oMath>
                </a14:m>
                <a:r>
                  <a:rPr lang="es-ES" sz="2600" dirty="0"/>
                  <a:t> sobre el token de entrada que se cobra en cada </a:t>
                </a:r>
                <a:r>
                  <a:rPr lang="es-ES" sz="2600" b="1" dirty="0"/>
                  <a:t>swap</a:t>
                </a:r>
                <a:r>
                  <a:rPr lang="es-ES" sz="2600" dirty="0"/>
                  <a:t> va destinada a las ganancias de los </a:t>
                </a:r>
                <a:r>
                  <a:rPr lang="es-ES" sz="2600" b="1" dirty="0"/>
                  <a:t>LP</a:t>
                </a:r>
                <a:r>
                  <a:rPr lang="es-ES" sz="2600" dirty="0"/>
                  <a:t>, que se reparten según el </a:t>
                </a:r>
                <a:r>
                  <a:rPr lang="es-ES" sz="2600" b="1" dirty="0"/>
                  <a:t>%</a:t>
                </a:r>
                <a:r>
                  <a:rPr lang="es-ES" sz="2600" dirty="0"/>
                  <a:t> de liquidez que cada uno tiene en la pool.</a:t>
                </a:r>
                <a:endParaRPr lang="es-ES" sz="2600" b="1" dirty="0"/>
              </a:p>
              <a:p>
                <a:pPr marL="0" indent="0">
                  <a:buNone/>
                </a:pPr>
                <a:r>
                  <a:rPr lang="es-ES" sz="2600" noProof="0" dirty="0"/>
                  <a:t>Para agregar liquidez, el inversor invoca a </a:t>
                </a:r>
                <a14:m>
                  <m:oMath xmlns:m="http://schemas.openxmlformats.org/officeDocument/2006/math"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𝒂𝒅𝒅𝑳𝒊𝒒𝒖𝒊𝒅𝒊𝒕𝒚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l-GR" sz="2600" b="1" i="1" smtClean="0">
                        <a:latin typeface="Cambria Math" panose="02040503050406030204" pitchFamily="18" charset="0"/>
                      </a:rPr>
                      <m:t>𝜟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𝒆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l-GR" sz="2600" b="1" i="1">
                        <a:latin typeface="Cambria Math" panose="02040503050406030204" pitchFamily="18" charset="0"/>
                      </a:rPr>
                      <m:t>𝜟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s-ES" sz="2600" noProof="0" dirty="0"/>
                  <a:t>, donde se va a actualizar el estado manteniendo la proporción</a:t>
                </a:r>
                <a:r>
                  <a:rPr lang="es-ES" sz="2600" dirty="0"/>
                  <a:t> entre </a:t>
                </a:r>
                <a14:m>
                  <m:oMath xmlns:m="http://schemas.openxmlformats.org/officeDocument/2006/math">
                    <m:r>
                      <a:rPr lang="en-US" sz="2600" b="1" i="1">
                        <a:latin typeface="Cambria Math" panose="02040503050406030204" pitchFamily="18" charset="0"/>
                      </a:rPr>
                      <m:t>𝒆</m:t>
                    </m:r>
                  </m:oMath>
                </a14:m>
                <a:r>
                  <a:rPr lang="es-ES" sz="2600" noProof="0" dirty="0"/>
                  <a:t> y </a:t>
                </a:r>
                <a14:m>
                  <m:oMath xmlns:m="http://schemas.openxmlformats.org/officeDocument/2006/math">
                    <m:r>
                      <a:rPr lang="en-US" sz="2600" b="1" i="1">
                        <a:latin typeface="Cambria Math" panose="02040503050406030204" pitchFamily="18" charset="0"/>
                      </a:rPr>
                      <m:t>𝒕</m:t>
                    </m:r>
                  </m:oMath>
                </a14:m>
                <a:r>
                  <a:rPr lang="es-ES" sz="2600" dirty="0"/>
                  <a:t> que haya actualmente en la pool.</a:t>
                </a:r>
                <a:endParaRPr lang="es-ES" sz="2600" noProof="0" dirty="0"/>
              </a:p>
              <a:p>
                <a:pPr marL="0" indent="0">
                  <a:buNone/>
                </a:pPr>
                <a:endParaRPr lang="es-ES" sz="2600" noProof="0" dirty="0"/>
              </a:p>
              <a:p>
                <a:pPr marL="0" indent="0">
                  <a:buNone/>
                </a:pPr>
                <a:endParaRPr lang="es-ES" sz="2600" b="1" noProof="0" dirty="0"/>
              </a:p>
            </p:txBody>
          </p:sp>
        </mc:Choice>
        <mc:Fallback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3824E18F-9AC0-B35B-D14F-A42514FAC0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77360" y="1196857"/>
                <a:ext cx="9950103" cy="5250425"/>
              </a:xfrm>
              <a:blipFill>
                <a:blip r:embed="rId2"/>
                <a:stretch>
                  <a:fillRect l="-1103" t="-348" r="-1532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649337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DEC1A-7ECD-5C56-079A-8BCE99B25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529A7F-4F07-488F-AB1B-F824FACD99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361" y="410718"/>
            <a:ext cx="9950103" cy="710160"/>
          </a:xfrm>
        </p:spPr>
        <p:txBody>
          <a:bodyPr anchor="t"/>
          <a:lstStyle/>
          <a:p>
            <a:r>
              <a:rPr lang="es-ES" dirty="0" err="1"/>
              <a:t>Constant</a:t>
            </a:r>
            <a:r>
              <a:rPr lang="es-ES" dirty="0"/>
              <a:t> </a:t>
            </a:r>
            <a:r>
              <a:rPr lang="es-ES" dirty="0" err="1"/>
              <a:t>Product</a:t>
            </a:r>
            <a:r>
              <a:rPr lang="es-ES" dirty="0"/>
              <a:t> </a:t>
            </a:r>
            <a:r>
              <a:rPr lang="es-ES" dirty="0" err="1"/>
              <a:t>Market</a:t>
            </a:r>
            <a:r>
              <a:rPr lang="es-ES" dirty="0"/>
              <a:t> </a:t>
            </a:r>
            <a:r>
              <a:rPr lang="es-ES" dirty="0" err="1"/>
              <a:t>Maker</a:t>
            </a:r>
            <a:r>
              <a:rPr lang="es-ES" dirty="0"/>
              <a:t> </a:t>
            </a:r>
            <a:r>
              <a:rPr lang="es-ES" dirty="0" err="1"/>
              <a:t>Model</a:t>
            </a:r>
            <a:endParaRPr lang="es-E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Marcador de contenido 2">
                <a:extLst>
                  <a:ext uri="{FF2B5EF4-FFF2-40B4-BE49-F238E27FC236}">
                    <a16:creationId xmlns:a16="http://schemas.microsoft.com/office/drawing/2014/main" id="{A1D4CE0E-7521-5026-9874-E8A5685D365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77360" y="1196857"/>
                <a:ext cx="9950103" cy="525042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274320" indent="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FontTx/>
                  <a:buNone/>
                  <a:defRPr sz="1600" b="1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54864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594360" indent="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FontTx/>
                  <a:buNone/>
                  <a:defRPr sz="1200" b="1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82296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2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s-ES" sz="2600" b="1" dirty="0"/>
                  <a:t>Liquidity </a:t>
                </a:r>
                <a:r>
                  <a:rPr lang="es-ES" sz="2600" b="1" dirty="0" err="1"/>
                  <a:t>providers</a:t>
                </a:r>
                <a:endParaRPr lang="es-ES" sz="2600" b="1" dirty="0"/>
              </a:p>
              <a:p>
                <a:pPr marL="0" indent="0">
                  <a:buNone/>
                </a:pPr>
                <a:r>
                  <a:rPr lang="es-ES" sz="2600" dirty="0"/>
                  <a:t>Se toma </a:t>
                </a:r>
                <a14:m>
                  <m:oMath xmlns:m="http://schemas.openxmlformats.org/officeDocument/2006/math">
                    <m:r>
                      <a:rPr lang="el-GR" sz="2600" b="1" i="1">
                        <a:latin typeface="Cambria Math" panose="02040503050406030204" pitchFamily="18" charset="0"/>
                      </a:rPr>
                      <m:t>𝜟</m:t>
                    </m:r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𝒆</m:t>
                    </m:r>
                  </m:oMath>
                </a14:m>
                <a:r>
                  <a:rPr lang="es-ES" sz="2600" dirty="0"/>
                  <a:t> como la cantidad de tokens </a:t>
                </a:r>
                <a:r>
                  <a:rPr lang="es-ES" sz="2600" b="1" dirty="0"/>
                  <a:t>ETH</a:t>
                </a:r>
                <a:r>
                  <a:rPr lang="es-ES" sz="2600" dirty="0"/>
                  <a:t> a agregar a la pool, y se calculan cuántos </a:t>
                </a:r>
                <a:r>
                  <a:rPr lang="es-ES" sz="2600" b="1" dirty="0"/>
                  <a:t>exchange tokens</a:t>
                </a:r>
                <a:r>
                  <a:rPr lang="es-ES" sz="2600" dirty="0"/>
                  <a:t> se deberían agregar según </a:t>
                </a:r>
                <a14:m>
                  <m:oMath xmlns:m="http://schemas.openxmlformats.org/officeDocument/2006/math">
                    <m:r>
                      <a:rPr lang="el-GR" sz="2600" b="1" i="1">
                        <a:latin typeface="Cambria Math" panose="02040503050406030204" pitchFamily="18" charset="0"/>
                      </a:rPr>
                      <m:t>𝜟</m:t>
                    </m:r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𝒆</m:t>
                    </m:r>
                  </m:oMath>
                </a14:m>
                <a:r>
                  <a:rPr lang="es-ES" sz="2600" dirty="0"/>
                  <a:t> para mantener el radio </a:t>
                </a:r>
                <a14:m>
                  <m:oMath xmlns:m="http://schemas.openxmlformats.org/officeDocument/2006/math">
                    <m:r>
                      <a:rPr lang="en-US" sz="2600" b="1" i="1">
                        <a:latin typeface="Cambria Math" panose="02040503050406030204" pitchFamily="18" charset="0"/>
                      </a:rPr>
                      <m:t>𝒆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600" b="1" i="1">
                        <a:latin typeface="Cambria Math" panose="02040503050406030204" pitchFamily="18" charset="0"/>
                      </a:rPr>
                      <m:t>𝒕</m:t>
                    </m:r>
                  </m:oMath>
                </a14:m>
                <a:r>
                  <a:rPr lang="es-ES" sz="2600" dirty="0"/>
                  <a:t> vigente, y si alcanza con los </a:t>
                </a:r>
                <a14:m>
                  <m:oMath xmlns:m="http://schemas.openxmlformats.org/officeDocument/2006/math">
                    <m:r>
                      <a:rPr lang="el-GR" sz="2600" b="1" i="1">
                        <a:latin typeface="Cambria Math" panose="02040503050406030204" pitchFamily="18" charset="0"/>
                      </a:rPr>
                      <m:t>𝜟</m:t>
                    </m:r>
                    <m:r>
                      <a:rPr lang="en-US" sz="2600" b="1" i="1">
                        <a:latin typeface="Cambria Math" panose="02040503050406030204" pitchFamily="18" charset="0"/>
                      </a:rPr>
                      <m:t>𝒕</m:t>
                    </m:r>
                  </m:oMath>
                </a14:m>
                <a:r>
                  <a:rPr lang="es-ES" sz="2600" b="1" dirty="0"/>
                  <a:t> exchange tokens</a:t>
                </a:r>
                <a:r>
                  <a:rPr lang="es-ES" sz="2600" dirty="0"/>
                  <a:t> que transferimos al contrato, se actualiza el estado:</a:t>
                </a:r>
                <a:endParaRPr lang="es-ES" sz="2600" b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s-ES" sz="26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s-ES" sz="2600" b="1" dirty="0"/>
              </a:p>
            </p:txBody>
          </p:sp>
        </mc:Choice>
        <mc:Fallback>
          <p:sp>
            <p:nvSpPr>
              <p:cNvPr id="4" name="Marcador de contenido 2">
                <a:extLst>
                  <a:ext uri="{FF2B5EF4-FFF2-40B4-BE49-F238E27FC236}">
                    <a16:creationId xmlns:a16="http://schemas.microsoft.com/office/drawing/2014/main" id="{A1D4CE0E-7521-5026-9874-E8A5685D36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360" y="1196857"/>
                <a:ext cx="9950103" cy="5250425"/>
              </a:xfrm>
              <a:prstGeom prst="rect">
                <a:avLst/>
              </a:prstGeom>
              <a:blipFill>
                <a:blip r:embed="rId3"/>
                <a:stretch>
                  <a:fillRect l="-1103" t="-348" r="-429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Imagen 8">
            <a:extLst>
              <a:ext uri="{FF2B5EF4-FFF2-40B4-BE49-F238E27FC236}">
                <a16:creationId xmlns:a16="http://schemas.microsoft.com/office/drawing/2014/main" id="{116AC5D7-B2FD-56B6-CF87-A88FDEA6E4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67225" y="4043082"/>
            <a:ext cx="5822434" cy="2814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65122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4A0BD-160C-F0A2-6085-D1CD30CA4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C391FA-706C-0FC6-F4B8-B218CD5555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361" y="410718"/>
            <a:ext cx="9950103" cy="710160"/>
          </a:xfrm>
        </p:spPr>
        <p:txBody>
          <a:bodyPr anchor="t"/>
          <a:lstStyle/>
          <a:p>
            <a:r>
              <a:rPr lang="es-ES" dirty="0" err="1"/>
              <a:t>Constant</a:t>
            </a:r>
            <a:r>
              <a:rPr lang="es-ES" dirty="0"/>
              <a:t> </a:t>
            </a:r>
            <a:r>
              <a:rPr lang="es-ES" dirty="0" err="1"/>
              <a:t>Product</a:t>
            </a:r>
            <a:r>
              <a:rPr lang="es-ES" dirty="0"/>
              <a:t> </a:t>
            </a:r>
            <a:r>
              <a:rPr lang="es-ES" dirty="0" err="1"/>
              <a:t>Market</a:t>
            </a:r>
            <a:r>
              <a:rPr lang="es-ES" dirty="0"/>
              <a:t> </a:t>
            </a:r>
            <a:r>
              <a:rPr lang="es-ES" dirty="0" err="1"/>
              <a:t>Maker</a:t>
            </a:r>
            <a:r>
              <a:rPr lang="es-ES" dirty="0"/>
              <a:t> </a:t>
            </a:r>
            <a:r>
              <a:rPr lang="es-ES" dirty="0" err="1"/>
              <a:t>Model</a:t>
            </a:r>
            <a:endParaRPr lang="es-E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Marcador de contenido 2">
                <a:extLst>
                  <a:ext uri="{FF2B5EF4-FFF2-40B4-BE49-F238E27FC236}">
                    <a16:creationId xmlns:a16="http://schemas.microsoft.com/office/drawing/2014/main" id="{B6640EF8-FF87-12A1-BC69-D297F395841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77360" y="1196857"/>
                <a:ext cx="9950103" cy="525042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274320" indent="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FontTx/>
                  <a:buNone/>
                  <a:defRPr sz="1600" b="1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54864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594360" indent="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FontTx/>
                  <a:buNone/>
                  <a:defRPr sz="1200" b="1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82296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2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s-ES" sz="2600" b="1" dirty="0"/>
                  <a:t>Liquidity </a:t>
                </a:r>
                <a:r>
                  <a:rPr lang="es-ES" sz="2600" b="1" dirty="0" err="1"/>
                  <a:t>providers</a:t>
                </a:r>
                <a:endParaRPr lang="es-ES" sz="2600" b="1" dirty="0"/>
              </a:p>
              <a:p>
                <a:pPr marL="0" indent="0">
                  <a:buNone/>
                </a:pPr>
                <a:r>
                  <a:rPr lang="es-ES" sz="2600" dirty="0"/>
                  <a:t>El </a:t>
                </a:r>
                <a:r>
                  <a:rPr lang="es-ES" sz="2600" b="1" dirty="0"/>
                  <a:t>LP </a:t>
                </a:r>
                <a:r>
                  <a:rPr lang="es-ES" sz="2600" dirty="0"/>
                  <a:t>puede quemar su porción de liquidez, invocando a </a:t>
                </a:r>
                <a14:m>
                  <m:oMath xmlns:m="http://schemas.openxmlformats.org/officeDocument/2006/math"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𝒓𝒆𝒎𝒐𝒗𝒆</m:t>
                    </m:r>
                    <m:r>
                      <a:rPr lang="en-US" sz="2600" b="1" i="1">
                        <a:latin typeface="Cambria Math" panose="02040503050406030204" pitchFamily="18" charset="0"/>
                      </a:rPr>
                      <m:t>𝑳𝒊𝒒𝒖𝒊𝒅𝒊𝒕𝒚</m:t>
                    </m:r>
                    <m:r>
                      <a:rPr lang="en-US" sz="2600" b="1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l-GR" sz="2600" b="1" i="1">
                        <a:latin typeface="Cambria Math" panose="02040503050406030204" pitchFamily="18" charset="0"/>
                      </a:rPr>
                      <m:t>𝜟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𝒍</m:t>
                    </m:r>
                    <m:r>
                      <a:rPr lang="en-US" sz="2600" b="1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s-ES" sz="2600" dirty="0"/>
                  <a:t>, donde se reembolsa una cantidad </a:t>
                </a:r>
                <a14:m>
                  <m:oMath xmlns:m="http://schemas.openxmlformats.org/officeDocument/2006/math">
                    <m:r>
                      <a:rPr lang="el-GR" sz="2600" b="1" i="1">
                        <a:latin typeface="Cambria Math" panose="02040503050406030204" pitchFamily="18" charset="0"/>
                      </a:rPr>
                      <m:t>𝜟</m:t>
                    </m:r>
                    <m:r>
                      <a:rPr lang="en-US" sz="2600" b="1" i="1">
                        <a:latin typeface="Cambria Math" panose="02040503050406030204" pitchFamily="18" charset="0"/>
                      </a:rPr>
                      <m:t>𝒍</m:t>
                    </m:r>
                  </m:oMath>
                </a14:m>
                <a:r>
                  <a:rPr lang="es-ES" sz="2600" dirty="0"/>
                  <a:t> de su inversión.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s-ES" sz="26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s-ES" sz="2600" b="1" dirty="0"/>
              </a:p>
            </p:txBody>
          </p:sp>
        </mc:Choice>
        <mc:Fallback>
          <p:sp>
            <p:nvSpPr>
              <p:cNvPr id="4" name="Marcador de contenido 2">
                <a:extLst>
                  <a:ext uri="{FF2B5EF4-FFF2-40B4-BE49-F238E27FC236}">
                    <a16:creationId xmlns:a16="http://schemas.microsoft.com/office/drawing/2014/main" id="{B6640EF8-FF87-12A1-BC69-D297F39584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360" y="1196857"/>
                <a:ext cx="9950103" cy="5250425"/>
              </a:xfrm>
              <a:prstGeom prst="rect">
                <a:avLst/>
              </a:prstGeom>
              <a:blipFill>
                <a:blip r:embed="rId3"/>
                <a:stretch>
                  <a:fillRect l="-1103" t="-348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Imagen 17">
            <a:extLst>
              <a:ext uri="{FF2B5EF4-FFF2-40B4-BE49-F238E27FC236}">
                <a16:creationId xmlns:a16="http://schemas.microsoft.com/office/drawing/2014/main" id="{209EE58D-D3B9-1083-3C06-70B18A49E7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0057" y="3285116"/>
            <a:ext cx="7484708" cy="3383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92893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B8762-7845-7D6A-BC87-04DF1B02D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7469AE6-4E42-549A-C102-B30E0664B4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7644" y="1426663"/>
            <a:ext cx="9950103" cy="5094361"/>
          </a:xfrm>
        </p:spPr>
        <p:txBody>
          <a:bodyPr>
            <a:normAutofit lnSpcReduction="10000"/>
          </a:bodyPr>
          <a:lstStyle/>
          <a:p>
            <a:r>
              <a:rPr lang="en-US" sz="2400" b="1" dirty="0" err="1">
                <a:solidFill>
                  <a:schemeClr val="bg1">
                    <a:lumMod val="65000"/>
                  </a:schemeClr>
                </a:solidFill>
              </a:rPr>
              <a:t>Tipos</a:t>
            </a:r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 de Exchanges</a:t>
            </a:r>
          </a:p>
          <a:p>
            <a:pPr lvl="1"/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  </a:t>
            </a:r>
            <a:r>
              <a:rPr lang="es-ES" sz="2200" dirty="0" err="1">
                <a:solidFill>
                  <a:schemeClr val="bg1">
                    <a:lumMod val="65000"/>
                  </a:schemeClr>
                </a:solidFill>
              </a:rPr>
              <a:t>Exchanges</a:t>
            </a:r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centralizados: </a:t>
            </a:r>
            <a:r>
              <a:rPr lang="es-ES" sz="2200" dirty="0" err="1">
                <a:solidFill>
                  <a:schemeClr val="bg1">
                    <a:lumMod val="65000"/>
                  </a:schemeClr>
                </a:solidFill>
              </a:rPr>
              <a:t>Order</a:t>
            </a:r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Book</a:t>
            </a:r>
          </a:p>
          <a:p>
            <a:pPr lvl="1"/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  P2P</a:t>
            </a:r>
          </a:p>
          <a:p>
            <a:pPr lvl="1"/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  </a:t>
            </a:r>
            <a:r>
              <a:rPr lang="es-ES" sz="2200" dirty="0" err="1">
                <a:solidFill>
                  <a:schemeClr val="bg1">
                    <a:lumMod val="65000"/>
                  </a:schemeClr>
                </a:solidFill>
              </a:rPr>
              <a:t>Automated</a:t>
            </a:r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s-ES" sz="2200" dirty="0" err="1">
                <a:solidFill>
                  <a:schemeClr val="bg1">
                    <a:lumMod val="65000"/>
                  </a:schemeClr>
                </a:solidFill>
              </a:rPr>
              <a:t>Market</a:t>
            </a:r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s-ES" sz="2200" dirty="0" err="1">
                <a:solidFill>
                  <a:schemeClr val="bg1">
                    <a:lumMod val="65000"/>
                  </a:schemeClr>
                </a:solidFill>
              </a:rPr>
              <a:t>Makers</a:t>
            </a:r>
            <a:endParaRPr lang="es-ES" sz="2200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lang="es-ES" sz="2400" b="1" dirty="0" err="1">
                <a:solidFill>
                  <a:schemeClr val="bg1">
                    <a:lumMod val="65000"/>
                  </a:schemeClr>
                </a:solidFill>
              </a:rPr>
              <a:t>Constant</a:t>
            </a:r>
            <a:r>
              <a:rPr lang="es-ES" sz="2400" b="1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s-ES" sz="2400" b="1" dirty="0" err="1">
                <a:solidFill>
                  <a:schemeClr val="bg1">
                    <a:lumMod val="65000"/>
                  </a:schemeClr>
                </a:solidFill>
              </a:rPr>
              <a:t>Product</a:t>
            </a:r>
            <a:r>
              <a:rPr lang="es-ES" sz="2400" b="1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s-ES" sz="2400" b="1" dirty="0" err="1">
                <a:solidFill>
                  <a:schemeClr val="bg1">
                    <a:lumMod val="65000"/>
                  </a:schemeClr>
                </a:solidFill>
              </a:rPr>
              <a:t>Market</a:t>
            </a:r>
            <a:r>
              <a:rPr lang="es-ES" sz="2400" b="1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s-ES" sz="2400" b="1" dirty="0" err="1">
                <a:solidFill>
                  <a:schemeClr val="bg1">
                    <a:lumMod val="65000"/>
                  </a:schemeClr>
                </a:solidFill>
              </a:rPr>
              <a:t>Maker</a:t>
            </a:r>
            <a:r>
              <a:rPr lang="es-ES" sz="2400" b="1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s-ES" sz="2400" b="1" dirty="0" err="1">
                <a:solidFill>
                  <a:schemeClr val="bg1">
                    <a:lumMod val="65000"/>
                  </a:schemeClr>
                </a:solidFill>
              </a:rPr>
              <a:t>Model</a:t>
            </a:r>
            <a:endParaRPr lang="es-ES" sz="2400" b="1" dirty="0">
              <a:solidFill>
                <a:schemeClr val="bg1">
                  <a:lumMod val="65000"/>
                </a:schemeClr>
              </a:solidFill>
            </a:endParaRPr>
          </a:p>
          <a:p>
            <a:pPr lvl="1"/>
            <a:r>
              <a:rPr lang="es-ES" sz="2200" b="1" dirty="0">
                <a:solidFill>
                  <a:schemeClr val="bg1">
                    <a:lumMod val="65000"/>
                  </a:schemeClr>
                </a:solidFill>
              </a:rPr>
              <a:t>   Trading</a:t>
            </a:r>
          </a:p>
          <a:p>
            <a:pPr lvl="1"/>
            <a:r>
              <a:rPr lang="es-ES" sz="2200" b="1" dirty="0">
                <a:solidFill>
                  <a:schemeClr val="bg1">
                    <a:lumMod val="65000"/>
                  </a:schemeClr>
                </a:solidFill>
              </a:rPr>
              <a:t>   </a:t>
            </a:r>
            <a:r>
              <a:rPr lang="es-ES" sz="2200" b="1" dirty="0" err="1">
                <a:solidFill>
                  <a:schemeClr val="bg1">
                    <a:lumMod val="65000"/>
                  </a:schemeClr>
                </a:solidFill>
              </a:rPr>
              <a:t>Liquidity</a:t>
            </a:r>
            <a:r>
              <a:rPr lang="es-ES" sz="2200" b="1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s-ES" sz="2200" b="1" dirty="0" err="1">
                <a:solidFill>
                  <a:schemeClr val="bg1">
                    <a:lumMod val="65000"/>
                  </a:schemeClr>
                </a:solidFill>
              </a:rPr>
              <a:t>providers</a:t>
            </a:r>
            <a:endParaRPr lang="es-ES" sz="2200" b="1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lang="es-ES" sz="2400" b="1" dirty="0" err="1"/>
              <a:t>Uniswap</a:t>
            </a:r>
            <a:endParaRPr lang="es-ES" sz="2400" b="1" dirty="0"/>
          </a:p>
          <a:p>
            <a:pPr lvl="1"/>
            <a:r>
              <a:rPr lang="es-ES" sz="2200" b="1" dirty="0">
                <a:solidFill>
                  <a:schemeClr val="bg1">
                    <a:lumMod val="65000"/>
                  </a:schemeClr>
                </a:solidFill>
              </a:rPr>
              <a:t>   </a:t>
            </a:r>
            <a:r>
              <a:rPr lang="es-ES" sz="2200" b="1" dirty="0" err="1">
                <a:solidFill>
                  <a:schemeClr val="bg1">
                    <a:lumMod val="65000"/>
                  </a:schemeClr>
                </a:solidFill>
              </a:rPr>
              <a:t>Slippage</a:t>
            </a:r>
            <a:endParaRPr lang="es-ES" sz="2200" b="1" dirty="0">
              <a:solidFill>
                <a:schemeClr val="bg1">
                  <a:lumMod val="65000"/>
                </a:schemeClr>
              </a:solidFill>
            </a:endParaRPr>
          </a:p>
          <a:p>
            <a:pPr lvl="1"/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  </a:t>
            </a:r>
            <a:r>
              <a:rPr lang="es-ES" sz="2200" dirty="0" err="1">
                <a:solidFill>
                  <a:schemeClr val="bg1">
                    <a:lumMod val="65000"/>
                  </a:schemeClr>
                </a:solidFill>
              </a:rPr>
              <a:t>Impermanent</a:t>
            </a:r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s-ES" sz="2200" dirty="0" err="1">
                <a:solidFill>
                  <a:schemeClr val="bg1">
                    <a:lumMod val="65000"/>
                  </a:schemeClr>
                </a:solidFill>
              </a:rPr>
              <a:t>Loss</a:t>
            </a:r>
            <a:endParaRPr lang="es-ES" sz="2200" dirty="0">
              <a:solidFill>
                <a:schemeClr val="bg1">
                  <a:lumMod val="65000"/>
                </a:schemeClr>
              </a:solidFill>
            </a:endParaRPr>
          </a:p>
          <a:p>
            <a:pPr lvl="1"/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  </a:t>
            </a:r>
            <a:r>
              <a:rPr lang="es-ES" sz="2200" dirty="0" err="1">
                <a:solidFill>
                  <a:schemeClr val="bg1">
                    <a:lumMod val="65000"/>
                  </a:schemeClr>
                </a:solidFill>
              </a:rPr>
              <a:t>Sandwich</a:t>
            </a:r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s-ES" sz="2200" dirty="0" err="1">
                <a:solidFill>
                  <a:schemeClr val="bg1">
                    <a:lumMod val="65000"/>
                  </a:schemeClr>
                </a:solidFill>
              </a:rPr>
              <a:t>Attack</a:t>
            </a:r>
            <a:endParaRPr lang="es-ES" sz="2200" dirty="0">
              <a:solidFill>
                <a:schemeClr val="bg1">
                  <a:lumMod val="65000"/>
                </a:schemeClr>
              </a:solidFill>
            </a:endParaRPr>
          </a:p>
          <a:p>
            <a:pPr lvl="1"/>
            <a:endParaRPr lang="es-ES" sz="2200" b="1" dirty="0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473950AC-2852-3086-258D-E9110ADEB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7643" y="499208"/>
            <a:ext cx="9950103" cy="710160"/>
          </a:xfrm>
        </p:spPr>
        <p:txBody>
          <a:bodyPr anchor="t">
            <a:noAutofit/>
          </a:bodyPr>
          <a:lstStyle/>
          <a:p>
            <a:r>
              <a:rPr lang="en-US" sz="4000" dirty="0"/>
              <a:t>Automated Market Makers</a:t>
            </a:r>
            <a:endParaRPr lang="es-ES" sz="4000" dirty="0"/>
          </a:p>
        </p:txBody>
      </p:sp>
    </p:spTree>
    <p:extLst>
      <p:ext uri="{BB962C8B-B14F-4D97-AF65-F5344CB8AC3E}">
        <p14:creationId xmlns:p14="http://schemas.microsoft.com/office/powerpoint/2010/main" val="40824766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FAD9BE-6400-1D36-B3C3-0682F2316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FBB181-55C9-14D5-63B8-1224C6216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361" y="410718"/>
            <a:ext cx="9950103" cy="710160"/>
          </a:xfrm>
        </p:spPr>
        <p:txBody>
          <a:bodyPr anchor="t"/>
          <a:lstStyle/>
          <a:p>
            <a:r>
              <a:rPr lang="es-ES" dirty="0" err="1"/>
              <a:t>Uniswap</a:t>
            </a:r>
            <a:endParaRPr lang="es-E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Marcador de contenido 2">
                <a:extLst>
                  <a:ext uri="{FF2B5EF4-FFF2-40B4-BE49-F238E27FC236}">
                    <a16:creationId xmlns:a16="http://schemas.microsoft.com/office/drawing/2014/main" id="{B54109DB-0F86-1F1C-05A6-14BB2370A30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77360" y="1196857"/>
                <a:ext cx="9950103" cy="525042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274320" indent="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FontTx/>
                  <a:buNone/>
                  <a:defRPr sz="1600" b="1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54864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594360" indent="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FontTx/>
                  <a:buNone/>
                  <a:defRPr sz="1200" b="1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82296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2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600" dirty="0"/>
                  <a:t>Uniswap es un </a:t>
                </a:r>
                <a:r>
                  <a:rPr lang="en-US" sz="2600" dirty="0" err="1"/>
                  <a:t>protocolo</a:t>
                </a:r>
                <a:r>
                  <a:rPr lang="en-US" sz="2600" dirty="0"/>
                  <a:t> de </a:t>
                </a:r>
                <a:r>
                  <a:rPr lang="en-US" sz="2600" dirty="0" err="1"/>
                  <a:t>intercambio</a:t>
                </a:r>
                <a:r>
                  <a:rPr lang="en-US" sz="2600" dirty="0"/>
                  <a:t> </a:t>
                </a:r>
                <a:r>
                  <a:rPr lang="en-US" sz="2600" dirty="0" err="1"/>
                  <a:t>descentralizado</a:t>
                </a:r>
                <a:r>
                  <a:rPr lang="en-US" sz="2600" dirty="0"/>
                  <a:t> </a:t>
                </a:r>
                <a:r>
                  <a:rPr lang="en-US" sz="2600" dirty="0" err="1"/>
                  <a:t>basado</a:t>
                </a:r>
                <a:r>
                  <a:rPr lang="en-US" sz="2600" dirty="0"/>
                  <a:t> </a:t>
                </a:r>
                <a:r>
                  <a:rPr lang="en-US" sz="2600" dirty="0" err="1"/>
                  <a:t>en</a:t>
                </a:r>
                <a:r>
                  <a:rPr lang="en-US" sz="2600" dirty="0"/>
                  <a:t> </a:t>
                </a:r>
                <a:r>
                  <a:rPr lang="en-US" sz="2600" dirty="0" err="1"/>
                  <a:t>el</a:t>
                </a:r>
                <a:r>
                  <a:rPr lang="en-US" sz="2600" dirty="0"/>
                  <a:t> </a:t>
                </a:r>
                <a:r>
                  <a:rPr lang="en-US" sz="2600" dirty="0" err="1"/>
                  <a:t>modelo</a:t>
                </a:r>
                <a:r>
                  <a:rPr lang="en-US" sz="2600" dirty="0"/>
                  <a:t> de</a:t>
                </a:r>
                <a:r>
                  <a:rPr lang="es-ES" sz="2600" dirty="0"/>
                  <a:t> </a:t>
                </a:r>
                <a:r>
                  <a:rPr lang="es-ES" sz="2600" b="1" dirty="0" err="1"/>
                  <a:t>Constant</a:t>
                </a:r>
                <a:r>
                  <a:rPr lang="es-ES" sz="2600" b="1" dirty="0"/>
                  <a:t> </a:t>
                </a:r>
                <a:r>
                  <a:rPr lang="es-ES" sz="2600" b="1" dirty="0" err="1"/>
                  <a:t>Product</a:t>
                </a:r>
                <a:r>
                  <a:rPr lang="es-ES" sz="2600" b="1" dirty="0"/>
                  <a:t> </a:t>
                </a:r>
                <a:r>
                  <a:rPr lang="es-ES" sz="2600" b="1" dirty="0" err="1"/>
                  <a:t>Market</a:t>
                </a:r>
                <a:r>
                  <a:rPr lang="es-ES" sz="2600" b="1" dirty="0"/>
                  <a:t> </a:t>
                </a:r>
                <a:r>
                  <a:rPr lang="es-ES" sz="2600" b="1" dirty="0" err="1"/>
                  <a:t>Maker</a:t>
                </a:r>
                <a:r>
                  <a:rPr lang="es-ES" sz="2600" dirty="0"/>
                  <a:t>. Tiene dos principales versiones:</a:t>
                </a:r>
              </a:p>
              <a:p>
                <a:r>
                  <a:rPr lang="es-ES" sz="2600" b="1" dirty="0" err="1"/>
                  <a:t>Uniswap</a:t>
                </a:r>
                <a:r>
                  <a:rPr lang="es-ES" sz="2600" b="1" dirty="0"/>
                  <a:t> V1:</a:t>
                </a:r>
                <a:r>
                  <a:rPr lang="es-ES" sz="2600" dirty="0"/>
                  <a:t> Intercambia tokens </a:t>
                </a:r>
                <a:r>
                  <a:rPr lang="es-ES" sz="2600" b="1" dirty="0"/>
                  <a:t>ETH</a:t>
                </a:r>
                <a:r>
                  <a:rPr lang="es-ES" sz="2600" dirty="0"/>
                  <a:t> por tokens </a:t>
                </a:r>
                <a:r>
                  <a:rPr lang="es-ES" sz="2600" b="1" dirty="0"/>
                  <a:t>ERC-20</a:t>
                </a:r>
                <a:r>
                  <a:rPr lang="es-ES" sz="2600" dirty="0"/>
                  <a:t>. Para el </a:t>
                </a:r>
                <a:r>
                  <a:rPr lang="es-ES" sz="2600" dirty="0" err="1"/>
                  <a:t>trade</a:t>
                </a:r>
                <a:r>
                  <a:rPr lang="es-ES" sz="2600" dirty="0"/>
                  <a:t> entre dos tokens </a:t>
                </a:r>
                <a:r>
                  <a:rPr lang="es-ES" sz="2600" b="1" dirty="0"/>
                  <a:t>ERC-20</a:t>
                </a:r>
                <a:r>
                  <a:rPr lang="es-ES" sz="2600" dirty="0"/>
                  <a:t> se requiere usar dos contratos para saltar: </a:t>
                </a:r>
                <a:r>
                  <a:rPr lang="es-ES" sz="2600" dirty="0">
                    <a:solidFill>
                      <a:srgbClr val="0070C0"/>
                    </a:solidFill>
                  </a:rPr>
                  <a:t>Token A </a:t>
                </a:r>
                <a:r>
                  <a:rPr lang="es-ES" sz="2600" dirty="0">
                    <a:solidFill>
                      <a:srgbClr val="0070C0"/>
                    </a:solidFill>
                    <a:sym typeface="Wingdings" panose="05000000000000000000" pitchFamily="2" charset="2"/>
                  </a:rPr>
                  <a:t> ETH  Token B</a:t>
                </a:r>
                <a:endParaRPr lang="es-ES" sz="2600" b="1" dirty="0">
                  <a:solidFill>
                    <a:srgbClr val="0070C0"/>
                  </a:solidFill>
                </a:endParaRPr>
              </a:p>
              <a:p>
                <a:r>
                  <a:rPr lang="es-ES" sz="2600" b="1" dirty="0" err="1"/>
                  <a:t>Uniswap</a:t>
                </a:r>
                <a:r>
                  <a:rPr lang="es-ES" sz="2600" b="1" dirty="0"/>
                  <a:t> V2:</a:t>
                </a:r>
                <a:r>
                  <a:rPr lang="es-ES" sz="2600" dirty="0"/>
                  <a:t> Permite el intercambio entre cualquier par de tokens </a:t>
                </a:r>
                <a:r>
                  <a:rPr lang="es-ES" sz="2600" b="1" dirty="0"/>
                  <a:t>ERC-20</a:t>
                </a:r>
                <a:endParaRPr lang="es-ES" sz="2600" dirty="0"/>
              </a:p>
              <a:p>
                <a:pPr marL="0" indent="0">
                  <a:buNone/>
                </a:pPr>
                <a:r>
                  <a:rPr lang="es-ES" sz="2600" dirty="0"/>
                  <a:t>En este trabajo implementamos </a:t>
                </a:r>
                <a:r>
                  <a:rPr lang="es-ES" sz="2600" dirty="0" err="1"/>
                  <a:t>Uniswap</a:t>
                </a:r>
                <a:r>
                  <a:rPr lang="es-ES" sz="2600" dirty="0"/>
                  <a:t> V1, con una pool de intercambio </a:t>
                </a:r>
                <a:r>
                  <a:rPr lang="es-ES" sz="2600" b="1" dirty="0"/>
                  <a:t>ETH/DAI</a:t>
                </a:r>
                <a:r>
                  <a:rPr lang="es-ES" sz="2600" dirty="0"/>
                  <a:t>, y una </a:t>
                </a:r>
                <a:r>
                  <a:rPr lang="es-ES" sz="2600" b="1" dirty="0"/>
                  <a:t>fee</a:t>
                </a:r>
                <a:r>
                  <a:rPr lang="es-ES" sz="2600" dirty="0"/>
                  <a:t> </a:t>
                </a:r>
                <a14:m>
                  <m:oMath xmlns:m="http://schemas.openxmlformats.org/officeDocument/2006/math">
                    <m:r>
                      <a:rPr lang="el-GR" sz="2600" b="1" i="1">
                        <a:latin typeface="Cambria Math" panose="02040503050406030204" pitchFamily="18" charset="0"/>
                      </a:rPr>
                      <m:t>𝝆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es-ES" sz="2600" dirty="0"/>
                  <a:t> por transacción.</a:t>
                </a:r>
                <a:endParaRPr lang="es-ES" sz="2600" b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s-ES" sz="26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s-ES" sz="2600" b="1" dirty="0"/>
              </a:p>
            </p:txBody>
          </p:sp>
        </mc:Choice>
        <mc:Fallback>
          <p:sp>
            <p:nvSpPr>
              <p:cNvPr id="4" name="Marcador de contenido 2">
                <a:extLst>
                  <a:ext uri="{FF2B5EF4-FFF2-40B4-BE49-F238E27FC236}">
                    <a16:creationId xmlns:a16="http://schemas.microsoft.com/office/drawing/2014/main" id="{B54109DB-0F86-1F1C-05A6-14BB2370A3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360" y="1196857"/>
                <a:ext cx="9950103" cy="5250425"/>
              </a:xfrm>
              <a:prstGeom prst="rect">
                <a:avLst/>
              </a:prstGeom>
              <a:blipFill>
                <a:blip r:embed="rId3"/>
                <a:stretch>
                  <a:fillRect l="-1103" t="-348" r="-1348" b="-1624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694249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9609B-E55F-3CE7-F18B-AE9DC21D3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AF31111-1171-6366-C367-874F7A5B75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7644" y="1426663"/>
            <a:ext cx="9950103" cy="5094361"/>
          </a:xfrm>
        </p:spPr>
        <p:txBody>
          <a:bodyPr>
            <a:normAutofit lnSpcReduction="10000"/>
          </a:bodyPr>
          <a:lstStyle/>
          <a:p>
            <a:r>
              <a:rPr lang="en-US" sz="2400" b="1" dirty="0" err="1">
                <a:solidFill>
                  <a:schemeClr val="bg1">
                    <a:lumMod val="65000"/>
                  </a:schemeClr>
                </a:solidFill>
              </a:rPr>
              <a:t>Tipos</a:t>
            </a:r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 de Exchanges</a:t>
            </a:r>
          </a:p>
          <a:p>
            <a:pPr lvl="1"/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  </a:t>
            </a:r>
            <a:r>
              <a:rPr lang="es-ES" sz="2200" dirty="0" err="1">
                <a:solidFill>
                  <a:schemeClr val="bg1">
                    <a:lumMod val="65000"/>
                  </a:schemeClr>
                </a:solidFill>
              </a:rPr>
              <a:t>Exchanges</a:t>
            </a:r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centralizados: </a:t>
            </a:r>
            <a:r>
              <a:rPr lang="es-ES" sz="2200" dirty="0" err="1">
                <a:solidFill>
                  <a:schemeClr val="bg1">
                    <a:lumMod val="65000"/>
                  </a:schemeClr>
                </a:solidFill>
              </a:rPr>
              <a:t>Order</a:t>
            </a:r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Book</a:t>
            </a:r>
          </a:p>
          <a:p>
            <a:pPr lvl="1"/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  P2P</a:t>
            </a:r>
          </a:p>
          <a:p>
            <a:pPr lvl="1"/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  </a:t>
            </a:r>
            <a:r>
              <a:rPr lang="es-ES" sz="2200" dirty="0" err="1">
                <a:solidFill>
                  <a:schemeClr val="bg1">
                    <a:lumMod val="65000"/>
                  </a:schemeClr>
                </a:solidFill>
              </a:rPr>
              <a:t>Automated</a:t>
            </a:r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s-ES" sz="2200" dirty="0" err="1">
                <a:solidFill>
                  <a:schemeClr val="bg1">
                    <a:lumMod val="65000"/>
                  </a:schemeClr>
                </a:solidFill>
              </a:rPr>
              <a:t>Market</a:t>
            </a:r>
            <a:r>
              <a:rPr lang="es-ES" sz="22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s-ES" sz="2200" dirty="0" err="1">
                <a:solidFill>
                  <a:schemeClr val="bg1">
                    <a:lumMod val="65000"/>
                  </a:schemeClr>
                </a:solidFill>
              </a:rPr>
              <a:t>Makers</a:t>
            </a:r>
            <a:endParaRPr lang="es-ES" sz="2200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lang="es-ES" sz="2400" b="1" dirty="0" err="1">
                <a:solidFill>
                  <a:schemeClr val="bg1">
                    <a:lumMod val="65000"/>
                  </a:schemeClr>
                </a:solidFill>
              </a:rPr>
              <a:t>Constant</a:t>
            </a:r>
            <a:r>
              <a:rPr lang="es-ES" sz="2400" b="1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s-ES" sz="2400" b="1" dirty="0" err="1">
                <a:solidFill>
                  <a:schemeClr val="bg1">
                    <a:lumMod val="65000"/>
                  </a:schemeClr>
                </a:solidFill>
              </a:rPr>
              <a:t>Product</a:t>
            </a:r>
            <a:r>
              <a:rPr lang="es-ES" sz="2400" b="1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s-ES" sz="2400" b="1" dirty="0" err="1">
                <a:solidFill>
                  <a:schemeClr val="bg1">
                    <a:lumMod val="65000"/>
                  </a:schemeClr>
                </a:solidFill>
              </a:rPr>
              <a:t>Market</a:t>
            </a:r>
            <a:r>
              <a:rPr lang="es-ES" sz="2400" b="1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s-ES" sz="2400" b="1" dirty="0" err="1">
                <a:solidFill>
                  <a:schemeClr val="bg1">
                    <a:lumMod val="65000"/>
                  </a:schemeClr>
                </a:solidFill>
              </a:rPr>
              <a:t>Maker</a:t>
            </a:r>
            <a:r>
              <a:rPr lang="es-ES" sz="2400" b="1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s-ES" sz="2400" b="1" dirty="0" err="1">
                <a:solidFill>
                  <a:schemeClr val="bg1">
                    <a:lumMod val="65000"/>
                  </a:schemeClr>
                </a:solidFill>
              </a:rPr>
              <a:t>Model</a:t>
            </a:r>
            <a:endParaRPr lang="es-ES" sz="2400" b="1" dirty="0">
              <a:solidFill>
                <a:schemeClr val="bg1">
                  <a:lumMod val="65000"/>
                </a:schemeClr>
              </a:solidFill>
            </a:endParaRPr>
          </a:p>
          <a:p>
            <a:pPr lvl="1"/>
            <a:r>
              <a:rPr lang="es-ES" sz="2200" b="1" dirty="0">
                <a:solidFill>
                  <a:schemeClr val="bg1">
                    <a:lumMod val="65000"/>
                  </a:schemeClr>
                </a:solidFill>
              </a:rPr>
              <a:t>   Trading</a:t>
            </a:r>
          </a:p>
          <a:p>
            <a:pPr lvl="1"/>
            <a:r>
              <a:rPr lang="es-ES" sz="2200" b="1" dirty="0">
                <a:solidFill>
                  <a:schemeClr val="bg1">
                    <a:lumMod val="65000"/>
                  </a:schemeClr>
                </a:solidFill>
              </a:rPr>
              <a:t>   </a:t>
            </a:r>
            <a:r>
              <a:rPr lang="es-ES" sz="2200" b="1" dirty="0" err="1">
                <a:solidFill>
                  <a:schemeClr val="bg1">
                    <a:lumMod val="65000"/>
                  </a:schemeClr>
                </a:solidFill>
              </a:rPr>
              <a:t>Liquidity</a:t>
            </a:r>
            <a:r>
              <a:rPr lang="es-ES" sz="2200" b="1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s-ES" sz="2200" b="1" dirty="0" err="1">
                <a:solidFill>
                  <a:schemeClr val="bg1">
                    <a:lumMod val="65000"/>
                  </a:schemeClr>
                </a:solidFill>
              </a:rPr>
              <a:t>providers</a:t>
            </a:r>
            <a:endParaRPr lang="es-ES" sz="2200" b="1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lang="es-ES" sz="2400" b="1" dirty="0" err="1"/>
              <a:t>Uniswap</a:t>
            </a:r>
            <a:endParaRPr lang="es-ES" sz="2400" b="1" dirty="0"/>
          </a:p>
          <a:p>
            <a:pPr lvl="1"/>
            <a:r>
              <a:rPr lang="es-ES" sz="2200" b="1" dirty="0">
                <a:solidFill>
                  <a:schemeClr val="bg1">
                    <a:lumMod val="65000"/>
                  </a:schemeClr>
                </a:solidFill>
              </a:rPr>
              <a:t>   </a:t>
            </a:r>
            <a:r>
              <a:rPr lang="es-ES" sz="2200" b="1" dirty="0" err="1"/>
              <a:t>Slippage</a:t>
            </a:r>
            <a:endParaRPr lang="es-ES" sz="2200" b="1" dirty="0"/>
          </a:p>
          <a:p>
            <a:pPr lvl="1"/>
            <a:r>
              <a:rPr lang="es-ES" sz="2200" dirty="0"/>
              <a:t>   </a:t>
            </a:r>
            <a:r>
              <a:rPr lang="es-ES" sz="2200" dirty="0" err="1"/>
              <a:t>Impermanent</a:t>
            </a:r>
            <a:r>
              <a:rPr lang="es-ES" sz="2200" dirty="0"/>
              <a:t> </a:t>
            </a:r>
            <a:r>
              <a:rPr lang="es-ES" sz="2200" dirty="0" err="1"/>
              <a:t>Loss</a:t>
            </a:r>
            <a:endParaRPr lang="es-ES" sz="2200" dirty="0"/>
          </a:p>
          <a:p>
            <a:pPr lvl="1"/>
            <a:r>
              <a:rPr lang="es-ES" sz="2200" dirty="0"/>
              <a:t>   </a:t>
            </a:r>
            <a:r>
              <a:rPr lang="es-ES" sz="2200" dirty="0" err="1"/>
              <a:t>Sandwich</a:t>
            </a:r>
            <a:r>
              <a:rPr lang="es-ES" sz="2200" dirty="0"/>
              <a:t> </a:t>
            </a:r>
            <a:r>
              <a:rPr lang="es-ES" sz="2200" dirty="0" err="1"/>
              <a:t>Attack</a:t>
            </a:r>
            <a:endParaRPr lang="es-ES" sz="2200" dirty="0"/>
          </a:p>
          <a:p>
            <a:pPr lvl="1"/>
            <a:endParaRPr lang="es-ES" sz="2200" b="1" dirty="0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F856E8E2-61F9-C34F-7C88-2914D8D167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7643" y="499208"/>
            <a:ext cx="9950103" cy="710160"/>
          </a:xfrm>
        </p:spPr>
        <p:txBody>
          <a:bodyPr anchor="t">
            <a:noAutofit/>
          </a:bodyPr>
          <a:lstStyle/>
          <a:p>
            <a:r>
              <a:rPr lang="en-US" sz="4000" dirty="0"/>
              <a:t>Automated Market Makers</a:t>
            </a:r>
            <a:endParaRPr lang="es-ES" sz="4000" dirty="0"/>
          </a:p>
        </p:txBody>
      </p:sp>
    </p:spTree>
    <p:extLst>
      <p:ext uri="{BB962C8B-B14F-4D97-AF65-F5344CB8AC3E}">
        <p14:creationId xmlns:p14="http://schemas.microsoft.com/office/powerpoint/2010/main" val="34483222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24271B-880D-55A0-C893-6600E589D8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888280-F178-18D7-10CE-A2E92E391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361" y="410718"/>
            <a:ext cx="9950103" cy="710160"/>
          </a:xfrm>
        </p:spPr>
        <p:txBody>
          <a:bodyPr anchor="t"/>
          <a:lstStyle/>
          <a:p>
            <a:r>
              <a:rPr lang="en-US" dirty="0"/>
              <a:t>Uniswap: </a:t>
            </a:r>
            <a:r>
              <a:rPr lang="en-US" dirty="0" err="1"/>
              <a:t>Desventajas</a:t>
            </a:r>
            <a:endParaRPr lang="es-ES" dirty="0"/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D0973546-2D55-CC58-648C-1521B8DCC322}"/>
              </a:ext>
            </a:extLst>
          </p:cNvPr>
          <p:cNvSpPr txBox="1">
            <a:spLocks/>
          </p:cNvSpPr>
          <p:nvPr/>
        </p:nvSpPr>
        <p:spPr>
          <a:xfrm>
            <a:off x="1077360" y="1196857"/>
            <a:ext cx="9950103" cy="5250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27432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Tx/>
              <a:buNone/>
              <a:defRPr sz="1600" b="1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5486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59436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Tx/>
              <a:buNone/>
              <a:defRPr sz="1200" b="1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8229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Slippage</a:t>
            </a:r>
          </a:p>
          <a:p>
            <a:pPr marL="0" indent="0">
              <a:buNone/>
            </a:pPr>
            <a:r>
              <a:rPr lang="en-US" sz="2600" dirty="0"/>
              <a:t>Si la </a:t>
            </a:r>
            <a:r>
              <a:rPr lang="en-US" sz="2600" b="1" dirty="0"/>
              <a:t>liquidity pool</a:t>
            </a:r>
            <a:r>
              <a:rPr lang="en-US" sz="2600" dirty="0"/>
              <a:t> es </a:t>
            </a:r>
            <a:r>
              <a:rPr lang="en-US" sz="2600" dirty="0" err="1"/>
              <a:t>muy</a:t>
            </a:r>
            <a:r>
              <a:rPr lang="en-US" sz="2600" dirty="0"/>
              <a:t> </a:t>
            </a:r>
            <a:r>
              <a:rPr lang="en-US" sz="2600" dirty="0" err="1"/>
              <a:t>peque</a:t>
            </a:r>
            <a:r>
              <a:rPr lang="es-ES" sz="2600" dirty="0" err="1"/>
              <a:t>ña</a:t>
            </a:r>
            <a:r>
              <a:rPr lang="es-ES" sz="2600" dirty="0"/>
              <a:t>, cualquier operación relativamente grande desbalancea el precio más que en modelos con un </a:t>
            </a:r>
            <a:r>
              <a:rPr lang="es-ES" sz="2600" b="1" dirty="0" err="1"/>
              <a:t>Order</a:t>
            </a:r>
            <a:r>
              <a:rPr lang="es-ES" sz="2600" b="1" dirty="0"/>
              <a:t> Book</a:t>
            </a:r>
            <a:r>
              <a:rPr lang="es-ES" sz="2600" dirty="0"/>
              <a:t>.</a:t>
            </a:r>
          </a:p>
          <a:p>
            <a:r>
              <a:rPr lang="en-US" sz="2800" b="1" dirty="0"/>
              <a:t>Impermanent Loss</a:t>
            </a:r>
          </a:p>
          <a:p>
            <a:pPr marL="0" indent="0">
              <a:buNone/>
            </a:pPr>
            <a:r>
              <a:rPr lang="en-US" sz="2600" dirty="0"/>
              <a:t>La </a:t>
            </a:r>
            <a:r>
              <a:rPr lang="en-US" sz="2600" dirty="0" err="1"/>
              <a:t>pérdida</a:t>
            </a:r>
            <a:r>
              <a:rPr lang="en-US" sz="2600" dirty="0"/>
              <a:t> </a:t>
            </a:r>
            <a:r>
              <a:rPr lang="en-US" sz="2600" dirty="0" err="1"/>
              <a:t>impermanente</a:t>
            </a:r>
            <a:r>
              <a:rPr lang="en-US" sz="2600" dirty="0"/>
              <a:t> que </a:t>
            </a:r>
            <a:r>
              <a:rPr lang="en-US" sz="2600" dirty="0" err="1"/>
              <a:t>sufre</a:t>
            </a:r>
            <a:r>
              <a:rPr lang="en-US" sz="2600" dirty="0"/>
              <a:t> un </a:t>
            </a:r>
            <a:r>
              <a:rPr lang="en-US" sz="2600" b="1" dirty="0"/>
              <a:t>LP</a:t>
            </a:r>
            <a:r>
              <a:rPr lang="en-US" sz="2600" dirty="0"/>
              <a:t> </a:t>
            </a:r>
            <a:r>
              <a:rPr lang="en-US" sz="2600" dirty="0" err="1"/>
              <a:t>ocurre</a:t>
            </a:r>
            <a:r>
              <a:rPr lang="en-US" sz="2600" dirty="0"/>
              <a:t> </a:t>
            </a:r>
            <a:r>
              <a:rPr lang="en-US" sz="2600" dirty="0" err="1"/>
              <a:t>cuando</a:t>
            </a:r>
            <a:r>
              <a:rPr lang="en-US" sz="2600" dirty="0"/>
              <a:t> </a:t>
            </a:r>
            <a:r>
              <a:rPr lang="en-US" sz="2600" dirty="0" err="1"/>
              <a:t>los</a:t>
            </a:r>
            <a:r>
              <a:rPr lang="en-US" sz="2600" dirty="0"/>
              <a:t> </a:t>
            </a:r>
            <a:r>
              <a:rPr lang="en-US" sz="2600" dirty="0" err="1"/>
              <a:t>activos</a:t>
            </a:r>
            <a:r>
              <a:rPr lang="en-US" sz="2600" dirty="0"/>
              <a:t> que </a:t>
            </a:r>
            <a:r>
              <a:rPr lang="en-US" sz="2600" dirty="0" err="1"/>
              <a:t>mantenía</a:t>
            </a:r>
            <a:r>
              <a:rPr lang="en-US" sz="2600" dirty="0"/>
              <a:t> </a:t>
            </a:r>
            <a:r>
              <a:rPr lang="en-US" sz="2600" dirty="0" err="1"/>
              <a:t>dentro</a:t>
            </a:r>
            <a:r>
              <a:rPr lang="en-US" sz="2600" dirty="0"/>
              <a:t> del </a:t>
            </a:r>
            <a:r>
              <a:rPr lang="en-US" sz="2600" dirty="0" err="1"/>
              <a:t>contrato</a:t>
            </a:r>
            <a:r>
              <a:rPr lang="en-US" sz="2600" dirty="0"/>
              <a:t> </a:t>
            </a:r>
            <a:r>
              <a:rPr lang="en-US" sz="2600" dirty="0" err="1"/>
              <a:t>bajan</a:t>
            </a:r>
            <a:r>
              <a:rPr lang="en-US" sz="2600" dirty="0"/>
              <a:t> a </a:t>
            </a:r>
            <a:r>
              <a:rPr lang="en-US" sz="2600" dirty="0" err="1"/>
              <a:t>comparaci</a:t>
            </a:r>
            <a:r>
              <a:rPr lang="es-ES" sz="2600" dirty="0" err="1"/>
              <a:t>ó</a:t>
            </a:r>
            <a:r>
              <a:rPr lang="en-US" sz="2600" dirty="0"/>
              <a:t>n de sus </a:t>
            </a:r>
            <a:r>
              <a:rPr lang="en-US" sz="2600" dirty="0" err="1"/>
              <a:t>precios</a:t>
            </a:r>
            <a:r>
              <a:rPr lang="en-US" sz="2600" dirty="0"/>
              <a:t> fuera del </a:t>
            </a:r>
            <a:r>
              <a:rPr lang="en-US" sz="2600" dirty="0" err="1"/>
              <a:t>contrato</a:t>
            </a:r>
            <a:r>
              <a:rPr lang="en-US" sz="2600" dirty="0"/>
              <a:t>. Se llama “</a:t>
            </a:r>
            <a:r>
              <a:rPr lang="en-US" sz="2600" dirty="0" err="1"/>
              <a:t>impermanente</a:t>
            </a:r>
            <a:r>
              <a:rPr lang="en-US" sz="2600" dirty="0"/>
              <a:t>” </a:t>
            </a:r>
            <a:r>
              <a:rPr lang="en-US" sz="2600" dirty="0" err="1"/>
              <a:t>porque</a:t>
            </a:r>
            <a:r>
              <a:rPr lang="en-US" sz="2600" dirty="0"/>
              <a:t> </a:t>
            </a:r>
            <a:r>
              <a:rPr lang="en-US" sz="2600" dirty="0" err="1"/>
              <a:t>mientras</a:t>
            </a:r>
            <a:r>
              <a:rPr lang="en-US" sz="2600" dirty="0"/>
              <a:t> que </a:t>
            </a:r>
            <a:r>
              <a:rPr lang="en-US" sz="2600" dirty="0" err="1"/>
              <a:t>los</a:t>
            </a:r>
            <a:r>
              <a:rPr lang="en-US" sz="2600" dirty="0"/>
              <a:t> </a:t>
            </a:r>
            <a:r>
              <a:rPr lang="en-US" sz="2600" dirty="0" err="1"/>
              <a:t>precios</a:t>
            </a:r>
            <a:r>
              <a:rPr lang="en-US" sz="2600" dirty="0"/>
              <a:t> </a:t>
            </a:r>
            <a:r>
              <a:rPr lang="en-US" sz="2600" dirty="0" err="1"/>
              <a:t>vuelvan</a:t>
            </a:r>
            <a:r>
              <a:rPr lang="en-US" sz="2600" dirty="0"/>
              <a:t> al punto </a:t>
            </a:r>
            <a:r>
              <a:rPr lang="en-US" sz="2600" dirty="0" err="1"/>
              <a:t>inicial</a:t>
            </a:r>
            <a:r>
              <a:rPr lang="en-US" sz="2600" dirty="0"/>
              <a:t>, la p</a:t>
            </a:r>
            <a:r>
              <a:rPr lang="es-ES" sz="2600" dirty="0" err="1"/>
              <a:t>érdida</a:t>
            </a:r>
            <a:r>
              <a:rPr lang="es-ES" sz="2600" dirty="0"/>
              <a:t> desaparece, pero si los precios nunca vuelven, la pérdida es </a:t>
            </a:r>
            <a:r>
              <a:rPr lang="es-ES" sz="2600" b="1" dirty="0"/>
              <a:t>permanente</a:t>
            </a:r>
            <a:r>
              <a:rPr lang="es-ES" sz="2600" dirty="0"/>
              <a:t>. Como el </a:t>
            </a:r>
            <a:r>
              <a:rPr lang="es-ES" sz="2600" b="1" dirty="0"/>
              <a:t>LP</a:t>
            </a:r>
            <a:r>
              <a:rPr lang="es-ES" sz="2600" dirty="0"/>
              <a:t> al querer quemar su liquidez, obtiene de vuelta su </a:t>
            </a:r>
            <a:r>
              <a:rPr lang="es-ES" sz="2600" b="1" dirty="0"/>
              <a:t>%</a:t>
            </a:r>
            <a:r>
              <a:rPr lang="es-ES" sz="2600" dirty="0"/>
              <a:t> de la pool, no se reembolsa los activos en el balance que estaban cuando invirtió</a:t>
            </a:r>
            <a:r>
              <a:rPr lang="en-US" sz="2600" dirty="0"/>
              <a:t>, </a:t>
            </a:r>
            <a:r>
              <a:rPr lang="en-US" sz="2600" dirty="0" err="1"/>
              <a:t>sino</a:t>
            </a:r>
            <a:r>
              <a:rPr lang="en-US" sz="2600" dirty="0"/>
              <a:t> que </a:t>
            </a:r>
            <a:r>
              <a:rPr lang="en-US" sz="2600" dirty="0" err="1"/>
              <a:t>en</a:t>
            </a:r>
            <a:r>
              <a:rPr lang="en-US" sz="2600" dirty="0"/>
              <a:t> </a:t>
            </a:r>
            <a:r>
              <a:rPr lang="en-US" sz="2600" dirty="0" err="1"/>
              <a:t>el</a:t>
            </a:r>
            <a:r>
              <a:rPr lang="en-US" sz="2600" dirty="0"/>
              <a:t> balance actual.</a:t>
            </a:r>
            <a:endParaRPr lang="es-ES" sz="2600" dirty="0"/>
          </a:p>
          <a:p>
            <a:pPr marL="0" indent="0">
              <a:buNone/>
            </a:pPr>
            <a:endParaRPr lang="es-ES" sz="2600" b="1" dirty="0"/>
          </a:p>
        </p:txBody>
      </p:sp>
    </p:spTree>
    <p:extLst>
      <p:ext uri="{BB962C8B-B14F-4D97-AF65-F5344CB8AC3E}">
        <p14:creationId xmlns:p14="http://schemas.microsoft.com/office/powerpoint/2010/main" val="1359315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E6CBD4-CD4A-E139-06E8-E52945099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96EFBC-DF70-CC29-FC58-572CBFAF81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361" y="410718"/>
            <a:ext cx="9950103" cy="710160"/>
          </a:xfrm>
        </p:spPr>
        <p:txBody>
          <a:bodyPr anchor="t"/>
          <a:lstStyle/>
          <a:p>
            <a:r>
              <a:rPr lang="en-US" dirty="0"/>
              <a:t>Uniswap: </a:t>
            </a:r>
            <a:r>
              <a:rPr lang="en-US" dirty="0" err="1"/>
              <a:t>Desventajas</a:t>
            </a:r>
            <a:endParaRPr lang="es-E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0B723870-D03A-FAED-9B5E-78ABD5D924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77360" y="1120878"/>
                <a:ext cx="9950103" cy="5250425"/>
              </a:xfrm>
            </p:spPr>
            <p:txBody>
              <a:bodyPr>
                <a:normAutofit/>
              </a:bodyPr>
              <a:lstStyle/>
              <a:p>
                <a:r>
                  <a:rPr lang="es-ES" sz="2600" b="1" dirty="0"/>
                  <a:t>Ejemplo de </a:t>
                </a:r>
                <a:r>
                  <a:rPr lang="en-US" sz="2600" b="1" dirty="0"/>
                  <a:t>Impermanent Loss</a:t>
                </a:r>
                <a:endParaRPr lang="es-ES" sz="2600" b="1" dirty="0"/>
              </a:p>
              <a:p>
                <a:pPr marL="0" indent="0">
                  <a:buNone/>
                </a:pPr>
                <a:r>
                  <a:rPr lang="en-US" sz="2600" noProof="0" dirty="0"/>
                  <a:t>Si </a:t>
                </a:r>
                <a:r>
                  <a:rPr lang="en-US" sz="2600" noProof="0" dirty="0" err="1"/>
                  <a:t>el</a:t>
                </a:r>
                <a:r>
                  <a:rPr lang="en-US" sz="2600" noProof="0" dirty="0"/>
                  <a:t> </a:t>
                </a:r>
                <a:r>
                  <a:rPr lang="en-US" sz="2600" b="1" dirty="0"/>
                  <a:t>LP</a:t>
                </a:r>
                <a:r>
                  <a:rPr lang="en-US" sz="2600" dirty="0"/>
                  <a:t> </a:t>
                </a:r>
                <a:r>
                  <a:rPr lang="en-US" sz="2600" dirty="0" err="1"/>
                  <a:t>invirti</a:t>
                </a:r>
                <a:r>
                  <a:rPr lang="es-ES" sz="2600" dirty="0" err="1"/>
                  <a:t>ó</a:t>
                </a:r>
                <a:r>
                  <a:rPr lang="es-ES" sz="2600" dirty="0"/>
                  <a:t> </a:t>
                </a:r>
                <a14:m>
                  <m:oMath xmlns:m="http://schemas.openxmlformats.org/officeDocument/2006/math"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𝑬𝑻𝑯</m:t>
                    </m:r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,   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𝟏𝟎𝟎</m:t>
                    </m:r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𝑫𝑨𝑰</m:t>
                    </m:r>
                  </m:oMath>
                </a14:m>
                <a:r>
                  <a:rPr lang="es-ES" sz="2600" dirty="0"/>
                  <a:t> en una pool, convirtiéndose en dueño de un </a:t>
                </a:r>
                <a14:m>
                  <m:oMath xmlns:m="http://schemas.openxmlformats.org/officeDocument/2006/math">
                    <m:r>
                      <a:rPr lang="es-ES" sz="2600" b="1" i="0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s-ES" sz="2600" b="1" i="1">
                        <a:latin typeface="Cambria Math" panose="02040503050406030204" pitchFamily="18" charset="0"/>
                      </a:rPr>
                      <m:t>𝟎</m:t>
                    </m:r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es-ES" sz="2600" dirty="0"/>
                  <a:t> de la </a:t>
                </a:r>
                <a:r>
                  <a:rPr lang="es-ES" sz="2600" dirty="0" err="1"/>
                  <a:t>liquidity</a:t>
                </a:r>
                <a:r>
                  <a:rPr lang="es-ES" sz="2600" dirty="0"/>
                  <a:t>, y luego el precio exterior cambia a </a:t>
                </a:r>
                <a14:m>
                  <m:oMath xmlns:m="http://schemas.openxmlformats.org/officeDocument/2006/math">
                    <m:r>
                      <a:rPr lang="es-ES" sz="2600" b="1" i="1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600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600" b="1" i="1">
                        <a:latin typeface="Cambria Math" panose="02040503050406030204" pitchFamily="18" charset="0"/>
                      </a:rPr>
                      <m:t>𝑬𝑻𝑯</m:t>
                    </m:r>
                    <m:r>
                      <a:rPr lang="en-US" sz="2600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s-ES" sz="2600" b="1" i="1">
                        <a:latin typeface="Cambria Math" panose="02040503050406030204" pitchFamily="18" charset="0"/>
                      </a:rPr>
                      <m:t>𝟒𝟎𝟎</m:t>
                    </m:r>
                    <m:r>
                      <a:rPr lang="es-ES" sz="2600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600" b="1" i="1">
                        <a:latin typeface="Cambria Math" panose="02040503050406030204" pitchFamily="18" charset="0"/>
                      </a:rPr>
                      <m:t>𝑫𝑨𝑰</m:t>
                    </m:r>
                  </m:oMath>
                </a14:m>
                <a:r>
                  <a:rPr lang="es-ES" sz="2600" dirty="0"/>
                  <a:t> y se refleja en la pool, al quemar liquidez su </a:t>
                </a:r>
                <a14:m>
                  <m:oMath xmlns:m="http://schemas.openxmlformats.org/officeDocument/2006/math">
                    <m:r>
                      <a:rPr lang="es-ES" sz="2600" b="1">
                        <a:latin typeface="Cambria Math" panose="02040503050406030204" pitchFamily="18" charset="0"/>
                      </a:rPr>
                      <m:t>𝟏</m:t>
                    </m:r>
                    <m:r>
                      <a:rPr lang="es-ES" sz="2600" b="1" i="1">
                        <a:latin typeface="Cambria Math" panose="02040503050406030204" pitchFamily="18" charset="0"/>
                      </a:rPr>
                      <m:t>𝟎</m:t>
                    </m:r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es-ES" sz="2600" dirty="0"/>
                  <a:t> se compondrá de:</a:t>
                </a:r>
              </a:p>
              <a:p>
                <a:pPr marL="0" indent="0" algn="ctr">
                  <a:buNone/>
                </a:pPr>
                <a:r>
                  <a:rPr lang="es-ES" sz="2600" dirty="0"/>
                  <a:t> </a:t>
                </a:r>
                <a14:m>
                  <m:oMath xmlns:m="http://schemas.openxmlformats.org/officeDocument/2006/math"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𝟓</m:t>
                    </m:r>
                    <m:r>
                      <a:rPr lang="en-US" sz="2600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600" b="1" i="1">
                        <a:latin typeface="Cambria Math" panose="02040503050406030204" pitchFamily="18" charset="0"/>
                      </a:rPr>
                      <m:t>𝑬𝑻𝑯</m:t>
                    </m:r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𝟐</m:t>
                    </m:r>
                    <m:r>
                      <a:rPr lang="es-ES" sz="2600" b="1" i="1">
                        <a:latin typeface="Cambria Math" panose="02040503050406030204" pitchFamily="18" charset="0"/>
                      </a:rPr>
                      <m:t>𝟎𝟎</m:t>
                    </m:r>
                    <m:r>
                      <a:rPr lang="es-ES" sz="2600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600" b="1" i="1">
                        <a:latin typeface="Cambria Math" panose="02040503050406030204" pitchFamily="18" charset="0"/>
                      </a:rPr>
                      <m:t>𝑫𝑨𝑰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𝟒𝟎𝟎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𝑫𝑨𝑰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𝑬𝑻𝑯</m:t>
                    </m:r>
                  </m:oMath>
                </a14:m>
                <a:endParaRPr lang="en-US" sz="2600" b="1" dirty="0"/>
              </a:p>
              <a:p>
                <a:pPr marL="0" indent="0">
                  <a:buNone/>
                </a:pPr>
                <a:r>
                  <a:rPr lang="es-ES" sz="2600" dirty="0"/>
                  <a:t>Sin embargo, si hubiera </a:t>
                </a:r>
                <a:r>
                  <a:rPr lang="es-ES" sz="2600" b="1" i="1" dirty="0" err="1"/>
                  <a:t>holdeado</a:t>
                </a:r>
                <a:r>
                  <a:rPr lang="es-ES" sz="2600" dirty="0"/>
                  <a:t> y no hubiera invertido en la pool, actualmente tendría:</a:t>
                </a:r>
              </a:p>
              <a:p>
                <a:pPr marL="0" indent="0" algn="ctr">
                  <a:buNone/>
                </a:pPr>
                <a:r>
                  <a:rPr lang="es-ES" sz="2600" dirty="0"/>
                  <a:t> </a:t>
                </a:r>
                <a14:m>
                  <m:oMath xmlns:m="http://schemas.openxmlformats.org/officeDocument/2006/math">
                    <m:r>
                      <a:rPr lang="en-US" sz="2600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600" b="1" i="1">
                        <a:latin typeface="Cambria Math" panose="02040503050406030204" pitchFamily="18" charset="0"/>
                      </a:rPr>
                      <m:t>𝑬𝑻𝑯</m:t>
                    </m:r>
                    <m:r>
                      <a:rPr lang="es-ES" sz="2600" b="1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s-ES" sz="2600" b="1" i="1">
                        <a:latin typeface="Cambria Math" panose="02040503050406030204" pitchFamily="18" charset="0"/>
                      </a:rPr>
                      <m:t>𝟎𝟎</m:t>
                    </m:r>
                    <m:r>
                      <a:rPr lang="es-ES" sz="2600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600" b="1" i="1">
                        <a:latin typeface="Cambria Math" panose="02040503050406030204" pitchFamily="18" charset="0"/>
                      </a:rPr>
                      <m:t>𝑫𝑨𝑰</m:t>
                    </m:r>
                    <m:r>
                      <a:rPr lang="en-US" sz="2600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𝟓</m:t>
                    </m:r>
                    <m:r>
                      <a:rPr lang="en-US" sz="2600" b="1" i="1">
                        <a:latin typeface="Cambria Math" panose="02040503050406030204" pitchFamily="18" charset="0"/>
                      </a:rPr>
                      <m:t>𝟎𝟎</m:t>
                    </m:r>
                    <m:r>
                      <a:rPr lang="en-US" sz="2600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600" b="1" i="1">
                        <a:latin typeface="Cambria Math" panose="02040503050406030204" pitchFamily="18" charset="0"/>
                      </a:rPr>
                      <m:t>𝑫𝑨𝑰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𝟐𝟓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𝑬𝑻𝑯</m:t>
                    </m:r>
                  </m:oMath>
                </a14:m>
                <a:endParaRPr lang="en-US" sz="2600" b="1" dirty="0"/>
              </a:p>
              <a:p>
                <a:pPr marL="0" indent="0">
                  <a:buNone/>
                </a:pPr>
                <a:endParaRPr lang="es-ES" sz="2600" noProof="0" dirty="0"/>
              </a:p>
            </p:txBody>
          </p:sp>
        </mc:Choice>
        <mc:Fallback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0B723870-D03A-FAED-9B5E-78ABD5D924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77360" y="1120878"/>
                <a:ext cx="9950103" cy="5250425"/>
              </a:xfrm>
              <a:blipFill>
                <a:blip r:embed="rId2"/>
                <a:stretch>
                  <a:fillRect l="-1103" t="-348" r="-2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79988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A3E2A9-AD1B-35D8-3FA1-E32C390C3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C45FAE-0F06-60F4-ADB2-1D59DB320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361" y="410718"/>
            <a:ext cx="9950103" cy="710160"/>
          </a:xfrm>
        </p:spPr>
        <p:txBody>
          <a:bodyPr anchor="t"/>
          <a:lstStyle/>
          <a:p>
            <a:r>
              <a:rPr lang="en-US" dirty="0"/>
              <a:t>Uniswap: </a:t>
            </a:r>
            <a:r>
              <a:rPr lang="en-US" dirty="0" err="1"/>
              <a:t>Desventajas</a:t>
            </a:r>
            <a:endParaRPr lang="es-E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Marcador de contenido 2">
                <a:extLst>
                  <a:ext uri="{FF2B5EF4-FFF2-40B4-BE49-F238E27FC236}">
                    <a16:creationId xmlns:a16="http://schemas.microsoft.com/office/drawing/2014/main" id="{5617BE6D-92D7-9703-EC2C-8AB95D13DEF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77360" y="1196857"/>
                <a:ext cx="9950103" cy="525042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274320" indent="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FontTx/>
                  <a:buNone/>
                  <a:defRPr sz="1600" b="1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54864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594360" indent="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FontTx/>
                  <a:buNone/>
                  <a:defRPr sz="1200" b="1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82296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2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600" b="1" dirty="0"/>
                  <a:t>Sandwich Attack</a:t>
                </a:r>
              </a:p>
              <a:p>
                <a:pPr>
                  <a:buFont typeface="Wingdings" panose="05000000000000000000" pitchFamily="2" charset="2"/>
                  <a:buChar char="q"/>
                </a:pPr>
                <a:r>
                  <a:rPr lang="en-US" sz="2600" dirty="0"/>
                  <a:t>El </a:t>
                </a:r>
                <a:r>
                  <a:rPr lang="en-US" sz="2600" dirty="0" err="1"/>
                  <a:t>atacante</a:t>
                </a:r>
                <a:r>
                  <a:rPr lang="en-US" sz="2600" dirty="0"/>
                  <a:t> </a:t>
                </a:r>
                <a:r>
                  <a:rPr lang="en-US" sz="2600" dirty="0" err="1"/>
                  <a:t>observa</a:t>
                </a:r>
                <a:r>
                  <a:rPr lang="en-US" sz="2600" dirty="0"/>
                  <a:t> </a:t>
                </a:r>
                <a:r>
                  <a:rPr lang="en-US" sz="2600" dirty="0" err="1"/>
                  <a:t>en</a:t>
                </a:r>
                <a:r>
                  <a:rPr lang="en-US" sz="2600" dirty="0"/>
                  <a:t> la </a:t>
                </a:r>
                <a:r>
                  <a:rPr lang="en-US" sz="2600" b="1" dirty="0" err="1"/>
                  <a:t>mempool</a:t>
                </a:r>
                <a:r>
                  <a:rPr lang="en-US" sz="2600" b="1" dirty="0"/>
                  <a:t> </a:t>
                </a:r>
                <a:r>
                  <a:rPr lang="en-US" sz="2600" dirty="0"/>
                  <a:t>que la </a:t>
                </a:r>
                <a:r>
                  <a:rPr lang="es-ES" sz="2600" dirty="0"/>
                  <a:t>víctima va a realizar un </a:t>
                </a:r>
                <a:r>
                  <a:rPr lang="es-ES" sz="2600" b="1" dirty="0"/>
                  <a:t>swap</a:t>
                </a:r>
                <a:r>
                  <a:rPr lang="es-ES" sz="2600" dirty="0"/>
                  <a:t> grande de </a:t>
                </a:r>
                <a14:m>
                  <m:oMath xmlns:m="http://schemas.openxmlformats.org/officeDocument/2006/math">
                    <m:r>
                      <a:rPr lang="es-ES" sz="2600" b="1" i="1">
                        <a:latin typeface="Cambria Math" panose="02040503050406030204" pitchFamily="18" charset="0"/>
                      </a:rPr>
                      <m:t>𝒕</m:t>
                    </m:r>
                    <m:r>
                      <a:rPr lang="es-ES" sz="2600" b="1" i="1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s-ES" sz="2600" dirty="0"/>
                  <a:t> a </a:t>
                </a:r>
                <a14:m>
                  <m:oMath xmlns:m="http://schemas.openxmlformats.org/officeDocument/2006/math">
                    <m:r>
                      <a:rPr lang="es-ES" sz="2600" b="1" i="1">
                        <a:latin typeface="Cambria Math" panose="02040503050406030204" pitchFamily="18" charset="0"/>
                      </a:rPr>
                      <m:t>𝒕</m:t>
                    </m:r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s-ES" sz="2600" dirty="0"/>
                  <a:t> (vende </a:t>
                </a:r>
                <a14:m>
                  <m:oMath xmlns:m="http://schemas.openxmlformats.org/officeDocument/2006/math">
                    <m:r>
                      <a:rPr lang="es-ES" sz="2600" b="1" i="1">
                        <a:latin typeface="Cambria Math" panose="02040503050406030204" pitchFamily="18" charset="0"/>
                      </a:rPr>
                      <m:t>𝒕</m:t>
                    </m:r>
                    <m:r>
                      <a:rPr lang="es-ES" sz="2600" b="1" i="1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s-ES" sz="2600" dirty="0"/>
                  <a:t> a cambio de </a:t>
                </a:r>
                <a14:m>
                  <m:oMath xmlns:m="http://schemas.openxmlformats.org/officeDocument/2006/math"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s-ES" sz="2600" dirty="0"/>
                  <a:t>).</a:t>
                </a:r>
              </a:p>
              <a:p>
                <a:pPr>
                  <a:buFont typeface="Wingdings" panose="05000000000000000000" pitchFamily="2" charset="2"/>
                  <a:buChar char="q"/>
                </a:pPr>
                <a:r>
                  <a:rPr lang="es-ES" sz="2600" dirty="0"/>
                  <a:t>Compra el activo </a:t>
                </a:r>
                <a14:m>
                  <m:oMath xmlns:m="http://schemas.openxmlformats.org/officeDocument/2006/math"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s-ES" sz="2600" dirty="0"/>
                  <a:t> antes de que se ejecute el </a:t>
                </a:r>
                <a:r>
                  <a:rPr lang="es-ES" sz="2600" b="1" dirty="0"/>
                  <a:t>swap </a:t>
                </a:r>
                <a:r>
                  <a:rPr lang="es-ES" sz="2600" dirty="0"/>
                  <a:t>de la víctima y </a:t>
                </a:r>
                <a14:m>
                  <m:oMath xmlns:m="http://schemas.openxmlformats.org/officeDocument/2006/math">
                    <m:r>
                      <a:rPr lang="es-ES" sz="2600" b="1" i="1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s-ES" sz="2600" dirty="0"/>
                  <a:t> suba de precio.</a:t>
                </a:r>
              </a:p>
              <a:p>
                <a:pPr>
                  <a:buFont typeface="Wingdings" panose="05000000000000000000" pitchFamily="2" charset="2"/>
                  <a:buChar char="q"/>
                </a:pPr>
                <a:r>
                  <a:rPr lang="es-ES" sz="2600" dirty="0"/>
                  <a:t>La víctima obtiene menor cantidad de </a:t>
                </a:r>
                <a14:m>
                  <m:oMath xmlns:m="http://schemas.openxmlformats.org/officeDocument/2006/math">
                    <m:r>
                      <a:rPr lang="es-ES" sz="2600" b="1" i="1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s-ES" sz="2600" dirty="0"/>
                  <a:t> porque el atacante lo subió levemente de precio.</a:t>
                </a:r>
              </a:p>
              <a:p>
                <a:pPr>
                  <a:buFont typeface="Wingdings" panose="05000000000000000000" pitchFamily="2" charset="2"/>
                  <a:buChar char="q"/>
                </a:pPr>
                <a:r>
                  <a:rPr lang="es-ES" sz="2600" dirty="0"/>
                  <a:t>El atacante aprovecha que </a:t>
                </a:r>
                <a14:m>
                  <m:oMath xmlns:m="http://schemas.openxmlformats.org/officeDocument/2006/math">
                    <m:r>
                      <a:rPr lang="es-ES" sz="2600" b="1" i="1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s-ES" sz="2600" dirty="0"/>
                  <a:t> está barato, utiliza el activo </a:t>
                </a:r>
                <a14:m>
                  <m:oMath xmlns:m="http://schemas.openxmlformats.org/officeDocument/2006/math"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s-ES" sz="2600" dirty="0"/>
                  <a:t> que compró antes para comprar </a:t>
                </a:r>
                <a14:m>
                  <m:oMath xmlns:m="http://schemas.openxmlformats.org/officeDocument/2006/math">
                    <m:r>
                      <a:rPr lang="es-ES" sz="2600" b="1" i="1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s-ES" sz="2600" dirty="0"/>
                  <a:t>, recuperando la inversión y obteniendo ganancias seguras.</a:t>
                </a:r>
              </a:p>
            </p:txBody>
          </p:sp>
        </mc:Choice>
        <mc:Fallback>
          <p:sp>
            <p:nvSpPr>
              <p:cNvPr id="4" name="Marcador de contenido 2">
                <a:extLst>
                  <a:ext uri="{FF2B5EF4-FFF2-40B4-BE49-F238E27FC236}">
                    <a16:creationId xmlns:a16="http://schemas.microsoft.com/office/drawing/2014/main" id="{5617BE6D-92D7-9703-EC2C-8AB95D13DE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360" y="1196857"/>
                <a:ext cx="9950103" cy="5250425"/>
              </a:xfrm>
              <a:prstGeom prst="rect">
                <a:avLst/>
              </a:prstGeom>
              <a:blipFill>
                <a:blip r:embed="rId3"/>
                <a:stretch>
                  <a:fillRect l="-980" t="-928" r="-490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797364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66AD1-EB9F-B4A3-4A0C-FAF6E25A5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257464-7C0F-71D7-1F93-87129A39E5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361" y="410718"/>
            <a:ext cx="9950103" cy="710160"/>
          </a:xfrm>
        </p:spPr>
        <p:txBody>
          <a:bodyPr anchor="t"/>
          <a:lstStyle/>
          <a:p>
            <a:r>
              <a:rPr lang="en-US" dirty="0"/>
              <a:t>Uniswap: </a:t>
            </a:r>
            <a:r>
              <a:rPr lang="en-US" dirty="0" err="1"/>
              <a:t>Desventajas</a:t>
            </a:r>
            <a:endParaRPr lang="es-E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8ADA069B-C920-36B9-810E-81F991091E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77360" y="1120878"/>
                <a:ext cx="9950103" cy="5250425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s-ES" sz="2600" b="1" dirty="0"/>
                  <a:t>Ejemplo de </a:t>
                </a:r>
                <a:r>
                  <a:rPr lang="es-ES" sz="2600" b="1" dirty="0" err="1"/>
                  <a:t>Sandwich</a:t>
                </a:r>
                <a:r>
                  <a:rPr lang="es-ES" sz="2600" b="1" dirty="0"/>
                  <a:t> </a:t>
                </a:r>
                <a:r>
                  <a:rPr lang="es-ES" sz="2600" b="1" dirty="0" err="1"/>
                  <a:t>Attack</a:t>
                </a:r>
                <a:r>
                  <a:rPr lang="es-ES" sz="2600" b="1" dirty="0"/>
                  <a:t> </a:t>
                </a:r>
                <a:r>
                  <a:rPr lang="es-ES" sz="2600" b="1" dirty="0">
                    <a:solidFill>
                      <a:srgbClr val="C00000"/>
                    </a:solidFill>
                  </a:rPr>
                  <a:t>(con valores aproximados)</a:t>
                </a:r>
              </a:p>
              <a:p>
                <a:pPr>
                  <a:buFont typeface="Wingdings" panose="05000000000000000000" pitchFamily="2" charset="2"/>
                  <a:buChar char="q"/>
                </a:pPr>
                <a:r>
                  <a:rPr lang="en-US" sz="2600" noProof="0" dirty="0"/>
                  <a:t>En </a:t>
                </a:r>
                <a:r>
                  <a:rPr lang="en-US" sz="2600" noProof="0" dirty="0" err="1"/>
                  <a:t>una</a:t>
                </a:r>
                <a:r>
                  <a:rPr lang="en-US" sz="2600" noProof="0" dirty="0"/>
                  <a:t> pool de </a:t>
                </a:r>
                <a14:m>
                  <m:oMath xmlns:m="http://schemas.openxmlformats.org/officeDocument/2006/math"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𝟏𝟎𝟎</m:t>
                    </m:r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𝑬𝑻𝑯</m:t>
                    </m:r>
                  </m:oMath>
                </a14:m>
                <a:r>
                  <a:rPr lang="en-US" sz="2600" noProof="0" dirty="0"/>
                  <a:t> y </a:t>
                </a:r>
                <a14:m>
                  <m:oMath xmlns:m="http://schemas.openxmlformats.org/officeDocument/2006/math"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𝟐𝟎𝟎𝟎</m:t>
                    </m:r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𝑫𝑨𝑰</m:t>
                    </m:r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𝑬𝑻𝑯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𝟐𝟎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𝑫𝑨𝑰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600" noProof="0" dirty="0"/>
                  <a:t> la v</a:t>
                </a:r>
                <a:r>
                  <a:rPr lang="es-ES" sz="2600" noProof="0" dirty="0" err="1"/>
                  <a:t>íctima</a:t>
                </a:r>
                <a:r>
                  <a:rPr lang="es-ES" sz="2600" noProof="0" dirty="0"/>
                  <a:t> va a </a:t>
                </a:r>
                <a:r>
                  <a:rPr lang="es-ES" sz="2600" noProof="0" dirty="0" err="1"/>
                  <a:t>swapear</a:t>
                </a:r>
                <a:r>
                  <a:rPr lang="es-ES" sz="2600" noProof="0" dirty="0"/>
                  <a:t> </a:t>
                </a:r>
                <a14:m>
                  <m:oMath xmlns:m="http://schemas.openxmlformats.org/officeDocument/2006/math">
                    <m:r>
                      <a:rPr lang="es-ES" sz="2600" b="1" i="1">
                        <a:latin typeface="Cambria Math" panose="02040503050406030204" pitchFamily="18" charset="0"/>
                      </a:rPr>
                      <m:t>𝟏𝟎</m:t>
                    </m:r>
                    <m:r>
                      <a:rPr lang="es-ES" sz="2600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s-ES" sz="2600" b="1" i="1">
                        <a:latin typeface="Cambria Math" panose="02040503050406030204" pitchFamily="18" charset="0"/>
                      </a:rPr>
                      <m:t>𝑬𝑻𝑯</m:t>
                    </m:r>
                  </m:oMath>
                </a14:m>
                <a:r>
                  <a:rPr lang="en-US" sz="2600" noProof="0" dirty="0"/>
                  <a:t> por </a:t>
                </a:r>
                <a14:m>
                  <m:oMath xmlns:m="http://schemas.openxmlformats.org/officeDocument/2006/math"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𝟐𝟎𝟎</m:t>
                    </m:r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𝑫𝑨𝑰</m:t>
                    </m:r>
                  </m:oMath>
                </a14:m>
                <a:r>
                  <a:rPr lang="en-US" sz="2600" noProof="0" dirty="0"/>
                  <a:t>.</a:t>
                </a:r>
              </a:p>
              <a:p>
                <a:pPr>
                  <a:buFont typeface="Wingdings" panose="05000000000000000000" pitchFamily="2" charset="2"/>
                  <a:buChar char="q"/>
                </a:pPr>
                <a:r>
                  <a:rPr lang="en-US" sz="2600" noProof="0" dirty="0"/>
                  <a:t>El </a:t>
                </a:r>
                <a:r>
                  <a:rPr lang="en-US" sz="2600" noProof="0" dirty="0" err="1"/>
                  <a:t>atacante</a:t>
                </a:r>
                <a:r>
                  <a:rPr lang="en-US" sz="2600" noProof="0" dirty="0"/>
                  <a:t> </a:t>
                </a:r>
                <a:r>
                  <a:rPr lang="en-US" sz="2600" noProof="0" dirty="0" err="1"/>
                  <a:t>hace</a:t>
                </a:r>
                <a:r>
                  <a:rPr lang="en-US" sz="2600" noProof="0" dirty="0"/>
                  <a:t> un </a:t>
                </a:r>
                <a:r>
                  <a:rPr lang="en-US" sz="2600" b="1" noProof="0" dirty="0"/>
                  <a:t>front-run</a:t>
                </a:r>
                <a:r>
                  <a:rPr lang="en-US" sz="2600" noProof="0" dirty="0"/>
                  <a:t>: </a:t>
                </a:r>
                <a:r>
                  <a:rPr lang="en-US" sz="2600" noProof="0" dirty="0" err="1"/>
                  <a:t>Swapea</a:t>
                </a:r>
                <a:r>
                  <a:rPr lang="en-US" sz="2600" noProof="0" dirty="0"/>
                  <a:t> </a:t>
                </a:r>
                <a14:m>
                  <m:oMath xmlns:m="http://schemas.openxmlformats.org/officeDocument/2006/math"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𝟐</m:t>
                    </m:r>
                    <m:r>
                      <a:rPr lang="es-ES" sz="2600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s-ES" sz="2600" b="1" i="1">
                        <a:latin typeface="Cambria Math" panose="02040503050406030204" pitchFamily="18" charset="0"/>
                      </a:rPr>
                      <m:t>𝑬𝑻𝑯</m:t>
                    </m:r>
                  </m:oMath>
                </a14:m>
                <a:r>
                  <a:rPr lang="en-US" sz="2600" dirty="0"/>
                  <a:t> por </a:t>
                </a:r>
                <a14:m>
                  <m:oMath xmlns:m="http://schemas.openxmlformats.org/officeDocument/2006/math"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𝟒</m:t>
                    </m:r>
                    <m:r>
                      <a:rPr lang="es-ES" sz="2600" b="1" i="1">
                        <a:latin typeface="Cambria Math" panose="02040503050406030204" pitchFamily="18" charset="0"/>
                      </a:rPr>
                      <m:t>𝟎</m:t>
                    </m:r>
                    <m:r>
                      <a:rPr lang="es-ES" sz="2600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s-ES" sz="2600" b="1" i="1">
                        <a:latin typeface="Cambria Math" panose="02040503050406030204" pitchFamily="18" charset="0"/>
                      </a:rPr>
                      <m:t>𝑫𝑨𝑰</m:t>
                    </m:r>
                  </m:oMath>
                </a14:m>
                <a:r>
                  <a:rPr lang="en-US" sz="2600" noProof="0" dirty="0"/>
                  <a:t> al </a:t>
                </a:r>
                <a:r>
                  <a:rPr lang="en-US" sz="2600" noProof="0" dirty="0" err="1"/>
                  <a:t>precio</a:t>
                </a:r>
                <a:r>
                  <a:rPr lang="en-US" sz="2600" noProof="0" dirty="0"/>
                  <a:t> actual. La pool </a:t>
                </a:r>
                <a:r>
                  <a:rPr lang="en-US" sz="2600" noProof="0" dirty="0" err="1"/>
                  <a:t>ahora</a:t>
                </a:r>
                <a:r>
                  <a:rPr lang="en-US" sz="2600" noProof="0" dirty="0"/>
                  <a:t> </a:t>
                </a:r>
                <a:r>
                  <a:rPr lang="en-US" sz="2600" noProof="0" dirty="0" err="1"/>
                  <a:t>tiene</a:t>
                </a:r>
                <a:r>
                  <a:rPr lang="en-US" sz="2600" noProof="0" dirty="0"/>
                  <a:t> </a:t>
                </a:r>
                <a14:m>
                  <m:oMath xmlns:m="http://schemas.openxmlformats.org/officeDocument/2006/math">
                    <m:r>
                      <a:rPr lang="es-ES" sz="2600" b="1" i="1">
                        <a:latin typeface="Cambria Math" panose="02040503050406030204" pitchFamily="18" charset="0"/>
                      </a:rPr>
                      <m:t>𝟏𝟎</m:t>
                    </m:r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𝟐</m:t>
                    </m:r>
                    <m:r>
                      <a:rPr lang="es-ES" sz="2600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s-ES" sz="2600" b="1" i="1">
                        <a:latin typeface="Cambria Math" panose="02040503050406030204" pitchFamily="18" charset="0"/>
                      </a:rPr>
                      <m:t>𝑬𝑻𝑯</m:t>
                    </m:r>
                  </m:oMath>
                </a14:m>
                <a:r>
                  <a:rPr lang="en-US" sz="2600" dirty="0"/>
                  <a:t> y </a:t>
                </a:r>
                <a14:m>
                  <m:oMath xmlns:m="http://schemas.openxmlformats.org/officeDocument/2006/math"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𝟏𝟗𝟔𝟎</m:t>
                    </m:r>
                    <m:r>
                      <a:rPr lang="es-ES" sz="2600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s-ES" sz="2600" b="1" i="1">
                        <a:latin typeface="Cambria Math" panose="02040503050406030204" pitchFamily="18" charset="0"/>
                      </a:rPr>
                      <m:t>𝑫𝑨𝑰</m:t>
                    </m:r>
                    <m:r>
                      <a:rPr lang="es-ES" sz="2600" b="1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s-ES" sz="26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2600" b="1" i="1"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s-ES" sz="2600" b="1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s-ES" sz="2600" b="1" i="1">
                            <a:latin typeface="Cambria Math" panose="02040503050406030204" pitchFamily="18" charset="0"/>
                          </a:rPr>
                          <m:t>𝑬𝑻𝑯</m:t>
                        </m:r>
                        <m:r>
                          <a:rPr lang="en-US" sz="2600" b="1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s-ES" sz="2600" b="1" i="1" smtClean="0">
                            <a:latin typeface="Cambria Math" panose="02040503050406030204" pitchFamily="18" charset="0"/>
                          </a:rPr>
                          <m:t>𝟏𝟗</m:t>
                        </m:r>
                        <m:r>
                          <a:rPr lang="en-US" sz="2600" b="1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600" b="1" i="1">
                            <a:latin typeface="Cambria Math" panose="02040503050406030204" pitchFamily="18" charset="0"/>
                          </a:rPr>
                          <m:t>𝑫𝑨𝑰</m:t>
                        </m:r>
                      </m:e>
                    </m:d>
                    <m:r>
                      <a:rPr lang="es-ES" sz="2600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2600" noProof="0" dirty="0"/>
              </a:p>
              <a:p>
                <a:pPr>
                  <a:buFont typeface="Wingdings" panose="05000000000000000000" pitchFamily="2" charset="2"/>
                  <a:buChar char="q"/>
                </a:pPr>
                <a:r>
                  <a:rPr lang="en-US" sz="2600" noProof="0" dirty="0"/>
                  <a:t>Se </a:t>
                </a:r>
                <a:r>
                  <a:rPr lang="en-US" sz="2600" noProof="0" dirty="0" err="1"/>
                  <a:t>ejecuta</a:t>
                </a:r>
                <a:r>
                  <a:rPr lang="en-US" sz="2600" noProof="0" dirty="0"/>
                  <a:t> </a:t>
                </a:r>
                <a:r>
                  <a:rPr lang="en-US" sz="2600" noProof="0" dirty="0" err="1"/>
                  <a:t>el</a:t>
                </a:r>
                <a:r>
                  <a:rPr lang="en-US" sz="2600" noProof="0" dirty="0"/>
                  <a:t> </a:t>
                </a:r>
                <a:r>
                  <a:rPr lang="en-US" sz="2600" noProof="0" dirty="0" err="1"/>
                  <a:t>intercambio</a:t>
                </a:r>
                <a:r>
                  <a:rPr lang="en-US" sz="2600" noProof="0" dirty="0"/>
                  <a:t> de la </a:t>
                </a:r>
                <a:r>
                  <a:rPr lang="en-US" sz="2600" noProof="0" dirty="0" err="1"/>
                  <a:t>víctima</a:t>
                </a:r>
                <a:r>
                  <a:rPr lang="en-US" sz="2600" noProof="0" dirty="0"/>
                  <a:t> y </a:t>
                </a:r>
                <a:r>
                  <a:rPr lang="en-US" sz="2600" noProof="0" dirty="0" err="1"/>
                  <a:t>obtiene</a:t>
                </a:r>
                <a:r>
                  <a:rPr lang="en-US" sz="2600" noProof="0" dirty="0"/>
                  <a:t> </a:t>
                </a:r>
                <a14:m>
                  <m:oMath xmlns:m="http://schemas.openxmlformats.org/officeDocument/2006/math"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𝟏𝟗</m:t>
                    </m:r>
                    <m:r>
                      <a:rPr lang="es-ES" sz="2600" b="1" i="1">
                        <a:latin typeface="Cambria Math" panose="02040503050406030204" pitchFamily="18" charset="0"/>
                      </a:rPr>
                      <m:t>𝟎</m:t>
                    </m:r>
                    <m:r>
                      <a:rPr lang="es-ES" sz="2600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s-ES" sz="2600" b="1" i="1">
                        <a:latin typeface="Cambria Math" panose="02040503050406030204" pitchFamily="18" charset="0"/>
                      </a:rPr>
                      <m:t>𝑫𝑨𝑰</m:t>
                    </m:r>
                  </m:oMath>
                </a14:m>
                <a:r>
                  <a:rPr lang="en-US" sz="2600" noProof="0" dirty="0"/>
                  <a:t>. La </a:t>
                </a:r>
                <a:r>
                  <a:rPr lang="en-US" sz="2600" dirty="0"/>
                  <a:t>pool </a:t>
                </a:r>
                <a:r>
                  <a:rPr lang="en-US" sz="2600" dirty="0" err="1"/>
                  <a:t>queda</a:t>
                </a:r>
                <a:r>
                  <a:rPr lang="en-US" sz="2600" dirty="0"/>
                  <a:t> </a:t>
                </a:r>
                <a:r>
                  <a:rPr lang="en-US" sz="2600" dirty="0" err="1"/>
                  <a:t>en</a:t>
                </a:r>
                <a:r>
                  <a:rPr lang="en-US" sz="2600" dirty="0"/>
                  <a:t> </a:t>
                </a:r>
                <a14:m>
                  <m:oMath xmlns:m="http://schemas.openxmlformats.org/officeDocument/2006/math">
                    <m:r>
                      <a:rPr lang="es-ES" sz="2600" b="1" i="1">
                        <a:latin typeface="Cambria Math" panose="02040503050406030204" pitchFamily="18" charset="0"/>
                      </a:rPr>
                      <m:t>𝟏</m:t>
                    </m:r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s-ES" sz="2600" b="1" i="1">
                        <a:latin typeface="Cambria Math" panose="02040503050406030204" pitchFamily="18" charset="0"/>
                      </a:rPr>
                      <m:t>𝟐</m:t>
                    </m:r>
                    <m:r>
                      <a:rPr lang="es-ES" sz="2600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s-ES" sz="2600" b="1" i="1">
                        <a:latin typeface="Cambria Math" panose="02040503050406030204" pitchFamily="18" charset="0"/>
                      </a:rPr>
                      <m:t>𝑬𝑻𝑯</m:t>
                    </m:r>
                  </m:oMath>
                </a14:m>
                <a:r>
                  <a:rPr lang="en-US" sz="2600" dirty="0"/>
                  <a:t> y </a:t>
                </a:r>
                <a14:m>
                  <m:oMath xmlns:m="http://schemas.openxmlformats.org/officeDocument/2006/math">
                    <m:r>
                      <a:rPr lang="es-ES" sz="2600" b="1" i="1">
                        <a:latin typeface="Cambria Math" panose="02040503050406030204" pitchFamily="18" charset="0"/>
                      </a:rPr>
                      <m:t>𝟏</m:t>
                    </m:r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𝟕𝟕</m:t>
                    </m:r>
                    <m:r>
                      <a:rPr lang="es-ES" sz="2600" b="1" i="1">
                        <a:latin typeface="Cambria Math" panose="02040503050406030204" pitchFamily="18" charset="0"/>
                      </a:rPr>
                      <m:t>𝟎</m:t>
                    </m:r>
                    <m:r>
                      <a:rPr lang="es-ES" sz="2600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s-ES" sz="2600" b="1" i="1">
                        <a:latin typeface="Cambria Math" panose="02040503050406030204" pitchFamily="18" charset="0"/>
                      </a:rPr>
                      <m:t>𝑫𝑨𝑰</m:t>
                    </m:r>
                    <m:r>
                      <a:rPr lang="es-ES" sz="2600" b="1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s-ES" sz="26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2600" b="1" i="1"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s-ES" sz="2600" b="1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s-ES" sz="2600" b="1" i="1">
                            <a:latin typeface="Cambria Math" panose="02040503050406030204" pitchFamily="18" charset="0"/>
                          </a:rPr>
                          <m:t>𝑬𝑻𝑯</m:t>
                        </m:r>
                        <m:r>
                          <a:rPr lang="en-US" sz="2600" b="1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s-ES" sz="2600" b="1" i="1"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s-ES" sz="2600" b="1" i="1" smtClean="0">
                            <a:latin typeface="Cambria Math" panose="02040503050406030204" pitchFamily="18" charset="0"/>
                          </a:rPr>
                          <m:t>𝟓</m:t>
                        </m:r>
                        <m:r>
                          <a:rPr lang="en-US" sz="2600" b="1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600" b="1" i="1">
                            <a:latin typeface="Cambria Math" panose="02040503050406030204" pitchFamily="18" charset="0"/>
                          </a:rPr>
                          <m:t>𝑫𝑨𝑰</m:t>
                        </m:r>
                      </m:e>
                    </m:d>
                    <m:r>
                      <a:rPr lang="es-ES" sz="260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s-ES" sz="2600" noProof="0" dirty="0"/>
              </a:p>
              <a:p>
                <a:pPr>
                  <a:buFont typeface="Wingdings" panose="05000000000000000000" pitchFamily="2" charset="2"/>
                  <a:buChar char="q"/>
                </a:pPr>
                <a:r>
                  <a:rPr lang="es-ES" sz="2600" dirty="0"/>
                  <a:t>Con el </a:t>
                </a:r>
                <a:r>
                  <a:rPr lang="es-ES" sz="2600" b="1" dirty="0"/>
                  <a:t>ETH</a:t>
                </a:r>
                <a:r>
                  <a:rPr lang="es-ES" sz="2600" dirty="0"/>
                  <a:t> barato, el atacante hace un </a:t>
                </a:r>
                <a:r>
                  <a:rPr lang="es-ES" sz="2600" b="1" dirty="0"/>
                  <a:t>back</a:t>
                </a:r>
                <a:r>
                  <a:rPr lang="en-US" sz="2600" b="1" dirty="0"/>
                  <a:t>-run</a:t>
                </a:r>
                <a:r>
                  <a:rPr lang="es-ES" sz="2600" b="1" dirty="0"/>
                  <a:t> </a:t>
                </a:r>
                <a:r>
                  <a:rPr lang="es-ES" sz="2600" dirty="0"/>
                  <a:t>y usa los </a:t>
                </a:r>
                <a14:m>
                  <m:oMath xmlns:m="http://schemas.openxmlformats.org/officeDocument/2006/math">
                    <m:r>
                      <a:rPr lang="es-ES" sz="2600" b="1" i="1">
                        <a:latin typeface="Cambria Math" panose="02040503050406030204" pitchFamily="18" charset="0"/>
                      </a:rPr>
                      <m:t>𝟒</m:t>
                    </m:r>
                    <m:r>
                      <a:rPr lang="es-ES" sz="2600" b="1" i="1">
                        <a:latin typeface="Cambria Math" panose="02040503050406030204" pitchFamily="18" charset="0"/>
                      </a:rPr>
                      <m:t>𝟎</m:t>
                    </m:r>
                    <m:r>
                      <a:rPr lang="es-ES" sz="2600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s-ES" sz="2600" b="1" i="1">
                        <a:latin typeface="Cambria Math" panose="02040503050406030204" pitchFamily="18" charset="0"/>
                      </a:rPr>
                      <m:t>𝑫𝑨𝑰</m:t>
                    </m:r>
                  </m:oMath>
                </a14:m>
                <a:r>
                  <a:rPr lang="en-US" sz="2600" dirty="0"/>
                  <a:t> que </a:t>
                </a:r>
                <a:r>
                  <a:rPr lang="en-US" sz="2600" dirty="0" err="1"/>
                  <a:t>compró</a:t>
                </a:r>
                <a:r>
                  <a:rPr lang="en-US" sz="2600" dirty="0"/>
                  <a:t> para </a:t>
                </a:r>
                <a:r>
                  <a:rPr lang="en-US" sz="2600" dirty="0" err="1"/>
                  <a:t>recuperar</a:t>
                </a:r>
                <a:r>
                  <a:rPr lang="en-US" sz="2600" dirty="0"/>
                  <a:t> sus </a:t>
                </a:r>
                <a14:m>
                  <m:oMath xmlns:m="http://schemas.openxmlformats.org/officeDocument/2006/math"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𝟐</m:t>
                    </m:r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𝑬𝑻𝑯</m:t>
                    </m:r>
                  </m:oMath>
                </a14:m>
                <a:r>
                  <a:rPr lang="es-ES" sz="2600" noProof="0" dirty="0"/>
                  <a:t>: Gasta </a:t>
                </a:r>
                <a14:m>
                  <m:oMath xmlns:m="http://schemas.openxmlformats.org/officeDocument/2006/math">
                    <m:r>
                      <a:rPr lang="es-ES" sz="2600" b="1" i="1">
                        <a:latin typeface="Cambria Math" panose="02040503050406030204" pitchFamily="18" charset="0"/>
                      </a:rPr>
                      <m:t>𝟒</m:t>
                    </m:r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𝟓</m:t>
                    </m:r>
                    <m:r>
                      <a:rPr lang="es-ES" sz="2600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s-ES" sz="2600" b="1" i="1">
                        <a:latin typeface="Cambria Math" panose="02040503050406030204" pitchFamily="18" charset="0"/>
                      </a:rPr>
                      <m:t>𝑫𝑨𝑰</m:t>
                    </m:r>
                  </m:oMath>
                </a14:m>
                <a:r>
                  <a:rPr lang="en-US" sz="2600" dirty="0"/>
                  <a:t> y </a:t>
                </a:r>
                <a:r>
                  <a:rPr lang="en-US" sz="2600" dirty="0" err="1"/>
                  <a:t>compra</a:t>
                </a:r>
                <a:r>
                  <a:rPr lang="en-US" sz="2600" dirty="0"/>
                  <a:t> </a:t>
                </a:r>
                <a14:m>
                  <m:oMath xmlns:m="http://schemas.openxmlformats.org/officeDocument/2006/math"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𝟑</m:t>
                    </m:r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𝑬𝑻𝑯</m:t>
                    </m:r>
                  </m:oMath>
                </a14:m>
                <a:r>
                  <a:rPr lang="es-ES" sz="2600" noProof="0" dirty="0"/>
                  <a:t>, recuperando la inversión y obteniendo ganancia de </a:t>
                </a:r>
                <a14:m>
                  <m:oMath xmlns:m="http://schemas.openxmlformats.org/officeDocument/2006/math"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𝑬𝑻𝑯</m:t>
                    </m:r>
                  </m:oMath>
                </a14:m>
                <a:r>
                  <a:rPr lang="es-ES" sz="2600" noProof="0" dirty="0"/>
                  <a:t>, cuando antes hubiera tenido que gastar </a:t>
                </a:r>
                <a14:m>
                  <m:oMath xmlns:m="http://schemas.openxmlformats.org/officeDocument/2006/math"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𝟔𝟎</m:t>
                    </m:r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600" b="1" i="1">
                        <a:latin typeface="Cambria Math" panose="02040503050406030204" pitchFamily="18" charset="0"/>
                      </a:rPr>
                      <m:t>𝑫𝑨𝑰</m:t>
                    </m:r>
                  </m:oMath>
                </a14:m>
                <a:r>
                  <a:rPr lang="es-ES" sz="2600" noProof="0" dirty="0"/>
                  <a:t> para comprar </a:t>
                </a:r>
                <a14:m>
                  <m:oMath xmlns:m="http://schemas.openxmlformats.org/officeDocument/2006/math"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𝟑</m:t>
                    </m:r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s-ES" sz="2600" b="1" i="1" smtClean="0">
                        <a:latin typeface="Cambria Math" panose="02040503050406030204" pitchFamily="18" charset="0"/>
                      </a:rPr>
                      <m:t>𝑬𝑻𝑯</m:t>
                    </m:r>
                  </m:oMath>
                </a14:m>
                <a:r>
                  <a:rPr lang="es-ES" sz="2600" noProof="0" dirty="0"/>
                  <a:t>.</a:t>
                </a:r>
              </a:p>
            </p:txBody>
          </p:sp>
        </mc:Choice>
        <mc:Fallback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8ADA069B-C920-36B9-810E-81F991091E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77360" y="1120878"/>
                <a:ext cx="9950103" cy="5250425"/>
              </a:xfrm>
              <a:blipFill>
                <a:blip r:embed="rId2"/>
                <a:stretch>
                  <a:fillRect l="-858" t="-697" r="-1164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42616016"/>
      </p:ext>
    </p:extLst>
  </p:cSld>
  <p:clrMapOvr>
    <a:masterClrMapping/>
  </p:clrMapOvr>
</p:sld>
</file>

<file path=ppt/theme/theme1.xml><?xml version="1.0" encoding="utf-8"?>
<a:theme xmlns:a="http://schemas.openxmlformats.org/drawingml/2006/main" name="BlocksVTI">
  <a:themeElements>
    <a:clrScheme name="Blocks">
      <a:dk1>
        <a:sysClr val="windowText" lastClr="000000"/>
      </a:dk1>
      <a:lt1>
        <a:sysClr val="window" lastClr="FFFFFF"/>
      </a:lt1>
      <a:dk2>
        <a:srgbClr val="1B3843"/>
      </a:dk2>
      <a:lt2>
        <a:srgbClr val="F2F3F1"/>
      </a:lt2>
      <a:accent1>
        <a:srgbClr val="7A8592"/>
      </a:accent1>
      <a:accent2>
        <a:srgbClr val="8C8C96"/>
      </a:accent2>
      <a:accent3>
        <a:srgbClr val="7A6C76"/>
      </a:accent3>
      <a:accent4>
        <a:srgbClr val="A7AA9D"/>
      </a:accent4>
      <a:accent5>
        <a:srgbClr val="63787F"/>
      </a:accent5>
      <a:accent6>
        <a:srgbClr val="889DA5"/>
      </a:accent6>
      <a:hlink>
        <a:srgbClr val="71819B"/>
      </a:hlink>
      <a:folHlink>
        <a:srgbClr val="7E8B85"/>
      </a:folHlink>
    </a:clrScheme>
    <a:fontScheme name="Avenir">
      <a:majorFont>
        <a:latin typeface="Avenir Next LT Pro"/>
        <a:ea typeface=""/>
        <a:cs typeface=""/>
      </a:majorFont>
      <a:minorFont>
        <a:latin typeface="Avenir Next LT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ocksVTI" id="{31656FE6-20D8-4105-85EA-706EC9332BE9}" vid="{039DFFC9-9B25-4063-9235-B287A446F509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1627</TotalTime>
  <Words>2005</Words>
  <Application>Microsoft Office PowerPoint</Application>
  <PresentationFormat>Panorámica</PresentationFormat>
  <Paragraphs>185</Paragraphs>
  <Slides>27</Slides>
  <Notes>5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27</vt:i4>
      </vt:variant>
    </vt:vector>
  </HeadingPairs>
  <TitlesOfParts>
    <vt:vector size="32" baseType="lpstr">
      <vt:lpstr>Aptos</vt:lpstr>
      <vt:lpstr>Arial</vt:lpstr>
      <vt:lpstr>Cambria Math</vt:lpstr>
      <vt:lpstr>Wingdings</vt:lpstr>
      <vt:lpstr>BlocksVTI</vt:lpstr>
      <vt:lpstr>Automated Market Makers</vt:lpstr>
      <vt:lpstr>Automated Market Makers</vt:lpstr>
      <vt:lpstr>Automated Market Makers</vt:lpstr>
      <vt:lpstr>Tipos de Exchanges</vt:lpstr>
      <vt:lpstr>Tipos de Exchanges</vt:lpstr>
      <vt:lpstr>Tipos de Exchanges</vt:lpstr>
      <vt:lpstr>Automated Market Makers</vt:lpstr>
      <vt:lpstr>Constant Product Market Maker Model</vt:lpstr>
      <vt:lpstr>Constant Product Market Maker Model</vt:lpstr>
      <vt:lpstr>Constant Product Market Maker Model</vt:lpstr>
      <vt:lpstr>Constant Product Market Maker Model</vt:lpstr>
      <vt:lpstr>Constant Product Market Maker Model</vt:lpstr>
      <vt:lpstr>Automated Market Makers</vt:lpstr>
      <vt:lpstr>Constant Product Market Maker Model</vt:lpstr>
      <vt:lpstr>Constant Product Market Maker Model</vt:lpstr>
      <vt:lpstr>Constant Product Market Maker Model</vt:lpstr>
      <vt:lpstr>Automated Market Makers</vt:lpstr>
      <vt:lpstr>Constant Product Market Maker Model</vt:lpstr>
      <vt:lpstr>Constant Product Market Maker Model</vt:lpstr>
      <vt:lpstr>Constant Product Market Maker Model</vt:lpstr>
      <vt:lpstr>Automated Market Makers</vt:lpstr>
      <vt:lpstr>Uniswap</vt:lpstr>
      <vt:lpstr>Automated Market Makers</vt:lpstr>
      <vt:lpstr>Uniswap: Desventajas</vt:lpstr>
      <vt:lpstr>Uniswap: Desventajas</vt:lpstr>
      <vt:lpstr>Uniswap: Desventajas</vt:lpstr>
      <vt:lpstr>Uniswap: Desventajas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Abril Elisiri</dc:creator>
  <cp:lastModifiedBy>Abril Elisiri</cp:lastModifiedBy>
  <cp:revision>4</cp:revision>
  <dcterms:created xsi:type="dcterms:W3CDTF">2025-12-05T15:07:10Z</dcterms:created>
  <dcterms:modified xsi:type="dcterms:W3CDTF">2025-12-06T21:08:13Z</dcterms:modified>
</cp:coreProperties>
</file>