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31"/>
  </p:notesMasterIdLst>
  <p:sldIdLst>
    <p:sldId id="256" r:id="rId2"/>
    <p:sldId id="294" r:id="rId3"/>
    <p:sldId id="295" r:id="rId4"/>
    <p:sldId id="258" r:id="rId5"/>
    <p:sldId id="263" r:id="rId6"/>
    <p:sldId id="264" r:id="rId7"/>
    <p:sldId id="296" r:id="rId8"/>
    <p:sldId id="293" r:id="rId9"/>
    <p:sldId id="265" r:id="rId10"/>
    <p:sldId id="269" r:id="rId11"/>
    <p:sldId id="297" r:id="rId12"/>
    <p:sldId id="271" r:id="rId13"/>
    <p:sldId id="273" r:id="rId14"/>
    <p:sldId id="272" r:id="rId15"/>
    <p:sldId id="292" r:id="rId16"/>
    <p:sldId id="270" r:id="rId17"/>
    <p:sldId id="274" r:id="rId18"/>
    <p:sldId id="275" r:id="rId19"/>
    <p:sldId id="291" r:id="rId20"/>
    <p:sldId id="276" r:id="rId21"/>
    <p:sldId id="278" r:id="rId22"/>
    <p:sldId id="279" r:id="rId23"/>
    <p:sldId id="290" r:id="rId24"/>
    <p:sldId id="282" r:id="rId25"/>
    <p:sldId id="287" r:id="rId26"/>
    <p:sldId id="284" r:id="rId27"/>
    <p:sldId id="286" r:id="rId28"/>
    <p:sldId id="288" r:id="rId29"/>
    <p:sldId id="289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F123A26-A142-4BE2-B140-FA2E5ED73703}">
          <p14:sldIdLst>
            <p14:sldId id="256"/>
            <p14:sldId id="294"/>
            <p14:sldId id="295"/>
            <p14:sldId id="258"/>
            <p14:sldId id="263"/>
            <p14:sldId id="264"/>
            <p14:sldId id="296"/>
            <p14:sldId id="293"/>
            <p14:sldId id="265"/>
            <p14:sldId id="269"/>
            <p14:sldId id="297"/>
            <p14:sldId id="271"/>
            <p14:sldId id="273"/>
            <p14:sldId id="272"/>
            <p14:sldId id="292"/>
            <p14:sldId id="270"/>
            <p14:sldId id="274"/>
            <p14:sldId id="275"/>
            <p14:sldId id="291"/>
            <p14:sldId id="276"/>
            <p14:sldId id="278"/>
            <p14:sldId id="279"/>
            <p14:sldId id="290"/>
            <p14:sldId id="282"/>
            <p14:sldId id="287"/>
            <p14:sldId id="284"/>
            <p14:sldId id="286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1FA8D-B60B-4538-ABC7-436764FCB4D8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58D99-116B-43CA-B39C-69B46296A3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99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58D99-116B-43CA-B39C-69B46296A373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76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C373-9367-FFFC-18F3-B0EC242A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D5BA2E-96EE-C305-F953-7AFC7D7CB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63429F-50D7-B2D1-9E50-7644ADF7B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F9D93-220E-378B-A8A7-3FA3B8154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58D99-116B-43CA-B39C-69B46296A373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949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A456-C374-31D0-997F-E89DDA9C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B80ED8-0102-F55D-B23A-4EA6BA962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A956A5-1FD9-F2F5-4F71-D973DFA10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0F4CD8-C22D-5C0D-DEC7-098E552E0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58D99-116B-43CA-B39C-69B46296A373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261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C685-5A69-9A2E-5521-DA19B5937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ABBC3A-DBAA-EF80-C2FB-C9ACFA529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E3D25E-66FA-CCB8-BC9F-EE9C7DCCA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BA9A5A-963E-47B8-3FE6-11D28DA26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58D99-116B-43CA-B39C-69B46296A373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736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D0C36-0FBB-A271-5944-395AB8F9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1C6633-FC21-ED7F-D148-9EC5779D5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02DB12-BBE0-77CA-F49D-6D2670DB8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C61B8B-BFE6-BF5E-08D4-9D33183D0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58D99-116B-43CA-B39C-69B46296A373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045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497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6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2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4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2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9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1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5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8C28A28C-4C6A-46EA-90C0-4EE0B89CC5C7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DEF7F31-0B8A-474A-B86C-91F3817543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41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96F4257-8A8B-4687-A362-2FB0FD5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4934CB-326A-529A-3C85-6B11903F6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82" y="1702177"/>
            <a:ext cx="4914709" cy="3162300"/>
          </a:xfrm>
        </p:spPr>
        <p:txBody>
          <a:bodyPr anchor="t">
            <a:normAutofit/>
          </a:bodyPr>
          <a:lstStyle/>
          <a:p>
            <a:pPr algn="ctr"/>
            <a:r>
              <a:rPr lang="en-US" sz="4500" dirty="0">
                <a:latin typeface="Arial" panose="020B0604020202020204" pitchFamily="34" charset="0"/>
                <a:cs typeface="Arial" panose="020B0604020202020204" pitchFamily="34" charset="0"/>
              </a:rPr>
              <a:t>Automated Market Makers</a:t>
            </a:r>
            <a:endParaRPr lang="es-ES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A5B048-078F-1782-472D-133C26E1E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019" y="3431191"/>
            <a:ext cx="3231633" cy="985075"/>
          </a:xfrm>
        </p:spPr>
        <p:txBody>
          <a:bodyPr>
            <a:normAutofit/>
          </a:bodyPr>
          <a:lstStyle/>
          <a:p>
            <a:r>
              <a:rPr lang="es-ES" dirty="0"/>
              <a:t>Mateo </a:t>
            </a:r>
            <a:r>
              <a:rPr lang="es-ES" dirty="0" err="1"/>
              <a:t>Cesaroni</a:t>
            </a:r>
            <a:r>
              <a:rPr lang="es-ES" dirty="0"/>
              <a:t> </a:t>
            </a:r>
            <a:r>
              <a:rPr lang="en-US" dirty="0"/>
              <a:t>– Abril Elisiri</a:t>
            </a:r>
            <a:endParaRPr lang="es-E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B7E46-FCBF-464B-8083-9AF1A059E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-1263"/>
            <a:ext cx="3484819" cy="3430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9A868-152F-4392-8D0D-C56B1C229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3429000"/>
            <a:ext cx="3483870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id="{613F7046-4879-4110-98EC-7B7416E55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3582" y="3407228"/>
            <a:ext cx="3428999" cy="3484818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E14A411-88B5-46A6-AD90-72073BCB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9837" y="3431225"/>
            <a:ext cx="3482163" cy="3430264"/>
          </a:xfrm>
          <a:custGeom>
            <a:avLst/>
            <a:gdLst>
              <a:gd name="connsiteX0" fmla="*/ 3478283 w 3482163"/>
              <a:gd name="connsiteY0" fmla="*/ 0 h 3430264"/>
              <a:gd name="connsiteX1" fmla="*/ 3482163 w 3482163"/>
              <a:gd name="connsiteY1" fmla="*/ 0 h 3430264"/>
              <a:gd name="connsiteX2" fmla="*/ 3482163 w 3482163"/>
              <a:gd name="connsiteY2" fmla="*/ 3430264 h 3430264"/>
              <a:gd name="connsiteX3" fmla="*/ 0 w 3482163"/>
              <a:gd name="connsiteY3" fmla="*/ 3430264 h 3430264"/>
              <a:gd name="connsiteX4" fmla="*/ 0 w 3482163"/>
              <a:gd name="connsiteY4" fmla="*/ 3426283 h 3430264"/>
              <a:gd name="connsiteX5" fmla="*/ 335407 w 3482163"/>
              <a:gd name="connsiteY5" fmla="*/ 3410137 h 3430264"/>
              <a:gd name="connsiteX6" fmla="*/ 3473897 w 3482163"/>
              <a:gd name="connsiteY6" fmla="*/ 170675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2163" h="3430264">
                <a:moveTo>
                  <a:pt x="3478283" y="0"/>
                </a:moveTo>
                <a:lnTo>
                  <a:pt x="3482163" y="0"/>
                </a:lnTo>
                <a:lnTo>
                  <a:pt x="3482163" y="3430264"/>
                </a:lnTo>
                <a:lnTo>
                  <a:pt x="0" y="3430264"/>
                </a:lnTo>
                <a:lnTo>
                  <a:pt x="0" y="3426283"/>
                </a:lnTo>
                <a:lnTo>
                  <a:pt x="335407" y="3410137"/>
                </a:lnTo>
                <a:cubicBezTo>
                  <a:pt x="2041201" y="3245035"/>
                  <a:pt x="3386298" y="1871077"/>
                  <a:pt x="3473897" y="17067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3" descr="Una red de puntos conectados">
            <a:extLst>
              <a:ext uri="{FF2B5EF4-FFF2-40B4-BE49-F238E27FC236}">
                <a16:creationId xmlns:a16="http://schemas.microsoft.com/office/drawing/2014/main" id="{3D5C28A0-F9C2-4109-8DA8-C0998B40D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25" r="28186"/>
          <a:stretch>
            <a:fillRect/>
          </a:stretch>
        </p:blipFill>
        <p:spPr>
          <a:xfrm>
            <a:off x="8699542" y="2"/>
            <a:ext cx="3492458" cy="6858001"/>
          </a:xfrm>
          <a:custGeom>
            <a:avLst/>
            <a:gdLst/>
            <a:ahLst/>
            <a:cxnLst/>
            <a:rect l="l" t="t" r="r" b="b"/>
            <a:pathLst>
              <a:path w="3492458" h="6858001">
                <a:moveTo>
                  <a:pt x="0" y="0"/>
                </a:moveTo>
                <a:lnTo>
                  <a:pt x="3492458" y="0"/>
                </a:lnTo>
                <a:lnTo>
                  <a:pt x="3492458" y="3430264"/>
                </a:lnTo>
                <a:lnTo>
                  <a:pt x="3488603" y="3430264"/>
                </a:lnTo>
                <a:lnTo>
                  <a:pt x="3484192" y="3601898"/>
                </a:lnTo>
                <a:cubicBezTo>
                  <a:pt x="3390753" y="5415660"/>
                  <a:pt x="1866561" y="6858001"/>
                  <a:pt x="0" y="6858001"/>
                </a:cubicBezTo>
                <a:lnTo>
                  <a:pt x="0" y="3430264"/>
                </a:lnTo>
                <a:lnTo>
                  <a:pt x="0" y="342524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3061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FC99-F429-7CE7-D974-8EF6315E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74819F-48B3-C692-FF8F-587CE1CBE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/>
              <a:t>Tipos</a:t>
            </a:r>
            <a:r>
              <a:rPr lang="en-US" sz="2400" b="1" dirty="0"/>
              <a:t> de Exchanges</a:t>
            </a:r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Exchanges</a:t>
            </a:r>
            <a:r>
              <a:rPr lang="es-ES" sz="2200" dirty="0"/>
              <a:t> centralizados: </a:t>
            </a:r>
            <a:r>
              <a:rPr lang="es-ES" sz="2200" dirty="0" err="1"/>
              <a:t>Order</a:t>
            </a:r>
            <a:r>
              <a:rPr lang="es-ES" sz="2200" dirty="0"/>
              <a:t> Book</a:t>
            </a:r>
          </a:p>
          <a:p>
            <a:pPr lvl="1"/>
            <a:r>
              <a:rPr lang="es-ES" sz="2200" dirty="0"/>
              <a:t>   P2P</a:t>
            </a:r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Automated</a:t>
            </a:r>
            <a:r>
              <a:rPr lang="es-ES" sz="2200" dirty="0"/>
              <a:t> </a:t>
            </a:r>
            <a:r>
              <a:rPr lang="es-ES" sz="2200" dirty="0" err="1"/>
              <a:t>Market</a:t>
            </a:r>
            <a:r>
              <a:rPr lang="es-ES" sz="2200" dirty="0"/>
              <a:t> </a:t>
            </a:r>
            <a:r>
              <a:rPr lang="es-ES" sz="2200" dirty="0" err="1"/>
              <a:t>Makers</a:t>
            </a:r>
            <a:endParaRPr lang="es-ES" sz="2200" dirty="0"/>
          </a:p>
          <a:p>
            <a:r>
              <a:rPr lang="es-ES" sz="2400" b="1" dirty="0" err="1"/>
              <a:t>Constant</a:t>
            </a:r>
            <a:r>
              <a:rPr lang="es-ES" sz="2400" b="1" dirty="0"/>
              <a:t> </a:t>
            </a:r>
            <a:r>
              <a:rPr lang="es-ES" sz="2400" b="1" dirty="0" err="1"/>
              <a:t>Product</a:t>
            </a:r>
            <a:r>
              <a:rPr lang="es-ES" sz="2400" b="1" dirty="0"/>
              <a:t> </a:t>
            </a:r>
            <a:r>
              <a:rPr lang="es-ES" sz="2400" b="1" dirty="0" err="1"/>
              <a:t>Market</a:t>
            </a:r>
            <a:r>
              <a:rPr lang="es-ES" sz="2400" b="1" dirty="0"/>
              <a:t> </a:t>
            </a:r>
            <a:r>
              <a:rPr lang="es-ES" sz="2400" b="1" dirty="0" err="1"/>
              <a:t>Maker</a:t>
            </a:r>
            <a:r>
              <a:rPr lang="es-ES" sz="2400" b="1" dirty="0"/>
              <a:t> </a:t>
            </a:r>
            <a:r>
              <a:rPr lang="es-ES" sz="2400" b="1" dirty="0" err="1"/>
              <a:t>Model</a:t>
            </a:r>
            <a:endParaRPr lang="es-ES" sz="2400" b="1" dirty="0"/>
          </a:p>
          <a:p>
            <a:pPr lvl="1"/>
            <a:r>
              <a:rPr lang="es-ES" sz="2200" b="1" dirty="0"/>
              <a:t>   Trading</a:t>
            </a:r>
          </a:p>
          <a:p>
            <a:pPr lvl="1"/>
            <a:r>
              <a:rPr lang="es-ES" sz="2200" b="1" dirty="0"/>
              <a:t>   </a:t>
            </a:r>
            <a:r>
              <a:rPr lang="es-ES" sz="2200" b="1" dirty="0" err="1"/>
              <a:t>Liquidity</a:t>
            </a:r>
            <a:r>
              <a:rPr lang="es-ES" sz="2200" b="1" dirty="0"/>
              <a:t> </a:t>
            </a:r>
            <a:r>
              <a:rPr lang="es-ES" sz="2200" b="1" dirty="0" err="1"/>
              <a:t>providers</a:t>
            </a:r>
            <a:endParaRPr lang="es-ES" sz="2200" b="1" dirty="0"/>
          </a:p>
          <a:p>
            <a:r>
              <a:rPr lang="es-ES" sz="2400" b="1" dirty="0" err="1"/>
              <a:t>Uniswap</a:t>
            </a:r>
            <a:endParaRPr lang="es-ES" sz="2400" b="1" dirty="0"/>
          </a:p>
          <a:p>
            <a:pPr lvl="1"/>
            <a:r>
              <a:rPr lang="es-ES" sz="2200" b="1" dirty="0"/>
              <a:t>   </a:t>
            </a:r>
            <a:r>
              <a:rPr lang="es-ES" sz="2200" b="1" dirty="0" err="1"/>
              <a:t>Slippage</a:t>
            </a:r>
            <a:endParaRPr lang="es-ES" sz="2200" b="1" dirty="0"/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Impermanent</a:t>
            </a:r>
            <a:r>
              <a:rPr lang="es-ES" sz="2200" dirty="0"/>
              <a:t> </a:t>
            </a:r>
            <a:r>
              <a:rPr lang="es-ES" sz="2200" dirty="0" err="1"/>
              <a:t>Loss</a:t>
            </a:r>
            <a:endParaRPr lang="es-ES" sz="2200" dirty="0"/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Sandwich</a:t>
            </a:r>
            <a:r>
              <a:rPr lang="es-ES" sz="2200" dirty="0"/>
              <a:t> </a:t>
            </a:r>
            <a:r>
              <a:rPr lang="es-ES" sz="2200" dirty="0" err="1"/>
              <a:t>Attack</a:t>
            </a:r>
            <a:endParaRPr lang="es-ES" sz="2200" dirty="0"/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6739618-1823-0F6E-B32F-2DF4708E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811486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0BAD-89EE-FF56-E094-03B077E8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8BB0D5-CCC7-0533-38F7-4A16BD66B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/>
              <a:t>Tipos</a:t>
            </a:r>
            <a:r>
              <a:rPr lang="en-US" sz="2400" b="1" dirty="0"/>
              <a:t> de Exchanges</a:t>
            </a:r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Exchanges</a:t>
            </a:r>
            <a:r>
              <a:rPr lang="es-ES" sz="2200" dirty="0"/>
              <a:t> centralizados: </a:t>
            </a:r>
            <a:r>
              <a:rPr lang="es-ES" sz="2200" dirty="0" err="1"/>
              <a:t>Order</a:t>
            </a:r>
            <a:r>
              <a:rPr lang="es-ES" sz="2200" dirty="0"/>
              <a:t> Book</a:t>
            </a:r>
          </a:p>
          <a:p>
            <a:pPr lvl="1"/>
            <a:r>
              <a:rPr lang="es-ES" sz="2200" dirty="0"/>
              <a:t>   P2P</a:t>
            </a:r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Automated</a:t>
            </a:r>
            <a:r>
              <a:rPr lang="es-ES" sz="2200" dirty="0"/>
              <a:t> </a:t>
            </a:r>
            <a:r>
              <a:rPr lang="es-ES" sz="2200" dirty="0" err="1"/>
              <a:t>Market</a:t>
            </a:r>
            <a:r>
              <a:rPr lang="es-ES" sz="2200" dirty="0"/>
              <a:t> </a:t>
            </a:r>
            <a:r>
              <a:rPr lang="es-ES" sz="2200" dirty="0" err="1"/>
              <a:t>Makers</a:t>
            </a:r>
            <a:endParaRPr lang="es-ES" sz="2200" dirty="0"/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Constant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Product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Maker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Model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Trading</a:t>
            </a: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Liquidity</a:t>
            </a:r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providers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Uniswap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Slippage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Impermanent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Loss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Sandwich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Attack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61D077A-300E-B71B-6FAC-BA064F55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8500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619BB-3F01-509D-7BAC-0451FADD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Exchanges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CEE7AA-F840-0CBA-36A9-BC96711D0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1" y="1196857"/>
            <a:ext cx="9950103" cy="5250425"/>
          </a:xfrm>
        </p:spPr>
        <p:txBody>
          <a:bodyPr>
            <a:normAutofit fontScale="85000" lnSpcReduction="10000"/>
          </a:bodyPr>
          <a:lstStyle/>
          <a:p>
            <a:r>
              <a:rPr lang="es-ES" sz="2600" b="1" noProof="0" dirty="0" err="1">
                <a:cs typeface="Arial" panose="020B0604020202020204" pitchFamily="34" charset="0"/>
              </a:rPr>
              <a:t>Exchanges</a:t>
            </a:r>
            <a:r>
              <a:rPr lang="es-ES" sz="2600" b="1" noProof="0" dirty="0">
                <a:cs typeface="Arial" panose="020B0604020202020204" pitchFamily="34" charset="0"/>
              </a:rPr>
              <a:t> Centralizados: </a:t>
            </a:r>
            <a:r>
              <a:rPr lang="es-ES" sz="2600" b="1" noProof="0" dirty="0" err="1">
                <a:cs typeface="Arial" panose="020B0604020202020204" pitchFamily="34" charset="0"/>
              </a:rPr>
              <a:t>Order</a:t>
            </a:r>
            <a:r>
              <a:rPr lang="es-ES" sz="2600" b="1" noProof="0" dirty="0">
                <a:cs typeface="Arial" panose="020B0604020202020204" pitchFamily="34" charset="0"/>
              </a:rPr>
              <a:t> Book</a:t>
            </a:r>
          </a:p>
          <a:p>
            <a:pPr marL="0" indent="0">
              <a:buNone/>
            </a:pPr>
            <a:r>
              <a:rPr lang="es-ES" sz="2600" dirty="0">
                <a:cs typeface="Arial" panose="020B0604020202020204" pitchFamily="34" charset="0"/>
              </a:rPr>
              <a:t>En el mercado tradicional, u</a:t>
            </a:r>
            <a:r>
              <a:rPr lang="es-ES" sz="2600" noProof="0" dirty="0">
                <a:cs typeface="Arial" panose="020B0604020202020204" pitchFamily="34" charset="0"/>
              </a:rPr>
              <a:t>n cliente que quiere adquirir una </a:t>
            </a:r>
            <a:r>
              <a:rPr lang="es-ES" sz="2600" noProof="0" dirty="0" err="1">
                <a:cs typeface="Arial" panose="020B0604020202020204" pitchFamily="34" charset="0"/>
              </a:rPr>
              <a:t>acci</a:t>
            </a:r>
            <a:r>
              <a:rPr lang="es-ES" sz="2600" dirty="0" err="1">
                <a:cs typeface="Arial" panose="020B0604020202020204" pitchFamily="34" charset="0"/>
              </a:rPr>
              <a:t>ón</a:t>
            </a:r>
            <a:r>
              <a:rPr lang="es-ES" sz="2600" dirty="0">
                <a:cs typeface="Arial" panose="020B0604020202020204" pitchFamily="34" charset="0"/>
              </a:rPr>
              <a:t> deposita los fondos en una </a:t>
            </a:r>
            <a:r>
              <a:rPr lang="es-ES" sz="2600" noProof="0" dirty="0">
                <a:cs typeface="Arial" panose="020B0604020202020204" pitchFamily="34" charset="0"/>
              </a:rPr>
              <a:t>plataforma intermediaria</a:t>
            </a:r>
            <a:r>
              <a:rPr lang="es-ES" sz="2600" dirty="0">
                <a:cs typeface="Arial" panose="020B0604020202020204" pitchFamily="34" charset="0"/>
              </a:rPr>
              <a:t>, que se encargará de registrar en un </a:t>
            </a:r>
            <a:r>
              <a:rPr lang="es-ES" sz="2600" b="1" dirty="0" err="1">
                <a:cs typeface="Arial" panose="020B0604020202020204" pitchFamily="34" charset="0"/>
              </a:rPr>
              <a:t>Order</a:t>
            </a:r>
            <a:r>
              <a:rPr lang="es-ES" sz="2600" b="1" dirty="0">
                <a:cs typeface="Arial" panose="020B0604020202020204" pitchFamily="34" charset="0"/>
              </a:rPr>
              <a:t> Book</a:t>
            </a:r>
            <a:r>
              <a:rPr lang="es-ES" sz="2600" dirty="0">
                <a:cs typeface="Arial" panose="020B0604020202020204" pitchFamily="34" charset="0"/>
              </a:rPr>
              <a:t> la nueva </a:t>
            </a:r>
            <a:r>
              <a:rPr lang="es-ES" sz="2600" b="1" dirty="0">
                <a:cs typeface="Arial" panose="020B0604020202020204" pitchFamily="34" charset="0"/>
              </a:rPr>
              <a:t>orden de compra</a:t>
            </a:r>
            <a:r>
              <a:rPr lang="es-ES" sz="2600" dirty="0">
                <a:cs typeface="Arial" panose="020B0604020202020204" pitchFamily="34" charset="0"/>
              </a:rPr>
              <a:t> y emparejarla con la de un vendedor que haya puesto una </a:t>
            </a:r>
            <a:r>
              <a:rPr lang="es-ES" sz="2600" b="1" dirty="0">
                <a:cs typeface="Arial" panose="020B0604020202020204" pitchFamily="34" charset="0"/>
              </a:rPr>
              <a:t>orden de venta</a:t>
            </a:r>
            <a:r>
              <a:rPr lang="es-ES" sz="2600" dirty="0">
                <a:cs typeface="Arial" panose="020B0604020202020204" pitchFamily="34" charset="0"/>
              </a:rPr>
              <a:t> por el mismo precio. </a:t>
            </a:r>
          </a:p>
          <a:p>
            <a:pPr marL="0" indent="0">
              <a:buNone/>
            </a:pPr>
            <a:r>
              <a:rPr lang="es-ES" sz="2600" noProof="0" dirty="0">
                <a:cs typeface="Arial" panose="020B0604020202020204" pitchFamily="34" charset="0"/>
              </a:rPr>
              <a:t>En el ecosistema </a:t>
            </a:r>
            <a:r>
              <a:rPr lang="es-ES" sz="2600" dirty="0">
                <a:cs typeface="Arial" panose="020B0604020202020204" pitchFamily="34" charset="0"/>
              </a:rPr>
              <a:t>de criptomonedas como BTC y ETH, </a:t>
            </a:r>
            <a:r>
              <a:rPr lang="es-ES" sz="2600" noProof="0" dirty="0">
                <a:cs typeface="Arial" panose="020B0604020202020204" pitchFamily="34" charset="0"/>
              </a:rPr>
              <a:t>existen </a:t>
            </a:r>
            <a:r>
              <a:rPr lang="es-ES" sz="2600" b="1" noProof="0" dirty="0" err="1">
                <a:cs typeface="Arial" panose="020B0604020202020204" pitchFamily="34" charset="0"/>
              </a:rPr>
              <a:t>exchanges</a:t>
            </a:r>
            <a:r>
              <a:rPr lang="es-ES" sz="2600" b="1" noProof="0" dirty="0">
                <a:cs typeface="Arial" panose="020B0604020202020204" pitchFamily="34" charset="0"/>
              </a:rPr>
              <a:t> centralizados </a:t>
            </a:r>
            <a:r>
              <a:rPr lang="es-ES" sz="2600" noProof="0" dirty="0">
                <a:cs typeface="Arial" panose="020B0604020202020204" pitchFamily="34" charset="0"/>
              </a:rPr>
              <a:t>en plataformas como </a:t>
            </a:r>
            <a:r>
              <a:rPr lang="es-ES" sz="2600" noProof="0" dirty="0" err="1">
                <a:cs typeface="Arial" panose="020B0604020202020204" pitchFamily="34" charset="0"/>
              </a:rPr>
              <a:t>Coinbase</a:t>
            </a:r>
            <a:r>
              <a:rPr lang="es-ES" sz="2600" noProof="0" dirty="0">
                <a:cs typeface="Arial" panose="020B0604020202020204" pitchFamily="34" charset="0"/>
              </a:rPr>
              <a:t> para el depósito de órdenes de compraventa, manteniendo de la misma manera un </a:t>
            </a:r>
            <a:r>
              <a:rPr lang="es-ES" sz="2600" noProof="0" dirty="0" err="1">
                <a:cs typeface="Arial" panose="020B0604020202020204" pitchFamily="34" charset="0"/>
              </a:rPr>
              <a:t>Order</a:t>
            </a:r>
            <a:r>
              <a:rPr lang="es-ES" sz="2600" noProof="0" dirty="0">
                <a:cs typeface="Arial" panose="020B0604020202020204" pitchFamily="34" charset="0"/>
              </a:rPr>
              <a:t> Book, dependiendo de una plataforma intermediaria para el comercio que abstrae la interacción del usuario con la </a:t>
            </a:r>
            <a:r>
              <a:rPr lang="es-ES" sz="2600" noProof="0" dirty="0" err="1">
                <a:cs typeface="Arial" panose="020B0604020202020204" pitchFamily="34" charset="0"/>
              </a:rPr>
              <a:t>blockchain</a:t>
            </a:r>
            <a:r>
              <a:rPr lang="es-ES" sz="2600" noProof="0" dirty="0"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s-ES" sz="2600" b="1" noProof="0" dirty="0">
                <a:solidFill>
                  <a:srgbClr val="C00000"/>
                </a:solidFill>
                <a:cs typeface="Arial" panose="020B0604020202020204" pitchFamily="34" charset="0"/>
              </a:rPr>
              <a:t>Se desaprovecha la descentralización de</a:t>
            </a:r>
            <a:r>
              <a:rPr lang="es-ES" sz="2600" b="1" dirty="0">
                <a:solidFill>
                  <a:srgbClr val="C00000"/>
                </a:solidFill>
                <a:cs typeface="Arial" panose="020B0604020202020204" pitchFamily="34" charset="0"/>
              </a:rPr>
              <a:t> las </a:t>
            </a:r>
            <a:r>
              <a:rPr lang="es-ES" sz="2600" b="1" dirty="0" err="1">
                <a:solidFill>
                  <a:srgbClr val="C00000"/>
                </a:solidFill>
                <a:cs typeface="Arial" panose="020B0604020202020204" pitchFamily="34" charset="0"/>
              </a:rPr>
              <a:t>blockchains</a:t>
            </a:r>
            <a:endParaRPr lang="es-ES" sz="2600" b="1" noProof="0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600" b="1" dirty="0">
                <a:solidFill>
                  <a:srgbClr val="C00000"/>
                </a:solidFill>
                <a:cs typeface="Arial" panose="020B0604020202020204" pitchFamily="34" charset="0"/>
              </a:rPr>
              <a:t>Todos los movimientos se asocian a una identidad, se pierde privacidad</a:t>
            </a:r>
            <a:endParaRPr lang="es-ES" sz="2600" b="1" noProof="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37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C6AC-A714-EBCD-DA4F-4C518122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7523A-F817-AFF2-054A-BEE6C8A7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 err="1"/>
              <a:t>Tipos</a:t>
            </a:r>
            <a:r>
              <a:rPr lang="en-US" dirty="0"/>
              <a:t> de Exchanges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CFB671-724F-A16F-11F6-1EDCB7738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1" y="1196857"/>
            <a:ext cx="9950103" cy="5250425"/>
          </a:xfrm>
        </p:spPr>
        <p:txBody>
          <a:bodyPr>
            <a:normAutofit lnSpcReduction="10000"/>
          </a:bodyPr>
          <a:lstStyle/>
          <a:p>
            <a:r>
              <a:rPr lang="es-ES" sz="2600" b="1" noProof="0" dirty="0"/>
              <a:t>Plataformas P2P</a:t>
            </a:r>
          </a:p>
          <a:p>
            <a:pPr marL="0" indent="0">
              <a:buNone/>
            </a:pPr>
            <a:r>
              <a:rPr lang="es-ES" sz="2600" dirty="0"/>
              <a:t>Otra manera utilizada para el intercambio de criptomonedas es el esquema </a:t>
            </a:r>
            <a:r>
              <a:rPr lang="es-ES" sz="2600" b="1" dirty="0"/>
              <a:t>peer-</a:t>
            </a:r>
            <a:r>
              <a:rPr lang="es-ES" sz="2600" b="1" dirty="0" err="1"/>
              <a:t>to</a:t>
            </a:r>
            <a:r>
              <a:rPr lang="es-ES" sz="2600" b="1" dirty="0"/>
              <a:t>-peer</a:t>
            </a:r>
            <a:r>
              <a:rPr lang="es-ES" sz="2600" dirty="0"/>
              <a:t>, donde se permite que 2 usuarios realicen una transacción directamente entre sí.</a:t>
            </a:r>
          </a:p>
          <a:p>
            <a:pPr marL="0" indent="0">
              <a:buNone/>
            </a:pPr>
            <a:r>
              <a:rPr lang="es-ES" sz="2600" b="1" dirty="0">
                <a:solidFill>
                  <a:srgbClr val="C00000"/>
                </a:solidFill>
              </a:rPr>
              <a:t>En los esquemas P2P más comunes se requiere una plataforma que actúe como 3rd </a:t>
            </a:r>
            <a:r>
              <a:rPr lang="es-ES" sz="2600" b="1" dirty="0" err="1">
                <a:solidFill>
                  <a:srgbClr val="C00000"/>
                </a:solidFill>
              </a:rPr>
              <a:t>party</a:t>
            </a:r>
            <a:r>
              <a:rPr lang="es-ES" sz="2600" b="1" dirty="0">
                <a:solidFill>
                  <a:srgbClr val="C00000"/>
                </a:solidFill>
              </a:rPr>
              <a:t> que administre un mecanismo de </a:t>
            </a:r>
            <a:r>
              <a:rPr lang="es-ES" sz="2600" b="1" u="sng" dirty="0" err="1">
                <a:solidFill>
                  <a:srgbClr val="C00000"/>
                </a:solidFill>
              </a:rPr>
              <a:t>escrow</a:t>
            </a:r>
            <a:r>
              <a:rPr lang="es-ES" sz="2600" b="1" u="sng" dirty="0">
                <a:solidFill>
                  <a:srgbClr val="C00000"/>
                </a:solidFill>
              </a:rPr>
              <a:t>:</a:t>
            </a:r>
            <a:r>
              <a:rPr lang="es-ES" sz="2600" b="1" dirty="0">
                <a:solidFill>
                  <a:srgbClr val="C00000"/>
                </a:solidFill>
              </a:rPr>
              <a:t> </a:t>
            </a:r>
            <a:r>
              <a:rPr lang="es-ES" sz="2600" dirty="0"/>
              <a:t>un acuerdo legal en donde se retienen los fondos de un usuario hasta que el otro usuario cumpla con su parte del contrato</a:t>
            </a:r>
          </a:p>
          <a:p>
            <a:pPr marL="0" indent="0">
              <a:buNone/>
            </a:pPr>
            <a:r>
              <a:rPr lang="es-ES" sz="2600" b="1" noProof="0" dirty="0">
                <a:solidFill>
                  <a:srgbClr val="C00000"/>
                </a:solidFill>
              </a:rPr>
              <a:t>De ser P2P descentralizado, se requiere confiar que la otra persona cumplirá su parte del contrato</a:t>
            </a:r>
          </a:p>
        </p:txBody>
      </p:sp>
    </p:spTree>
    <p:extLst>
      <p:ext uri="{BB962C8B-B14F-4D97-AF65-F5344CB8AC3E}">
        <p14:creationId xmlns:p14="http://schemas.microsoft.com/office/powerpoint/2010/main" val="361307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2B39-756C-A790-FC1E-F5B2A059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80177-AF90-18DE-CDD9-6440A205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 err="1"/>
              <a:t>Tipos</a:t>
            </a:r>
            <a:r>
              <a:rPr lang="en-US" dirty="0"/>
              <a:t> de Exchanges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6FA56-C121-1170-05BC-3745C952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381" y="973394"/>
            <a:ext cx="9950103" cy="5250425"/>
          </a:xfrm>
        </p:spPr>
        <p:txBody>
          <a:bodyPr>
            <a:noAutofit/>
          </a:bodyPr>
          <a:lstStyle/>
          <a:p>
            <a:r>
              <a:rPr lang="es-ES" sz="2600" b="1" noProof="0" dirty="0" err="1"/>
              <a:t>Market</a:t>
            </a:r>
            <a:r>
              <a:rPr lang="es-ES" sz="2600" b="1" noProof="0" dirty="0"/>
              <a:t> </a:t>
            </a:r>
            <a:r>
              <a:rPr lang="es-ES" sz="2600" b="1" noProof="0" dirty="0" err="1"/>
              <a:t>Maker</a:t>
            </a:r>
            <a:r>
              <a:rPr lang="es-ES" sz="2600" b="1" noProof="0" dirty="0"/>
              <a:t> en </a:t>
            </a:r>
            <a:r>
              <a:rPr lang="es-ES" sz="2600" b="1" noProof="0" dirty="0" err="1"/>
              <a:t>Order</a:t>
            </a:r>
            <a:r>
              <a:rPr lang="es-ES" sz="2600" b="1" noProof="0" dirty="0"/>
              <a:t> </a:t>
            </a:r>
            <a:r>
              <a:rPr lang="es-ES" sz="2600" b="1" noProof="0" dirty="0" err="1"/>
              <a:t>Books</a:t>
            </a:r>
            <a:endParaRPr lang="es-ES" sz="2600" b="1" noProof="0" dirty="0"/>
          </a:p>
          <a:p>
            <a:pPr marL="0" indent="0">
              <a:buNone/>
            </a:pPr>
            <a:r>
              <a:rPr lang="es-ES" sz="2400" u="sng" dirty="0"/>
              <a:t>¿Qué es un </a:t>
            </a:r>
            <a:r>
              <a:rPr lang="es-ES" sz="2400" b="1" u="sng" dirty="0" err="1"/>
              <a:t>Market</a:t>
            </a:r>
            <a:r>
              <a:rPr lang="es-ES" sz="2400" b="1" u="sng" dirty="0"/>
              <a:t> </a:t>
            </a:r>
            <a:r>
              <a:rPr lang="es-ES" sz="2400" b="1" u="sng" dirty="0" err="1"/>
              <a:t>Maker</a:t>
            </a:r>
            <a:r>
              <a:rPr lang="es-ES" sz="2400" u="sng" dirty="0"/>
              <a:t>?</a:t>
            </a:r>
          </a:p>
          <a:p>
            <a:pPr marL="0" indent="0">
              <a:buNone/>
            </a:pPr>
            <a:r>
              <a:rPr lang="es-ES" sz="2400" dirty="0"/>
              <a:t>Es un participante que siempre está dispuesto a comprar y vender un activo. Publica al mismo tiempo precios de compra (</a:t>
            </a:r>
            <a:r>
              <a:rPr lang="es-ES" sz="2400" b="1" dirty="0" err="1"/>
              <a:t>bid</a:t>
            </a:r>
            <a:r>
              <a:rPr lang="es-ES" sz="2400" dirty="0"/>
              <a:t>) y precios de venta (</a:t>
            </a:r>
            <a:r>
              <a:rPr lang="es-ES" sz="2400" b="1" dirty="0" err="1"/>
              <a:t>ask</a:t>
            </a:r>
            <a:r>
              <a:rPr lang="es-ES" sz="2400" dirty="0"/>
              <a:t>). </a:t>
            </a:r>
          </a:p>
          <a:p>
            <a:r>
              <a:rPr lang="es-ES" sz="2400" dirty="0"/>
              <a:t>Gana dinero con el </a:t>
            </a:r>
            <a:r>
              <a:rPr lang="es-ES" sz="2400" b="1" dirty="0"/>
              <a:t>spread</a:t>
            </a:r>
            <a:r>
              <a:rPr lang="es-ES" sz="2400" dirty="0"/>
              <a:t> (vende un poco más caro de lo que compra). </a:t>
            </a:r>
          </a:p>
          <a:p>
            <a:r>
              <a:rPr lang="es-ES" sz="2400" dirty="0"/>
              <a:t>Aporta liquidez al mercado: gracias a él siempre hay alguien del otro lado de tu </a:t>
            </a:r>
            <a:r>
              <a:rPr lang="es-ES" sz="2400" dirty="0" err="1"/>
              <a:t>trade</a:t>
            </a:r>
            <a:r>
              <a:rPr lang="es-ES" sz="2400" dirty="0"/>
              <a:t>.</a:t>
            </a:r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47656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52C3-FBB6-2C20-F451-E060D4E0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776D-8619-30D2-8F88-320744A8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 err="1"/>
              <a:t>Tipos</a:t>
            </a:r>
            <a:r>
              <a:rPr lang="en-US" dirty="0"/>
              <a:t> de Exchanges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EB53E1-3EB3-AF71-E95C-3838C67EF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381" y="973394"/>
            <a:ext cx="9950103" cy="5250425"/>
          </a:xfrm>
        </p:spPr>
        <p:txBody>
          <a:bodyPr>
            <a:noAutofit/>
          </a:bodyPr>
          <a:lstStyle/>
          <a:p>
            <a:r>
              <a:rPr lang="es-ES" sz="2600" b="1" noProof="0" dirty="0" err="1"/>
              <a:t>Automated</a:t>
            </a:r>
            <a:r>
              <a:rPr lang="es-ES" sz="2600" b="1" noProof="0" dirty="0"/>
              <a:t> </a:t>
            </a:r>
            <a:r>
              <a:rPr lang="es-ES" sz="2600" b="1" noProof="0" dirty="0" err="1"/>
              <a:t>Market</a:t>
            </a:r>
            <a:r>
              <a:rPr lang="es-ES" sz="2600" b="1" noProof="0" dirty="0"/>
              <a:t> </a:t>
            </a:r>
            <a:r>
              <a:rPr lang="es-ES" sz="2600" b="1" noProof="0" dirty="0" err="1"/>
              <a:t>Maker</a:t>
            </a:r>
            <a:endParaRPr lang="es-ES" sz="2600" b="1" noProof="0" dirty="0"/>
          </a:p>
          <a:p>
            <a:pPr marL="0" indent="0">
              <a:buNone/>
            </a:pPr>
            <a:r>
              <a:rPr lang="es-ES" sz="2400" dirty="0"/>
              <a:t>Son mecanismos de intercambio descentralizado basados en </a:t>
            </a:r>
            <a:r>
              <a:rPr lang="es-ES" sz="2400" b="1" dirty="0"/>
              <a:t>Smart </a:t>
            </a:r>
            <a:r>
              <a:rPr lang="es-ES" sz="2400" b="1" dirty="0" err="1"/>
              <a:t>contracts</a:t>
            </a:r>
            <a:r>
              <a:rPr lang="es-ES" sz="2400" dirty="0"/>
              <a:t>, que contienen un conjunto de fondos de liquidez administrados algorítmicamente. En este modelo los usuarios intercambian tokens contra una </a:t>
            </a:r>
            <a:r>
              <a:rPr lang="es-ES" sz="2400" b="1" dirty="0"/>
              <a:t>pool </a:t>
            </a:r>
            <a:r>
              <a:rPr lang="es-ES" sz="2400" dirty="0"/>
              <a:t>de liquidez, y los precios se determinan automáticamente mediante una función matemática dependiente de la cantidad de activos que hay en el pool.</a:t>
            </a:r>
            <a:endParaRPr lang="es-ES" sz="2400" b="1" i="1" dirty="0"/>
          </a:p>
          <a:p>
            <a:pPr marL="0" indent="0">
              <a:buNone/>
            </a:pPr>
            <a:r>
              <a:rPr lang="es-ES" sz="2400" b="1" dirty="0">
                <a:solidFill>
                  <a:srgbClr val="339933"/>
                </a:solidFill>
              </a:rPr>
              <a:t>No se requiere depositar fondos en un intermediario</a:t>
            </a:r>
          </a:p>
          <a:p>
            <a:pPr marL="0" indent="0">
              <a:buNone/>
            </a:pPr>
            <a:r>
              <a:rPr lang="es-ES" sz="2400" b="1" dirty="0">
                <a:solidFill>
                  <a:srgbClr val="339933"/>
                </a:solidFill>
              </a:rPr>
              <a:t>No se espera a que aparezca una contraparte dispuesta a comerciar al mismo precio, la permutación de tokens es automática y transparente</a:t>
            </a:r>
          </a:p>
          <a:p>
            <a:pPr marL="0" indent="0">
              <a:buNone/>
            </a:pPr>
            <a:r>
              <a:rPr lang="es-ES" sz="2400" b="1" dirty="0" err="1">
                <a:solidFill>
                  <a:srgbClr val="339933"/>
                </a:solidFill>
              </a:rPr>
              <a:t>Pricing</a:t>
            </a:r>
            <a:r>
              <a:rPr lang="es-ES" sz="2400" b="1" dirty="0">
                <a:solidFill>
                  <a:srgbClr val="339933"/>
                </a:solidFill>
              </a:rPr>
              <a:t> determinístico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52948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EF77-126B-58B1-E326-F39F2BEE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23CEEB-321F-CFC6-51BE-CF9ED7782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solidFill>
                  <a:schemeClr val="bg1">
                    <a:lumMod val="65000"/>
                  </a:schemeClr>
                </a:solidFill>
              </a:rPr>
              <a:t>Tipos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 de Exchanges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Exchanges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centralizados: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Order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Book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P2P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Automated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Makers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/>
              <a:t>Constant</a:t>
            </a:r>
            <a:r>
              <a:rPr lang="es-ES" sz="2400" b="1" dirty="0"/>
              <a:t> </a:t>
            </a:r>
            <a:r>
              <a:rPr lang="es-ES" sz="2400" b="1" dirty="0" err="1"/>
              <a:t>Product</a:t>
            </a:r>
            <a:r>
              <a:rPr lang="es-ES" sz="2400" b="1" dirty="0"/>
              <a:t> </a:t>
            </a:r>
            <a:r>
              <a:rPr lang="es-ES" sz="2400" b="1" dirty="0" err="1"/>
              <a:t>Market</a:t>
            </a:r>
            <a:r>
              <a:rPr lang="es-ES" sz="2400" b="1" dirty="0"/>
              <a:t> </a:t>
            </a:r>
            <a:r>
              <a:rPr lang="es-ES" sz="2400" b="1" dirty="0" err="1"/>
              <a:t>Maker</a:t>
            </a:r>
            <a:r>
              <a:rPr lang="es-ES" sz="2400" b="1" dirty="0"/>
              <a:t> </a:t>
            </a:r>
            <a:r>
              <a:rPr lang="es-ES" sz="2400" b="1" dirty="0" err="1"/>
              <a:t>Model</a:t>
            </a:r>
            <a:endParaRPr lang="es-ES" sz="2400" b="1" dirty="0"/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Trading</a:t>
            </a: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Liquidity</a:t>
            </a:r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providers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Uniswap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Slippage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Impermanent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Loss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Sandwich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Attack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73598D8-0598-1A52-0434-873FA182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69858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EE0A-FC1D-AC3C-68CE-CFD1344F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0E271-DD1C-BAE5-E5D6-216A2109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0B8E23-A825-B4BA-F3A1-3B14290FA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1" y="1196857"/>
                <a:ext cx="9950103" cy="525042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ES" sz="2600" dirty="0"/>
                  <a:t>También conocido como el </a:t>
                </a:r>
                <a:r>
                  <a:rPr lang="es-ES" sz="2600" b="1" dirty="0"/>
                  <a:t>modelo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s-ES" sz="2600" dirty="0"/>
                  <a:t>, es un tipo de AMM que se basa en el producto constante para determinar los precios de los tokens que contenga y la ejecución de los </a:t>
                </a:r>
                <a:r>
                  <a:rPr lang="es-ES" sz="2600" b="1" dirty="0"/>
                  <a:t>swaps</a:t>
                </a:r>
                <a:r>
                  <a:rPr lang="es-ES" sz="2600" dirty="0"/>
                  <a:t>. Sus parámetros principales:</a:t>
                </a:r>
              </a:p>
              <a:p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b="1" dirty="0"/>
                  <a:t> = </a:t>
                </a:r>
                <a:r>
                  <a:rPr lang="en-US" sz="2600" dirty="0"/>
                  <a:t>la </a:t>
                </a:r>
                <a:r>
                  <a:rPr lang="en-US" sz="2600" dirty="0" err="1"/>
                  <a:t>cantidad</a:t>
                </a:r>
                <a:r>
                  <a:rPr lang="en-US" sz="2600" dirty="0"/>
                  <a:t> </a:t>
                </a:r>
                <a:r>
                  <a:rPr lang="en-US" sz="2600" dirty="0" err="1"/>
                  <a:t>reservada</a:t>
                </a:r>
                <a:r>
                  <a:rPr lang="en-US" sz="2600" dirty="0"/>
                  <a:t> del token </a:t>
                </a:r>
                <a:r>
                  <a:rPr lang="en-US" sz="2600" b="1" dirty="0"/>
                  <a:t>X</a:t>
                </a:r>
              </a:p>
              <a:p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600" b="1" dirty="0"/>
                  <a:t> =</a:t>
                </a:r>
                <a:r>
                  <a:rPr lang="en-US" sz="2600" dirty="0"/>
                  <a:t> la </a:t>
                </a:r>
                <a:r>
                  <a:rPr lang="en-US" sz="2600" dirty="0" err="1"/>
                  <a:t>cantidad</a:t>
                </a:r>
                <a:r>
                  <a:rPr lang="en-US" sz="2600" dirty="0"/>
                  <a:t> </a:t>
                </a:r>
                <a:r>
                  <a:rPr lang="en-US" sz="2600" dirty="0" err="1"/>
                  <a:t>reservada</a:t>
                </a:r>
                <a:r>
                  <a:rPr lang="en-US" sz="2600" dirty="0"/>
                  <a:t> del token </a:t>
                </a:r>
                <a:r>
                  <a:rPr lang="en-US" sz="2600" b="1" dirty="0"/>
                  <a:t>Y</a:t>
                </a:r>
                <a:endParaRPr lang="es-ES" sz="2600" b="1" dirty="0"/>
              </a:p>
              <a:p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600" dirty="0"/>
                  <a:t>: la </a:t>
                </a:r>
                <a:r>
                  <a:rPr lang="en-US" sz="2600" dirty="0" err="1"/>
                  <a:t>constante</a:t>
                </a:r>
                <a:r>
                  <a:rPr lang="en-US" sz="2600" dirty="0"/>
                  <a:t> de </a:t>
                </a:r>
                <a:r>
                  <a:rPr lang="en-US" sz="2600" dirty="0" err="1"/>
                  <a:t>proporci</a:t>
                </a:r>
                <a:r>
                  <a:rPr lang="es-ES" sz="2600" dirty="0" err="1"/>
                  <a:t>ón</a:t>
                </a:r>
                <a:r>
                  <a:rPr lang="es-ES" sz="2600" dirty="0"/>
                  <a:t> de las reservas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La idea es que la proporción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s-ES" sz="2600" noProof="0" dirty="0"/>
                  <a:t> entre</a:t>
                </a:r>
                <a:r>
                  <a:rPr lang="es-ES" sz="2600" dirty="0"/>
                  <a:t> los tokens se mantenga </a:t>
                </a:r>
                <a:r>
                  <a:rPr lang="es-ES" sz="2600" noProof="0" dirty="0"/>
                  <a:t>constante durante los intercambios entre clientes y el contrato, mientras que agregar y remover liquidez hacen variar el valor de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s-ES" sz="2600" noProof="0" dirty="0"/>
                  <a:t> manteniendo el balance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noProof="0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0B8E23-A825-B4BA-F3A1-3B14290FA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1" y="1196857"/>
                <a:ext cx="9950103" cy="5250425"/>
              </a:xfrm>
              <a:blipFill>
                <a:blip r:embed="rId2"/>
                <a:stretch>
                  <a:fillRect l="-980" t="-696" r="-18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60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8C39-31A8-A93B-BA90-89F56BCF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6EE5A-1031-A78F-1273-EA986990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EFD6B6C-CE1E-5713-1BC0-6C49457A2D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1" y="1196857"/>
                <a:ext cx="9950103" cy="52504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sz="2600" b="1" dirty="0"/>
                  <a:t>Implementación del modelo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El </a:t>
                </a:r>
                <a:r>
                  <a:rPr lang="es-ES" sz="2600" noProof="0" dirty="0" err="1"/>
                  <a:t>Market</a:t>
                </a:r>
                <a:r>
                  <a:rPr lang="es-ES" sz="2600" noProof="0" dirty="0"/>
                  <a:t> </a:t>
                </a:r>
                <a:r>
                  <a:rPr lang="es-ES" sz="2600" noProof="0" dirty="0" err="1"/>
                  <a:t>Maker</a:t>
                </a:r>
                <a:r>
                  <a:rPr lang="es-ES" sz="2600" noProof="0" dirty="0"/>
                  <a:t> </a:t>
                </a:r>
                <a:r>
                  <a:rPr lang="es-ES" sz="2600" noProof="0" dirty="0" err="1"/>
                  <a:t>Model</a:t>
                </a:r>
                <a:r>
                  <a:rPr lang="es-ES" sz="2600" noProof="0" dirty="0"/>
                  <a:t> es un </a:t>
                </a:r>
                <a:r>
                  <a:rPr lang="es-ES" sz="2600" b="1" noProof="0" dirty="0"/>
                  <a:t>sistema de transición de estados</a:t>
                </a:r>
                <a:r>
                  <a:rPr lang="es-ES" sz="2600" noProof="0" dirty="0"/>
                  <a:t>, en donde tenemos una tupla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2600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600" b="1" i="1" noProof="0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s-ES" sz="2600" b="1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600" b="1" i="1" noProof="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ES" sz="2600" b="1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600" b="1" i="1" noProof="0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</m:oMath>
                </a14:m>
                <a:r>
                  <a:rPr lang="es-ES" sz="2600" noProof="0" dirty="0"/>
                  <a:t> con la que vamos a representar:</a:t>
                </a:r>
                <a:endParaRPr lang="es-ES" sz="2600" dirty="0"/>
              </a:p>
              <a:p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600" b="1" dirty="0"/>
                  <a:t> = </a:t>
                </a:r>
                <a:r>
                  <a:rPr lang="en-US" sz="2600" dirty="0"/>
                  <a:t>la </a:t>
                </a:r>
                <a:r>
                  <a:rPr lang="en-US" sz="2600" dirty="0" err="1"/>
                  <a:t>cantidad</a:t>
                </a:r>
                <a:r>
                  <a:rPr lang="en-US" sz="2600" dirty="0"/>
                  <a:t> de </a:t>
                </a:r>
                <a:r>
                  <a:rPr lang="en-US" sz="2600" b="1" dirty="0"/>
                  <a:t>ETH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en</a:t>
                </a:r>
                <a:r>
                  <a:rPr lang="en-US" sz="2600" dirty="0"/>
                  <a:t> </a:t>
                </a:r>
                <a:r>
                  <a:rPr lang="en-US" sz="2600" dirty="0" err="1"/>
                  <a:t>el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contrato</a:t>
                </a:r>
                <a:endParaRPr lang="en-US" sz="2600" b="1" dirty="0"/>
              </a:p>
              <a:p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600" b="1" dirty="0"/>
                  <a:t> =</a:t>
                </a:r>
                <a:r>
                  <a:rPr lang="en-US" sz="2600" dirty="0"/>
                  <a:t> la </a:t>
                </a:r>
                <a:r>
                  <a:rPr lang="en-US" sz="2600" dirty="0" err="1"/>
                  <a:t>cantidad</a:t>
                </a:r>
                <a:r>
                  <a:rPr lang="en-US" sz="2600" dirty="0"/>
                  <a:t> </a:t>
                </a:r>
                <a:r>
                  <a:rPr lang="es-ES" sz="2600" dirty="0"/>
                  <a:t>de </a:t>
                </a:r>
                <a:r>
                  <a:rPr lang="es-ES" sz="2600" b="1" dirty="0"/>
                  <a:t>exchange tokens</a:t>
                </a:r>
              </a:p>
              <a:p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b="1" dirty="0"/>
                  <a:t>=</a:t>
                </a:r>
                <a:r>
                  <a:rPr lang="en-US" sz="2600" dirty="0"/>
                  <a:t> la </a:t>
                </a:r>
                <a:r>
                  <a:rPr lang="en-US" sz="2600" dirty="0" err="1"/>
                  <a:t>liquidez</a:t>
                </a:r>
                <a:r>
                  <a:rPr lang="en-US" sz="2600" dirty="0"/>
                  <a:t> total</a:t>
                </a:r>
                <a:endParaRPr lang="es-ES" sz="2600" dirty="0"/>
              </a:p>
              <a:p>
                <a:pPr marL="0" indent="0">
                  <a:buNone/>
                </a:pPr>
                <a:r>
                  <a:rPr lang="es-ES" sz="2600" dirty="0"/>
                  <a:t>Cada acción de </a:t>
                </a:r>
                <a:r>
                  <a:rPr lang="es-ES" sz="2600" b="1" dirty="0"/>
                  <a:t>swap</a:t>
                </a:r>
                <a:r>
                  <a:rPr lang="es-ES" sz="2600" dirty="0"/>
                  <a:t> de tokens, aumento y decremento de liquidez van a actualizar el estado del contrato. Esta implementación está basada en </a:t>
                </a:r>
                <a:r>
                  <a:rPr lang="es-ES" sz="2600" b="1" dirty="0" err="1"/>
                  <a:t>Uniswap</a:t>
                </a:r>
                <a:r>
                  <a:rPr lang="es-ES" sz="2600" b="1" dirty="0"/>
                  <a:t> V1</a:t>
                </a:r>
                <a:r>
                  <a:rPr lang="es-ES" sz="2600" dirty="0"/>
                  <a:t> (explicado más adelante), para el swap tendremos ETH y el exchange token será creado con el estándar de implementación de </a:t>
                </a:r>
                <a:r>
                  <a:rPr lang="es-ES" sz="2600" b="1" dirty="0"/>
                  <a:t>Open Zeppelin</a:t>
                </a:r>
                <a:r>
                  <a:rPr lang="en-US" sz="2600" b="1" dirty="0"/>
                  <a:t>.</a:t>
                </a:r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EFD6B6C-CE1E-5713-1BC0-6C49457A2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1" y="1196857"/>
                <a:ext cx="9950103" cy="5250425"/>
              </a:xfrm>
              <a:blipFill>
                <a:blip r:embed="rId2"/>
                <a:stretch>
                  <a:fillRect l="-980" t="-696" b="-2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867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F92B-FA35-0FB9-8161-9782CA09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C77C0-32C0-4551-5537-8F8550D9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A190E33-83A4-FCD6-46EA-129EC0246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1" y="1196857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Implementación del modelo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Para intercambiar una cantidad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600" b="1" noProof="0" dirty="0"/>
                  <a:t> </a:t>
                </a:r>
                <a:r>
                  <a:rPr lang="es-ES" sz="2600" noProof="0" dirty="0"/>
                  <a:t>de tokens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s-ES" sz="2600" dirty="0"/>
                  <a:t>, el cliente va a enviárselos al contrato, quien calculará la cantidad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b="1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dirty="0"/>
                  <a:t> de tokens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s-ES" sz="2600" noProof="0" dirty="0"/>
                  <a:t> que puede obtener según el precio actual de los tokens dado por el balance/ratio en la </a:t>
                </a:r>
                <a:r>
                  <a:rPr lang="es-ES" sz="2600" b="1" noProof="0" dirty="0" err="1"/>
                  <a:t>liquidity</a:t>
                </a:r>
                <a:r>
                  <a:rPr lang="es-ES" sz="2600" b="1" noProof="0" dirty="0"/>
                  <a:t> pool</a:t>
                </a:r>
                <a:r>
                  <a:rPr lang="es-ES" sz="2600" noProof="0" dirty="0"/>
                  <a:t>.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Si tomamos en cuenta una implementación con </a:t>
                </a:r>
                <a:r>
                  <a:rPr lang="es-ES" sz="2600" b="1" noProof="0" dirty="0"/>
                  <a:t>fees</a:t>
                </a:r>
                <a:r>
                  <a:rPr lang="es-ES" sz="2600" dirty="0"/>
                  <a:t>, entonces deberemos utilizar una </a:t>
                </a:r>
                <a:r>
                  <a:rPr lang="es-ES" sz="2600" b="1" dirty="0"/>
                  <a:t>cantidad efectiva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600" b="1" i="1">
                            <a:latin typeface="Cambria Math" panose="02040503050406030204" pitchFamily="18" charset="0"/>
                          </a:rPr>
                          <m:t>𝜟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s-ES" sz="2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</m:oMath>
                </a14:m>
                <a:r>
                  <a:rPr lang="es-ES" sz="2600" b="1" dirty="0"/>
                  <a:t> </a:t>
                </a:r>
                <a:r>
                  <a:rPr lang="es-ES" sz="2600" dirty="0"/>
                  <a:t>de tokens para calcular a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sz="2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ES" sz="2600" b="1" dirty="0"/>
                  <a:t>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A190E33-83A4-FCD6-46EA-129EC0246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1" y="1196857"/>
                <a:ext cx="9950103" cy="5250425"/>
              </a:xfrm>
              <a:blipFill>
                <a:blip r:embed="rId2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582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9EC9-C11E-A05F-E621-9E0EBD73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22D9E-817E-0BA9-9048-5F5372F0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9ECF7C9-0DD9-74A0-27D0-BCEFAD237F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0" y="916638"/>
                <a:ext cx="9950103" cy="52504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sz="2600" b="1" dirty="0"/>
                  <a:t>Implementación del modelo</a:t>
                </a:r>
              </a:p>
              <a:p>
                <a:pPr marL="0" indent="0">
                  <a:buNone/>
                </a:pPr>
                <a:r>
                  <a:rPr lang="es-ES" sz="2600" dirty="0"/>
                  <a:t>Se define</a:t>
                </a:r>
                <a:r>
                  <a:rPr lang="es-ES" sz="2600" noProof="0" dirty="0"/>
                  <a:t>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𝒈𝒆𝒕𝑰𝒏𝒑𝒖𝒕𝑷𝒓𝒊𝒄𝒆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600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, que toma como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b="1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600" noProof="0" dirty="0"/>
                  <a:t> la cantidad de fondos </a:t>
                </a:r>
                <a:r>
                  <a:rPr lang="es-ES" sz="2600" dirty="0"/>
                  <a:t>a vender y </a:t>
                </a:r>
                <a:r>
                  <a:rPr lang="es-ES" sz="2600" noProof="0" dirty="0"/>
                  <a:t>devuelve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noProof="0" dirty="0"/>
                  <a:t>, la cantidad del otro token, que se puede comprar con los fondos brindados según la proporción de las reservas.</a:t>
                </a:r>
              </a:p>
              <a:p>
                <a:pPr marL="0" indent="0">
                  <a:buNone/>
                </a:pPr>
                <a:r>
                  <a:rPr lang="es-ES" sz="2600" dirty="0"/>
                  <a:t>Cada compra de tokens tiene una </a:t>
                </a:r>
                <a:r>
                  <a:rPr lang="es-ES" sz="2600" b="1" dirty="0"/>
                  <a:t>fee</a:t>
                </a:r>
                <a:r>
                  <a:rPr lang="es-ES" sz="2600" dirty="0"/>
                  <a:t> representada con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sz="2600" dirty="0"/>
                  <a:t>, por lo que usamos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s-ES" sz="2600" b="1" dirty="0"/>
                  <a:t> </a:t>
                </a:r>
                <a:r>
                  <a:rPr lang="es-ES" sz="2600" dirty="0"/>
                  <a:t>para obtener la parte efectiva de los fondos a gastar.</a:t>
                </a:r>
              </a:p>
              <a:p>
                <a:pPr marL="0" indent="0">
                  <a:buNone/>
                </a:pPr>
                <a:r>
                  <a:rPr lang="es-ES" sz="2600" dirty="0"/>
                  <a:t>Representaremos con </a:t>
                </a:r>
                <a14:m>
                  <m:oMath xmlns:m="http://schemas.openxmlformats.org/officeDocument/2006/math">
                    <m:r>
                      <a:rPr lang="el-GR" sz="26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600" b="1" i="1">
                            <a:latin typeface="Cambria Math" panose="02040503050406030204" pitchFamily="18" charset="0"/>
                          </a:rPr>
                          <m:t>𝜟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</m:oMath>
                </a14:m>
                <a:r>
                  <a:rPr lang="es-ES" sz="2600" dirty="0"/>
                  <a:t> la proporción del token que se va a gastar, relativo a la reserva inicial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600" dirty="0"/>
                  <a:t> que haya en el </a:t>
                </a:r>
                <a:r>
                  <a:rPr lang="es-ES" sz="2600" b="1" dirty="0" err="1"/>
                  <a:t>liquidity</a:t>
                </a:r>
                <a:r>
                  <a:rPr lang="es-ES" sz="2600" b="1" dirty="0"/>
                  <a:t> pool.</a:t>
                </a:r>
                <a:endParaRPr lang="es-ES" sz="2600" b="1" noProof="0" dirty="0"/>
              </a:p>
              <a:p>
                <a:pPr marL="0" indent="0">
                  <a:buNone/>
                </a:pPr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9ECF7C9-0DD9-74A0-27D0-BCEFAD237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0" y="916638"/>
                <a:ext cx="9950103" cy="5250425"/>
              </a:xfrm>
              <a:blipFill>
                <a:blip r:embed="rId2"/>
                <a:stretch>
                  <a:fillRect l="-1103" t="-928" r="-19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52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4DD9-95BE-01F9-0631-877FCE68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50A74-21E6-27D1-F128-24E88AF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CA1ECF-BF53-6BD4-B66A-6E0235CC94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0" y="916638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Implementación del modelo</a:t>
                </a:r>
              </a:p>
              <a:p>
                <a:pPr marL="0" indent="0">
                  <a:buNone/>
                </a:pPr>
                <a:r>
                  <a:rPr lang="es-ES" sz="2600" dirty="0"/>
                  <a:t>Se calculan las nuevas cantidades de tokens como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600" b="1" dirty="0"/>
                  <a:t>  </a:t>
                </a:r>
                <a:r>
                  <a:rPr lang="es-ES" sz="2600" dirty="0"/>
                  <a:t>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2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dirty="0"/>
                  <a:t>, y se computa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2600" b="1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s-ES" sz="2600" dirty="0"/>
                  <a:t>. Despejamos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𝜶𝜸</m:t>
                            </m:r>
                          </m:den>
                        </m:f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s-ES" sz="2600" dirty="0"/>
                  <a:t> y para obtener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b="1" noProof="0" dirty="0"/>
                  <a:t> </a:t>
                </a:r>
                <a:r>
                  <a:rPr lang="es-ES" sz="2600" dirty="0"/>
                  <a:t>lo despejamos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noProof="0" dirty="0"/>
                  <a:t>.</a:t>
                </a:r>
                <a:endParaRPr lang="es-ES" sz="2600" b="1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CA1ECF-BF53-6BD4-B66A-6E0235CC9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0" y="916638"/>
                <a:ext cx="9950103" cy="5250425"/>
              </a:xfrm>
              <a:blipFill>
                <a:blip r:embed="rId2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2786C7E4-AA39-FB5B-3DB3-450CD88FD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098" y="3368868"/>
            <a:ext cx="8102626" cy="330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2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A49A2-DE41-6A68-F870-B11A732D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4C4ED-4281-3C25-D75D-31321D32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E52FB7D-7DC3-B18B-E935-68E9C835FE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0" y="916638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Implementación del modelo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De </a:t>
                </a:r>
                <a:r>
                  <a:rPr lang="es-ES" sz="2600" dirty="0"/>
                  <a:t>manera similar,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𝒈𝒆𝒕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𝑶𝒖𝒕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𝒑𝒖𝒕𝑷𝒓𝒊𝒄𝒆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600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 toma como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b="1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noProof="0" dirty="0"/>
                  <a:t> la cantidad del token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s-ES" sz="2600" noProof="0" dirty="0"/>
                  <a:t> que se quiere comprar, devolviendo cuánto del token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s-ES" sz="2600" noProof="0" dirty="0"/>
                  <a:t> se debería gastar para comprarlo.</a:t>
                </a:r>
              </a:p>
              <a:p>
                <a:pPr marL="0" indent="0">
                  <a:buNone/>
                </a:pPr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E52FB7D-7DC3-B18B-E935-68E9C835F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0" y="916638"/>
                <a:ext cx="9950103" cy="5250425"/>
              </a:xfrm>
              <a:blipFill>
                <a:blip r:embed="rId2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6099071-22CD-07D9-6568-54EFA8991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548" y="2965954"/>
            <a:ext cx="7723080" cy="359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12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59F6-5176-8706-10EF-914092DC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2E42C-38B9-0FA2-F0EC-11CBEEC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solidFill>
                  <a:schemeClr val="bg1">
                    <a:lumMod val="65000"/>
                  </a:schemeClr>
                </a:solidFill>
              </a:rPr>
              <a:t>Tipos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 de Exchanges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Exchanges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centralizados: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Order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Book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P2P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Automated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Makers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/>
              <a:t>Constant</a:t>
            </a:r>
            <a:r>
              <a:rPr lang="es-ES" sz="2400" b="1" dirty="0"/>
              <a:t> </a:t>
            </a:r>
            <a:r>
              <a:rPr lang="es-ES" sz="2400" b="1" dirty="0" err="1"/>
              <a:t>Product</a:t>
            </a:r>
            <a:r>
              <a:rPr lang="es-ES" sz="2400" b="1" dirty="0"/>
              <a:t> </a:t>
            </a:r>
            <a:r>
              <a:rPr lang="es-ES" sz="2400" b="1" dirty="0" err="1"/>
              <a:t>Market</a:t>
            </a:r>
            <a:r>
              <a:rPr lang="es-ES" sz="2400" b="1" dirty="0"/>
              <a:t> </a:t>
            </a:r>
            <a:r>
              <a:rPr lang="es-ES" sz="2400" b="1" dirty="0" err="1"/>
              <a:t>Maker</a:t>
            </a:r>
            <a:r>
              <a:rPr lang="es-ES" sz="2400" b="1" dirty="0"/>
              <a:t> </a:t>
            </a:r>
            <a:r>
              <a:rPr lang="es-ES" sz="2400" b="1" dirty="0" err="1"/>
              <a:t>Model</a:t>
            </a:r>
            <a:endParaRPr lang="es-ES" sz="2400" b="1" dirty="0"/>
          </a:p>
          <a:p>
            <a:pPr lvl="1"/>
            <a:r>
              <a:rPr lang="es-ES" sz="2200" b="1" dirty="0"/>
              <a:t>   Trading</a:t>
            </a: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Liquidity</a:t>
            </a:r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providers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Uniswap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Slippage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Impermanent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Loss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Sandwich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Attack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65977A3-DF76-B6E5-72FD-F910916C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1898151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EC71-037A-DA35-ABD6-B2522903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4D225-FACC-FCC2-3EFD-16ABB4E0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C0C724-23CC-F76F-C52D-10DE5E5DD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1" y="958646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Trading de tokens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El usuario va a invocar a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𝒆𝒕𝒉𝑻𝒐𝑻𝒐𝒌𝒆𝒏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 para enviarle </a:t>
                </a:r>
                <a:r>
                  <a:rPr lang="es-ES" sz="2600" b="1" noProof="0" dirty="0"/>
                  <a:t>ETH</a:t>
                </a:r>
                <a:r>
                  <a:rPr lang="es-ES" sz="2600" noProof="0" dirty="0"/>
                  <a:t> al contrato y obtener una cantidad de </a:t>
                </a:r>
                <a:r>
                  <a:rPr lang="es-ES" sz="2600" b="1" noProof="0" dirty="0"/>
                  <a:t>exchange tokens</a:t>
                </a:r>
                <a:r>
                  <a:rPr lang="es-ES" sz="2600" noProof="0" dirty="0"/>
                  <a:t> calculada automáticamente por la función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𝒈𝒆𝒕𝑰𝒏𝒑𝒖𝒕𝑷𝒓𝒊𝒄𝒆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.</a:t>
                </a:r>
                <a:endParaRPr lang="es-ES" sz="2600" b="1" noProof="0" dirty="0"/>
              </a:p>
              <a:p>
                <a:pPr marL="0" indent="0">
                  <a:buNone/>
                </a:pPr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C0C724-23CC-F76F-C52D-10DE5E5DD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1" y="958646"/>
                <a:ext cx="9950103" cy="5250425"/>
              </a:xfrm>
              <a:blipFill>
                <a:blip r:embed="rId2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 descr="Texto, Carta&#10;&#10;El contenido generado por IA puede ser incorrecto.">
            <a:extLst>
              <a:ext uri="{FF2B5EF4-FFF2-40B4-BE49-F238E27FC236}">
                <a16:creationId xmlns:a16="http://schemas.microsoft.com/office/drawing/2014/main" id="{A305047A-2BE1-10C4-BEFB-BBAB538C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69" y="3379617"/>
            <a:ext cx="8781485" cy="3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41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7528-B9AD-396D-272C-6BD140A5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0A610-8F0B-4CD5-EB8E-DA82F0B3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/>
              <a:t>Constant Product Market Maker 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3CC9931-D4A2-8BC0-4273-F9AD841F4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1" y="958646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Trading de tokens</a:t>
                </a:r>
              </a:p>
              <a:p>
                <a:pPr marL="0" indent="0">
                  <a:buNone/>
                </a:pPr>
                <a:r>
                  <a:rPr lang="es-ES" sz="2600" noProof="0" dirty="0"/>
                  <a:t>Con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𝒕𝒐𝒌𝒆𝒏𝑻𝒐𝑬𝒕𝒉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 </a:t>
                </a:r>
                <a:r>
                  <a:rPr lang="es-ES" sz="2600" dirty="0"/>
                  <a:t>puede intercambiar </a:t>
                </a:r>
                <a:r>
                  <a:rPr lang="es-ES" sz="2600" b="1" noProof="0" dirty="0"/>
                  <a:t>exchange tokens</a:t>
                </a:r>
                <a:r>
                  <a:rPr lang="es-ES" sz="2600" noProof="0" dirty="0"/>
                  <a:t> con el contrato y obtener </a:t>
                </a:r>
                <a:r>
                  <a:rPr lang="es-ES" sz="2600" b="1" noProof="0" dirty="0"/>
                  <a:t>ETH</a:t>
                </a:r>
                <a:r>
                  <a:rPr lang="es-ES" sz="2600" noProof="0" dirty="0"/>
                  <a:t> de la misma manera</a:t>
                </a:r>
                <a:r>
                  <a:rPr lang="en-US" sz="2600" noProof="0" dirty="0"/>
                  <a:t>.</a:t>
                </a:r>
                <a:endParaRPr lang="es-ES" sz="2600" b="1" noProof="0" dirty="0"/>
              </a:p>
              <a:p>
                <a:pPr marL="0" indent="0">
                  <a:buNone/>
                </a:pPr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3CC9931-D4A2-8BC0-4273-F9AD841F4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1" y="958646"/>
                <a:ext cx="9950103" cy="5250425"/>
              </a:xfrm>
              <a:blipFill>
                <a:blip r:embed="rId2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 descr="Texto, Carta&#10;&#10;El contenido generado por IA puede ser incorrecto.">
            <a:extLst>
              <a:ext uri="{FF2B5EF4-FFF2-40B4-BE49-F238E27FC236}">
                <a16:creationId xmlns:a16="http://schemas.microsoft.com/office/drawing/2014/main" id="{8FA50783-0E8E-DA6A-66EA-9BC3D468F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72" y="3001296"/>
            <a:ext cx="9807805" cy="344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7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D553-DC13-565F-A792-5187285A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C1063-45F8-3024-D9A3-D97103C2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/>
              <a:t>Constant Product Market Maker 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223475F-96F0-55F8-7389-3ABAC0B56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1" y="958646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Ejemplo de swap (sin comisión</a:t>
                </a:r>
                <a:r>
                  <a:rPr lang="en-US" sz="2600" b="1" dirty="0"/>
                  <a:t>)</a:t>
                </a:r>
                <a:endParaRPr lang="es-ES" sz="2600" b="1" dirty="0"/>
              </a:p>
              <a:p>
                <a:pPr marL="0" indent="0">
                  <a:buNone/>
                </a:pPr>
                <a:r>
                  <a:rPr lang="es-ES" sz="2600" noProof="0" dirty="0"/>
                  <a:t>Estado de la pool de liquidez: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𝑬𝑻𝑯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         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2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          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𝟎𝟎𝟎</m:t>
                    </m:r>
                  </m:oMath>
                </a14:m>
                <a:r>
                  <a:rPr lang="es-ES" sz="2600" noProof="0" dirty="0"/>
                  <a:t>.</a:t>
                </a:r>
              </a:p>
              <a:p>
                <a:pPr marL="0" indent="0">
                  <a:buNone/>
                </a:pPr>
                <a:r>
                  <a:rPr lang="es-ES" sz="2600" dirty="0"/>
                  <a:t>Un </a:t>
                </a:r>
                <a:r>
                  <a:rPr lang="es-ES" sz="2600" dirty="0" err="1"/>
                  <a:t>trader</a:t>
                </a:r>
                <a:r>
                  <a:rPr lang="es-ES" sz="2600" dirty="0"/>
                  <a:t> ejecuta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𝒆𝒕𝒉𝑻𝒐𝑻𝒐𝒌𝒆𝒏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, agregando a la pool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s-ES" sz="2600" noProof="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𝑬𝑻𝑯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p>
                        <m:sSup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num>
                        <m:den>
                          <m:sSup>
                            <m:sSupPr>
                              <m:ctrlP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𝟎𝟎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den>
                      </m:f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𝟗𝟎𝟗𝟎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𝟗𝟏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𝑫𝑨𝑰</m:t>
                      </m:r>
                    </m:oMath>
                  </m:oMathPara>
                </a14:m>
                <a:endParaRPr lang="es-ES" sz="2600" noProof="0" dirty="0"/>
              </a:p>
              <a:p>
                <a:pPr marL="0" indent="0">
                  <a:buNone/>
                </a:pPr>
                <a:r>
                  <a:rPr lang="es-ES" sz="2600" dirty="0"/>
                  <a:t>Si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600" b="1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dirty="0"/>
                  <a:t> despejamos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b="1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600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600" b="1" i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𝟗𝟎𝟗𝟎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𝟗𝟏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𝟗𝟎𝟗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𝟎𝟗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𝑫𝑨𝑰</m:t>
                      </m:r>
                    </m:oMath>
                  </m:oMathPara>
                </a14:m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223475F-96F0-55F8-7389-3ABAC0B56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1" y="958646"/>
                <a:ext cx="9950103" cy="5250425"/>
              </a:xfrm>
              <a:blipFill>
                <a:blip r:embed="rId2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1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FB7EF-5257-6EDB-97F2-69F1044C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41F90-B52A-016C-0EA3-2EB90B305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solidFill>
                  <a:schemeClr val="bg1">
                    <a:lumMod val="65000"/>
                  </a:schemeClr>
                </a:solidFill>
              </a:rPr>
              <a:t>Tipos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 de Exchanges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Exchanges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centralizados: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Order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Book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P2P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Automated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Makers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/>
              <a:t>Constant</a:t>
            </a:r>
            <a:r>
              <a:rPr lang="es-ES" sz="2400" b="1" dirty="0"/>
              <a:t> </a:t>
            </a:r>
            <a:r>
              <a:rPr lang="es-ES" sz="2400" b="1" dirty="0" err="1"/>
              <a:t>Product</a:t>
            </a:r>
            <a:r>
              <a:rPr lang="es-ES" sz="2400" b="1" dirty="0"/>
              <a:t> </a:t>
            </a:r>
            <a:r>
              <a:rPr lang="es-ES" sz="2400" b="1" dirty="0" err="1"/>
              <a:t>Market</a:t>
            </a:r>
            <a:r>
              <a:rPr lang="es-ES" sz="2400" b="1" dirty="0"/>
              <a:t> </a:t>
            </a:r>
            <a:r>
              <a:rPr lang="es-ES" sz="2400" b="1" dirty="0" err="1"/>
              <a:t>Maker</a:t>
            </a:r>
            <a:r>
              <a:rPr lang="es-ES" sz="2400" b="1" dirty="0"/>
              <a:t> </a:t>
            </a:r>
            <a:r>
              <a:rPr lang="es-ES" sz="2400" b="1" dirty="0" err="1"/>
              <a:t>Model</a:t>
            </a:r>
            <a:endParaRPr lang="es-ES" sz="2400" b="1" dirty="0"/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Trading</a:t>
            </a: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/>
              <a:t>Liquidity</a:t>
            </a:r>
            <a:r>
              <a:rPr lang="es-ES" sz="2200" b="1" dirty="0"/>
              <a:t> </a:t>
            </a:r>
            <a:r>
              <a:rPr lang="es-ES" sz="2200" b="1" dirty="0" err="1"/>
              <a:t>providers</a:t>
            </a:r>
            <a:endParaRPr lang="es-ES" sz="2200" b="1" dirty="0"/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Uniswap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Slippage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Impermanent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Loss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Sandwich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Attack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10D79E4-E206-CEE1-1848-81F8BF01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602793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0439-793B-0C1A-5790-BEC2AD98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C4F38-8626-3953-8378-89950A32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824E18F-9AC0-B35B-D14F-A42514FAC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0" y="1196857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Liquidity </a:t>
                </a:r>
                <a:r>
                  <a:rPr lang="es-ES" sz="2600" b="1" dirty="0" err="1"/>
                  <a:t>providers</a:t>
                </a:r>
                <a:endParaRPr lang="es-ES" sz="2600" b="1" dirty="0"/>
              </a:p>
              <a:p>
                <a:pPr marL="0" indent="0">
                  <a:buNone/>
                </a:pPr>
                <a:r>
                  <a:rPr lang="es-ES" sz="2600" dirty="0"/>
                  <a:t>En los </a:t>
                </a:r>
                <a:r>
                  <a:rPr lang="es-ES" sz="2600" b="1" dirty="0"/>
                  <a:t>CPMMM </a:t>
                </a:r>
                <a:r>
                  <a:rPr lang="es-ES" sz="2600" dirty="0"/>
                  <a:t>existe el rol de </a:t>
                </a:r>
                <a:r>
                  <a:rPr lang="es-ES" sz="2600" b="1" dirty="0" err="1"/>
                  <a:t>Liquidity</a:t>
                </a:r>
                <a:r>
                  <a:rPr lang="es-ES" sz="2600" b="1" dirty="0"/>
                  <a:t> </a:t>
                </a:r>
                <a:r>
                  <a:rPr lang="es-ES" sz="2600" b="1" dirty="0" err="1"/>
                  <a:t>Provider</a:t>
                </a:r>
                <a:r>
                  <a:rPr lang="es-ES" sz="2600" dirty="0"/>
                  <a:t>, un inversor que se dedica a prestarle tokens a la </a:t>
                </a:r>
                <a:r>
                  <a:rPr lang="es-ES" sz="2600" b="1" dirty="0" err="1"/>
                  <a:t>liquidity</a:t>
                </a:r>
                <a:r>
                  <a:rPr lang="es-ES" sz="2600" b="1" dirty="0"/>
                  <a:t> pool.</a:t>
                </a:r>
                <a:endParaRPr lang="es-ES" sz="2600" dirty="0"/>
              </a:p>
              <a:p>
                <a:pPr marL="0" indent="0">
                  <a:buNone/>
                </a:pPr>
                <a:r>
                  <a:rPr lang="es-ES" sz="2600" dirty="0"/>
                  <a:t>La </a:t>
                </a:r>
                <a:r>
                  <a:rPr lang="es-ES" sz="2600" b="1" dirty="0"/>
                  <a:t>fee</a:t>
                </a:r>
                <a:r>
                  <a:rPr lang="es-ES" sz="2600" dirty="0"/>
                  <a:t>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s-ES" sz="2600" dirty="0"/>
                  <a:t> sobre el token de entrada que se cobra en cada </a:t>
                </a:r>
                <a:r>
                  <a:rPr lang="es-ES" sz="2600" b="1" dirty="0"/>
                  <a:t>swap</a:t>
                </a:r>
                <a:r>
                  <a:rPr lang="es-ES" sz="2600" dirty="0"/>
                  <a:t> va destinada a las ganancias de los </a:t>
                </a:r>
                <a:r>
                  <a:rPr lang="es-ES" sz="2600" b="1" dirty="0"/>
                  <a:t>LP</a:t>
                </a:r>
                <a:r>
                  <a:rPr lang="es-ES" sz="2600" dirty="0"/>
                  <a:t>, que se reparten según el </a:t>
                </a:r>
                <a:r>
                  <a:rPr lang="es-ES" sz="2600" b="1" dirty="0"/>
                  <a:t>%</a:t>
                </a:r>
                <a:r>
                  <a:rPr lang="es-ES" sz="2600" dirty="0"/>
                  <a:t> de liquidez que cada uno tiene en la pool.</a:t>
                </a:r>
                <a:endParaRPr lang="es-ES" sz="2600" b="1" dirty="0"/>
              </a:p>
              <a:p>
                <a:pPr marL="0" indent="0">
                  <a:buNone/>
                </a:pPr>
                <a:r>
                  <a:rPr lang="es-ES" sz="2600" noProof="0" dirty="0"/>
                  <a:t>Para agregar liquidez, el inversor invoca a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𝒂𝒅𝒅𝑳𝒊𝒒𝒖𝒊𝒅𝒊𝒕𝒚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600" b="1" i="1" smtClean="0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noProof="0" dirty="0"/>
                  <a:t>, donde se va a actualizar el estado manteniendo la proporción</a:t>
                </a:r>
                <a:r>
                  <a:rPr lang="es-ES" sz="2600" dirty="0"/>
                  <a:t> entre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s-ES" sz="2600" noProof="0" dirty="0"/>
                  <a:t> y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s-ES" sz="2600" dirty="0"/>
                  <a:t> que haya actualmente en la pool.</a:t>
                </a:r>
                <a:endParaRPr lang="es-ES" sz="2600" noProof="0" dirty="0"/>
              </a:p>
              <a:p>
                <a:pPr marL="0" indent="0">
                  <a:buNone/>
                </a:pPr>
                <a:endParaRPr lang="es-ES" sz="2600" noProof="0" dirty="0"/>
              </a:p>
              <a:p>
                <a:pPr marL="0" indent="0">
                  <a:buNone/>
                </a:pPr>
                <a:endParaRPr lang="es-ES" sz="2600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824E18F-9AC0-B35B-D14F-A42514FAC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0" y="1196857"/>
                <a:ext cx="9950103" cy="5250425"/>
              </a:xfrm>
              <a:blipFill>
                <a:blip r:embed="rId2"/>
                <a:stretch>
                  <a:fillRect l="-1103" t="-348" r="-1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93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EC1A-7ECD-5C56-079A-8BCE99B25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29A7F-4F07-488F-AB1B-F824FACD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A1D4CE0E-7521-5026-9874-E8A5685D3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27432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6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54864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59436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82296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2600" b="1" dirty="0"/>
                  <a:t>Liquidity </a:t>
                </a:r>
                <a:r>
                  <a:rPr lang="es-ES" sz="2600" b="1" dirty="0" err="1"/>
                  <a:t>providers</a:t>
                </a:r>
                <a:endParaRPr lang="es-ES" sz="2600" b="1" dirty="0"/>
              </a:p>
              <a:p>
                <a:pPr marL="0" indent="0">
                  <a:buNone/>
                </a:pPr>
                <a:r>
                  <a:rPr lang="es-ES" sz="2600" dirty="0"/>
                  <a:t>Se toma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s-ES" sz="2600" dirty="0"/>
                  <a:t> como la cantidad de tokens </a:t>
                </a:r>
                <a:r>
                  <a:rPr lang="es-ES" sz="2600" b="1" dirty="0"/>
                  <a:t>ETH</a:t>
                </a:r>
                <a:r>
                  <a:rPr lang="es-ES" sz="2600" dirty="0"/>
                  <a:t> a agregar a la pool, y se calculan cuántos </a:t>
                </a:r>
                <a:r>
                  <a:rPr lang="es-ES" sz="2600" b="1" dirty="0"/>
                  <a:t>exchange tokens</a:t>
                </a:r>
                <a:r>
                  <a:rPr lang="es-ES" sz="2600" dirty="0"/>
                  <a:t> se deberían agregar según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s-ES" sz="2600" dirty="0"/>
                  <a:t> para mantener el radio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s-ES" sz="2600" dirty="0"/>
                  <a:t> vigente, y si alcanza con los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s-ES" sz="2600" b="1" dirty="0"/>
                  <a:t> exchange tokens</a:t>
                </a:r>
                <a:r>
                  <a:rPr lang="es-ES" sz="2600" dirty="0"/>
                  <a:t> que transferimos al contrato, se actualiza el estado:</a:t>
                </a:r>
                <a:endParaRPr lang="es-ES" sz="2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" sz="2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" sz="2600" b="1" dirty="0"/>
              </a:p>
            </p:txBody>
          </p:sp>
        </mc:Choice>
        <mc:Fallback xmlns="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A1D4CE0E-7521-5026-9874-E8A5685D3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  <a:blipFill>
                <a:blip r:embed="rId3"/>
                <a:stretch>
                  <a:fillRect l="-1103" t="-348" r="-4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116AC5D7-B2FD-56B6-CF87-A88FDEA6E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225" y="4043082"/>
            <a:ext cx="5822434" cy="281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12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A0BD-160C-F0A2-6085-D1CD30CA4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391FA-706C-0FC6-F4B8-B218CD55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Market</a:t>
            </a:r>
            <a:r>
              <a:rPr lang="es-ES" dirty="0"/>
              <a:t> </a:t>
            </a:r>
            <a:r>
              <a:rPr lang="es-ES" dirty="0" err="1"/>
              <a:t>Maker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B6640EF8-FF87-12A1-BC69-D297F39584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27432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6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54864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59436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82296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2600" b="1" dirty="0"/>
                  <a:t>Liquidity </a:t>
                </a:r>
                <a:r>
                  <a:rPr lang="es-ES" sz="2600" b="1" dirty="0" err="1"/>
                  <a:t>providers</a:t>
                </a:r>
                <a:endParaRPr lang="es-ES" sz="2600" b="1" dirty="0"/>
              </a:p>
              <a:p>
                <a:pPr marL="0" indent="0">
                  <a:buNone/>
                </a:pPr>
                <a:r>
                  <a:rPr lang="es-ES" sz="2600" dirty="0"/>
                  <a:t>El </a:t>
                </a:r>
                <a:r>
                  <a:rPr lang="es-ES" sz="2600" b="1" dirty="0"/>
                  <a:t>LP </a:t>
                </a:r>
                <a:r>
                  <a:rPr lang="es-ES" sz="2600" dirty="0"/>
                  <a:t>puede quemar su porción de liquidez, invocando a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𝒓𝒆𝒎𝒐𝒗𝒆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𝑳𝒊𝒒𝒖𝒊𝒅𝒊𝒕𝒚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600" dirty="0"/>
                  <a:t>, donde se reembolsa una cantidad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s-ES" sz="2600" dirty="0"/>
                  <a:t> de su inversión.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" sz="2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" sz="2600" b="1" dirty="0"/>
              </a:p>
            </p:txBody>
          </p:sp>
        </mc:Choice>
        <mc:Fallback xmlns="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B6640EF8-FF87-12A1-BC69-D297F3958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  <a:blipFill>
                <a:blip r:embed="rId3"/>
                <a:stretch>
                  <a:fillRect l="-1103" t="-3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>
            <a:extLst>
              <a:ext uri="{FF2B5EF4-FFF2-40B4-BE49-F238E27FC236}">
                <a16:creationId xmlns:a16="http://schemas.microsoft.com/office/drawing/2014/main" id="{209EE58D-D3B9-1083-3C06-70B18A49E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57" y="3285116"/>
            <a:ext cx="7484708" cy="338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89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8762-7845-7D6A-BC87-04DF1B02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469AE6-4E42-549A-C102-B30E0664B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solidFill>
                  <a:schemeClr val="bg1">
                    <a:lumMod val="65000"/>
                  </a:schemeClr>
                </a:solidFill>
              </a:rPr>
              <a:t>Tipos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 de Exchanges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Exchanges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centralizados: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Order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Book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P2P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Automated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Makers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Constant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Product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Maker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Model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Trading</a:t>
            </a: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Liquidity</a:t>
            </a:r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providers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/>
              <a:t>Uniswap</a:t>
            </a:r>
            <a:endParaRPr lang="es-ES" sz="2400" b="1" dirty="0"/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Slippage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Impermanent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Loss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Sandwich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Attack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3950AC-2852-3086-258D-E9110ADE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4082476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D9BE-6400-1D36-B3C3-0682F231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BB181-55C9-14D5-63B8-1224C621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s-ES" dirty="0" err="1"/>
              <a:t>Uniswap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B54109DB-0F86-1F1C-05A6-14BB2370A3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27432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6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54864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59436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82296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600" dirty="0"/>
                  <a:t>Uniswap es un </a:t>
                </a:r>
                <a:r>
                  <a:rPr lang="en-US" sz="2600" dirty="0" err="1"/>
                  <a:t>protocolo</a:t>
                </a:r>
                <a:r>
                  <a:rPr lang="en-US" sz="2600" dirty="0"/>
                  <a:t> de </a:t>
                </a:r>
                <a:r>
                  <a:rPr lang="en-US" sz="2600" dirty="0" err="1"/>
                  <a:t>intercambio</a:t>
                </a:r>
                <a:r>
                  <a:rPr lang="en-US" sz="2600" dirty="0"/>
                  <a:t> </a:t>
                </a:r>
                <a:r>
                  <a:rPr lang="en-US" sz="2600" dirty="0" err="1"/>
                  <a:t>descentralizado</a:t>
                </a:r>
                <a:r>
                  <a:rPr lang="en-US" sz="2600" dirty="0"/>
                  <a:t> </a:t>
                </a:r>
                <a:r>
                  <a:rPr lang="en-US" sz="2600" dirty="0" err="1"/>
                  <a:t>basado</a:t>
                </a:r>
                <a:r>
                  <a:rPr lang="en-US" sz="2600" dirty="0"/>
                  <a:t> </a:t>
                </a:r>
                <a:r>
                  <a:rPr lang="en-US" sz="2600" dirty="0" err="1"/>
                  <a:t>en</a:t>
                </a:r>
                <a:r>
                  <a:rPr lang="en-US" sz="2600" dirty="0"/>
                  <a:t> </a:t>
                </a:r>
                <a:r>
                  <a:rPr lang="en-US" sz="2600" dirty="0" err="1"/>
                  <a:t>el</a:t>
                </a:r>
                <a:r>
                  <a:rPr lang="en-US" sz="2600" dirty="0"/>
                  <a:t> </a:t>
                </a:r>
                <a:r>
                  <a:rPr lang="en-US" sz="2600" dirty="0" err="1"/>
                  <a:t>modelo</a:t>
                </a:r>
                <a:r>
                  <a:rPr lang="en-US" sz="2600" dirty="0"/>
                  <a:t> de</a:t>
                </a:r>
                <a:r>
                  <a:rPr lang="es-ES" sz="2600" dirty="0"/>
                  <a:t> </a:t>
                </a:r>
                <a:r>
                  <a:rPr lang="es-ES" sz="2600" b="1" dirty="0" err="1"/>
                  <a:t>Constant</a:t>
                </a:r>
                <a:r>
                  <a:rPr lang="es-ES" sz="2600" b="1" dirty="0"/>
                  <a:t> </a:t>
                </a:r>
                <a:r>
                  <a:rPr lang="es-ES" sz="2600" b="1" dirty="0" err="1"/>
                  <a:t>Product</a:t>
                </a:r>
                <a:r>
                  <a:rPr lang="es-ES" sz="2600" b="1" dirty="0"/>
                  <a:t> </a:t>
                </a:r>
                <a:r>
                  <a:rPr lang="es-ES" sz="2600" b="1" dirty="0" err="1"/>
                  <a:t>Market</a:t>
                </a:r>
                <a:r>
                  <a:rPr lang="es-ES" sz="2600" b="1" dirty="0"/>
                  <a:t> </a:t>
                </a:r>
                <a:r>
                  <a:rPr lang="es-ES" sz="2600" b="1" dirty="0" err="1"/>
                  <a:t>Maker</a:t>
                </a:r>
                <a:r>
                  <a:rPr lang="es-ES" sz="2600" dirty="0"/>
                  <a:t>. Sus dos primeras versiones son:</a:t>
                </a:r>
              </a:p>
              <a:p>
                <a:r>
                  <a:rPr lang="es-ES" sz="2600" b="1" dirty="0" err="1"/>
                  <a:t>Uniswap</a:t>
                </a:r>
                <a:r>
                  <a:rPr lang="es-ES" sz="2600" b="1" dirty="0"/>
                  <a:t> V1:</a:t>
                </a:r>
                <a:r>
                  <a:rPr lang="es-ES" sz="2600" dirty="0"/>
                  <a:t> Intercambia tokens </a:t>
                </a:r>
                <a:r>
                  <a:rPr lang="es-ES" sz="2600" b="1" dirty="0"/>
                  <a:t>ETH</a:t>
                </a:r>
                <a:r>
                  <a:rPr lang="es-ES" sz="2600" dirty="0"/>
                  <a:t> por tokens </a:t>
                </a:r>
                <a:r>
                  <a:rPr lang="es-ES" sz="2600" b="1" dirty="0"/>
                  <a:t>ERC-20</a:t>
                </a:r>
                <a:r>
                  <a:rPr lang="es-ES" sz="2600" dirty="0"/>
                  <a:t>. Para el </a:t>
                </a:r>
                <a:r>
                  <a:rPr lang="es-ES" sz="2600" dirty="0" err="1"/>
                  <a:t>trade</a:t>
                </a:r>
                <a:r>
                  <a:rPr lang="es-ES" sz="2600" dirty="0"/>
                  <a:t> entre dos tokens </a:t>
                </a:r>
                <a:r>
                  <a:rPr lang="es-ES" sz="2600" b="1" dirty="0"/>
                  <a:t>ERC-20</a:t>
                </a:r>
                <a:r>
                  <a:rPr lang="es-ES" sz="2600" dirty="0"/>
                  <a:t> se requiere usar dos contratos para saltar: </a:t>
                </a:r>
                <a:r>
                  <a:rPr lang="es-ES" sz="2600" dirty="0">
                    <a:solidFill>
                      <a:srgbClr val="0070C0"/>
                    </a:solidFill>
                  </a:rPr>
                  <a:t>Token A </a:t>
                </a:r>
                <a:r>
                  <a:rPr lang="es-ES" sz="26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ETH  Token B</a:t>
                </a:r>
                <a:endParaRPr lang="es-ES" sz="2600" b="1" dirty="0">
                  <a:solidFill>
                    <a:srgbClr val="0070C0"/>
                  </a:solidFill>
                </a:endParaRPr>
              </a:p>
              <a:p>
                <a:r>
                  <a:rPr lang="es-ES" sz="2600" b="1" dirty="0" err="1"/>
                  <a:t>Uniswap</a:t>
                </a:r>
                <a:r>
                  <a:rPr lang="es-ES" sz="2600" b="1" dirty="0"/>
                  <a:t> V2:</a:t>
                </a:r>
                <a:r>
                  <a:rPr lang="es-ES" sz="2600" dirty="0"/>
                  <a:t> Permite el intercambio entre cualquier par de tokens </a:t>
                </a:r>
                <a:r>
                  <a:rPr lang="es-ES" sz="2600" b="1" dirty="0"/>
                  <a:t>ERC-20</a:t>
                </a:r>
                <a:endParaRPr lang="es-ES" sz="2600" dirty="0"/>
              </a:p>
              <a:p>
                <a:pPr marL="0" indent="0">
                  <a:buNone/>
                </a:pPr>
                <a:r>
                  <a:rPr lang="es-ES" sz="2600" dirty="0"/>
                  <a:t>En este trabajo implementamos </a:t>
                </a:r>
                <a:r>
                  <a:rPr lang="es-ES" sz="2600" b="1" dirty="0" err="1"/>
                  <a:t>Uniswap</a:t>
                </a:r>
                <a:r>
                  <a:rPr lang="es-ES" sz="2600" b="1" dirty="0"/>
                  <a:t> V1</a:t>
                </a:r>
                <a:r>
                  <a:rPr lang="es-ES" sz="2600" dirty="0"/>
                  <a:t>, con una pool de intercambio </a:t>
                </a:r>
                <a:r>
                  <a:rPr lang="es-ES" sz="2600" b="1" dirty="0"/>
                  <a:t>ETH/DAI</a:t>
                </a:r>
                <a:r>
                  <a:rPr lang="es-ES" sz="2600" dirty="0"/>
                  <a:t>, y una </a:t>
                </a:r>
                <a:r>
                  <a:rPr lang="es-ES" sz="2600" b="1" dirty="0"/>
                  <a:t>fee</a:t>
                </a:r>
                <a:r>
                  <a:rPr lang="es-ES" sz="2600" dirty="0"/>
                  <a:t> </a:t>
                </a:r>
                <a14:m>
                  <m:oMath xmlns:m="http://schemas.openxmlformats.org/officeDocument/2006/math">
                    <m:r>
                      <a:rPr lang="el-GR" sz="2600" b="1" i="1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sz="2600" dirty="0"/>
                  <a:t> por transacción.</a:t>
                </a:r>
                <a:endParaRPr lang="es-ES" sz="2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" sz="2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" sz="2600" b="1" dirty="0"/>
              </a:p>
            </p:txBody>
          </p:sp>
        </mc:Choice>
        <mc:Fallback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B54109DB-0F86-1F1C-05A6-14BB2370A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  <a:blipFill>
                <a:blip r:embed="rId3"/>
                <a:stretch>
                  <a:fillRect l="-1103" t="-348" r="-1348" b="-16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424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609B-E55F-3CE7-F18B-AE9DC21D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F31111-1171-6366-C367-874F7A5B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4" y="1426663"/>
            <a:ext cx="9950103" cy="5094361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solidFill>
                  <a:schemeClr val="bg1">
                    <a:lumMod val="65000"/>
                  </a:schemeClr>
                </a:solidFill>
              </a:rPr>
              <a:t>Tipos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 de Exchanges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Exchanges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centralizados: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Order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Book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P2P</a:t>
            </a:r>
          </a:p>
          <a:p>
            <a:pPr lvl="1"/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Automated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dirty="0" err="1">
                <a:solidFill>
                  <a:schemeClr val="bg1">
                    <a:lumMod val="65000"/>
                  </a:schemeClr>
                </a:solidFill>
              </a:rPr>
              <a:t>Makers</a:t>
            </a:r>
            <a:endParaRPr lang="es-ES" sz="2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Constant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Product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Market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Maker</a:t>
            </a:r>
            <a:r>
              <a:rPr lang="es-ES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65000"/>
                  </a:schemeClr>
                </a:solidFill>
              </a:rPr>
              <a:t>Model</a:t>
            </a:r>
            <a:endParaRPr lang="es-ES" sz="2400" b="1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Trading</a:t>
            </a:r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Liquidity</a:t>
            </a:r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2200" b="1" dirty="0" err="1">
                <a:solidFill>
                  <a:schemeClr val="bg1">
                    <a:lumMod val="65000"/>
                  </a:schemeClr>
                </a:solidFill>
              </a:rPr>
              <a:t>providers</a:t>
            </a:r>
            <a:endParaRPr lang="es-ES" sz="22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" sz="2400" b="1" dirty="0" err="1"/>
              <a:t>Uniswap</a:t>
            </a:r>
            <a:endParaRPr lang="es-ES" sz="2400" b="1" dirty="0"/>
          </a:p>
          <a:p>
            <a:pPr lvl="1"/>
            <a:r>
              <a:rPr lang="es-ES" sz="2200" b="1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s-ES" sz="2200" b="1" dirty="0" err="1"/>
              <a:t>Slippage</a:t>
            </a:r>
            <a:endParaRPr lang="es-ES" sz="2200" b="1" dirty="0"/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Impermanent</a:t>
            </a:r>
            <a:r>
              <a:rPr lang="es-ES" sz="2200" dirty="0"/>
              <a:t> </a:t>
            </a:r>
            <a:r>
              <a:rPr lang="es-ES" sz="2200" dirty="0" err="1"/>
              <a:t>Loss</a:t>
            </a:r>
            <a:endParaRPr lang="es-ES" sz="2200" dirty="0"/>
          </a:p>
          <a:p>
            <a:pPr lvl="1"/>
            <a:r>
              <a:rPr lang="es-ES" sz="2200" dirty="0"/>
              <a:t>   </a:t>
            </a:r>
            <a:r>
              <a:rPr lang="es-ES" sz="2200" dirty="0" err="1"/>
              <a:t>Sandwich</a:t>
            </a:r>
            <a:r>
              <a:rPr lang="es-ES" sz="2200" dirty="0"/>
              <a:t> </a:t>
            </a:r>
            <a:r>
              <a:rPr lang="es-ES" sz="2200" dirty="0" err="1"/>
              <a:t>Attack</a:t>
            </a:r>
            <a:endParaRPr lang="es-ES" sz="2200" dirty="0"/>
          </a:p>
          <a:p>
            <a:pPr lvl="1"/>
            <a:endParaRPr lang="es-ES" sz="22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856E8E2-61F9-C34F-7C88-2914D8D1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3" y="499208"/>
            <a:ext cx="9950103" cy="710160"/>
          </a:xfrm>
        </p:spPr>
        <p:txBody>
          <a:bodyPr anchor="t">
            <a:noAutofit/>
          </a:bodyPr>
          <a:lstStyle/>
          <a:p>
            <a:r>
              <a:rPr lang="en-US" sz="4000" dirty="0"/>
              <a:t>Automated Market Makers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448322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271B-880D-55A0-C893-6600E589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88280-F178-18D7-10CE-A2E92E39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/>
              <a:t>Uniswap: </a:t>
            </a:r>
            <a:r>
              <a:rPr lang="en-US" dirty="0" err="1"/>
              <a:t>Desventajas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0973546-2D55-CC58-648C-1521B8DCC322}"/>
              </a:ext>
            </a:extLst>
          </p:cNvPr>
          <p:cNvSpPr txBox="1">
            <a:spLocks/>
          </p:cNvSpPr>
          <p:nvPr/>
        </p:nvSpPr>
        <p:spPr>
          <a:xfrm>
            <a:off x="1077360" y="1196857"/>
            <a:ext cx="9950103" cy="5250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Slippage</a:t>
            </a:r>
          </a:p>
          <a:p>
            <a:pPr marL="0" indent="0">
              <a:buNone/>
            </a:pPr>
            <a:r>
              <a:rPr lang="en-US" sz="2600" dirty="0"/>
              <a:t>Si la </a:t>
            </a:r>
            <a:r>
              <a:rPr lang="en-US" sz="2600" b="1" dirty="0"/>
              <a:t>liquidity pool</a:t>
            </a:r>
            <a:r>
              <a:rPr lang="en-US" sz="2600" dirty="0"/>
              <a:t> es </a:t>
            </a:r>
            <a:r>
              <a:rPr lang="en-US" sz="2600" dirty="0" err="1"/>
              <a:t>muy</a:t>
            </a:r>
            <a:r>
              <a:rPr lang="en-US" sz="2600" dirty="0"/>
              <a:t> </a:t>
            </a:r>
            <a:r>
              <a:rPr lang="en-US" sz="2600" dirty="0" err="1"/>
              <a:t>peque</a:t>
            </a:r>
            <a:r>
              <a:rPr lang="es-ES" sz="2600" dirty="0" err="1"/>
              <a:t>ña</a:t>
            </a:r>
            <a:r>
              <a:rPr lang="es-ES" sz="2600" dirty="0"/>
              <a:t>, cualquier operación relativamente grande desbalancea el precio más que en modelos con un </a:t>
            </a:r>
            <a:r>
              <a:rPr lang="es-ES" sz="2600" b="1" dirty="0" err="1"/>
              <a:t>Order</a:t>
            </a:r>
            <a:r>
              <a:rPr lang="es-ES" sz="2600" b="1" dirty="0"/>
              <a:t> Book</a:t>
            </a:r>
            <a:r>
              <a:rPr lang="es-ES" sz="2600" dirty="0"/>
              <a:t>.</a:t>
            </a:r>
          </a:p>
          <a:p>
            <a:r>
              <a:rPr lang="en-US" sz="2800" b="1" dirty="0"/>
              <a:t>Impermanent Loss</a:t>
            </a:r>
          </a:p>
          <a:p>
            <a:pPr marL="0" indent="0">
              <a:buNone/>
            </a:pPr>
            <a:r>
              <a:rPr lang="en-US" sz="2600" dirty="0"/>
              <a:t>La </a:t>
            </a:r>
            <a:r>
              <a:rPr lang="en-US" sz="2600" dirty="0" err="1"/>
              <a:t>pérdida</a:t>
            </a:r>
            <a:r>
              <a:rPr lang="en-US" sz="2600" dirty="0"/>
              <a:t> </a:t>
            </a:r>
            <a:r>
              <a:rPr lang="en-US" sz="2600" dirty="0" err="1"/>
              <a:t>impermanente</a:t>
            </a:r>
            <a:r>
              <a:rPr lang="en-US" sz="2600" dirty="0"/>
              <a:t> que </a:t>
            </a:r>
            <a:r>
              <a:rPr lang="en-US" sz="2600" dirty="0" err="1"/>
              <a:t>sufre</a:t>
            </a:r>
            <a:r>
              <a:rPr lang="en-US" sz="2600" dirty="0"/>
              <a:t> un </a:t>
            </a:r>
            <a:r>
              <a:rPr lang="en-US" sz="2600" b="1" dirty="0"/>
              <a:t>LP</a:t>
            </a:r>
            <a:r>
              <a:rPr lang="en-US" sz="2600" dirty="0"/>
              <a:t> </a:t>
            </a:r>
            <a:r>
              <a:rPr lang="en-US" sz="2600" dirty="0" err="1"/>
              <a:t>ocurre</a:t>
            </a:r>
            <a:r>
              <a:rPr lang="en-US" sz="2600" dirty="0"/>
              <a:t> </a:t>
            </a:r>
            <a:r>
              <a:rPr lang="en-US" sz="2600" dirty="0" err="1"/>
              <a:t>cuando</a:t>
            </a:r>
            <a:r>
              <a:rPr lang="en-US" sz="2600" dirty="0"/>
              <a:t> </a:t>
            </a:r>
            <a:r>
              <a:rPr lang="en-US" sz="2600" dirty="0" err="1"/>
              <a:t>los</a:t>
            </a:r>
            <a:r>
              <a:rPr lang="en-US" sz="2600" dirty="0"/>
              <a:t> </a:t>
            </a:r>
            <a:r>
              <a:rPr lang="en-US" sz="2600" dirty="0" err="1"/>
              <a:t>activos</a:t>
            </a:r>
            <a:r>
              <a:rPr lang="en-US" sz="2600" dirty="0"/>
              <a:t> que </a:t>
            </a:r>
            <a:r>
              <a:rPr lang="en-US" sz="2600" dirty="0" err="1"/>
              <a:t>mantenía</a:t>
            </a:r>
            <a:r>
              <a:rPr lang="en-US" sz="2600" dirty="0"/>
              <a:t> </a:t>
            </a:r>
            <a:r>
              <a:rPr lang="en-US" sz="2600" dirty="0" err="1"/>
              <a:t>dentro</a:t>
            </a:r>
            <a:r>
              <a:rPr lang="en-US" sz="2600" dirty="0"/>
              <a:t> del </a:t>
            </a:r>
            <a:r>
              <a:rPr lang="en-US" sz="2600" dirty="0" err="1"/>
              <a:t>contrato</a:t>
            </a:r>
            <a:r>
              <a:rPr lang="en-US" sz="2600" dirty="0"/>
              <a:t> </a:t>
            </a:r>
            <a:r>
              <a:rPr lang="en-US" sz="2600" dirty="0" err="1"/>
              <a:t>bajan</a:t>
            </a:r>
            <a:r>
              <a:rPr lang="en-US" sz="2600" dirty="0"/>
              <a:t> a </a:t>
            </a:r>
            <a:r>
              <a:rPr lang="en-US" sz="2600" dirty="0" err="1"/>
              <a:t>comparaci</a:t>
            </a:r>
            <a:r>
              <a:rPr lang="es-ES" sz="2600" dirty="0" err="1"/>
              <a:t>ó</a:t>
            </a:r>
            <a:r>
              <a:rPr lang="en-US" sz="2600" dirty="0"/>
              <a:t>n de sus </a:t>
            </a:r>
            <a:r>
              <a:rPr lang="en-US" sz="2600" dirty="0" err="1"/>
              <a:t>precios</a:t>
            </a:r>
            <a:r>
              <a:rPr lang="en-US" sz="2600" dirty="0"/>
              <a:t> fuera del </a:t>
            </a:r>
            <a:r>
              <a:rPr lang="en-US" sz="2600" dirty="0" err="1"/>
              <a:t>contrato</a:t>
            </a:r>
            <a:r>
              <a:rPr lang="en-US" sz="2600" dirty="0"/>
              <a:t>. Se llama “</a:t>
            </a:r>
            <a:r>
              <a:rPr lang="en-US" sz="2600" dirty="0" err="1"/>
              <a:t>impermanente</a:t>
            </a:r>
            <a:r>
              <a:rPr lang="en-US" sz="2600" dirty="0"/>
              <a:t>” </a:t>
            </a:r>
            <a:r>
              <a:rPr lang="en-US" sz="2600" dirty="0" err="1"/>
              <a:t>porque</a:t>
            </a:r>
            <a:r>
              <a:rPr lang="en-US" sz="2600" dirty="0"/>
              <a:t> </a:t>
            </a:r>
            <a:r>
              <a:rPr lang="en-US" sz="2600" dirty="0" err="1"/>
              <a:t>mientras</a:t>
            </a:r>
            <a:r>
              <a:rPr lang="en-US" sz="2600" dirty="0"/>
              <a:t> que </a:t>
            </a:r>
            <a:r>
              <a:rPr lang="en-US" sz="2600" dirty="0" err="1"/>
              <a:t>los</a:t>
            </a:r>
            <a:r>
              <a:rPr lang="en-US" sz="2600" dirty="0"/>
              <a:t> </a:t>
            </a:r>
            <a:r>
              <a:rPr lang="en-US" sz="2600" dirty="0" err="1"/>
              <a:t>precios</a:t>
            </a:r>
            <a:r>
              <a:rPr lang="en-US" sz="2600" dirty="0"/>
              <a:t> </a:t>
            </a:r>
            <a:r>
              <a:rPr lang="en-US" sz="2600" dirty="0" err="1"/>
              <a:t>vuelvan</a:t>
            </a:r>
            <a:r>
              <a:rPr lang="en-US" sz="2600" dirty="0"/>
              <a:t> al punto </a:t>
            </a:r>
            <a:r>
              <a:rPr lang="en-US" sz="2600" dirty="0" err="1"/>
              <a:t>inicial</a:t>
            </a:r>
            <a:r>
              <a:rPr lang="en-US" sz="2600" dirty="0"/>
              <a:t>, la p</a:t>
            </a:r>
            <a:r>
              <a:rPr lang="es-ES" sz="2600" dirty="0" err="1"/>
              <a:t>érdida</a:t>
            </a:r>
            <a:r>
              <a:rPr lang="es-ES" sz="2600" dirty="0"/>
              <a:t> desaparece, pero si los precios nunca vuelven, la pérdida es </a:t>
            </a:r>
            <a:r>
              <a:rPr lang="es-ES" sz="2600" b="1" dirty="0"/>
              <a:t>permanente</a:t>
            </a:r>
            <a:r>
              <a:rPr lang="es-ES" sz="2600" dirty="0"/>
              <a:t>. Como el </a:t>
            </a:r>
            <a:r>
              <a:rPr lang="es-ES" sz="2600" b="1" dirty="0"/>
              <a:t>LP</a:t>
            </a:r>
            <a:r>
              <a:rPr lang="es-ES" sz="2600" dirty="0"/>
              <a:t> al querer quemar su liquidez, obtiene de vuelta su </a:t>
            </a:r>
            <a:r>
              <a:rPr lang="es-ES" sz="2600" b="1" dirty="0"/>
              <a:t>%</a:t>
            </a:r>
            <a:r>
              <a:rPr lang="es-ES" sz="2600" dirty="0"/>
              <a:t> de la pool, no se reembolsa los activos en el balance que estaban cuando invirtió</a:t>
            </a:r>
            <a:r>
              <a:rPr lang="en-US" sz="2600" dirty="0"/>
              <a:t>, </a:t>
            </a:r>
            <a:r>
              <a:rPr lang="en-US" sz="2600" dirty="0" err="1"/>
              <a:t>sino</a:t>
            </a:r>
            <a:r>
              <a:rPr lang="en-US" sz="2600" dirty="0"/>
              <a:t> que </a:t>
            </a:r>
            <a:r>
              <a:rPr lang="en-US" sz="2600" dirty="0" err="1"/>
              <a:t>en</a:t>
            </a:r>
            <a:r>
              <a:rPr lang="en-US" sz="2600" dirty="0"/>
              <a:t> </a:t>
            </a:r>
            <a:r>
              <a:rPr lang="en-US" sz="2600" dirty="0" err="1"/>
              <a:t>el</a:t>
            </a:r>
            <a:r>
              <a:rPr lang="en-US" sz="2600" dirty="0"/>
              <a:t> balance actual.</a:t>
            </a:r>
            <a:endParaRPr lang="es-ES" sz="2600" dirty="0"/>
          </a:p>
          <a:p>
            <a:pPr marL="0" indent="0">
              <a:buNone/>
            </a:pPr>
            <a:endParaRPr lang="es-ES" sz="2600" b="1" dirty="0"/>
          </a:p>
        </p:txBody>
      </p:sp>
    </p:spTree>
    <p:extLst>
      <p:ext uri="{BB962C8B-B14F-4D97-AF65-F5344CB8AC3E}">
        <p14:creationId xmlns:p14="http://schemas.microsoft.com/office/powerpoint/2010/main" val="135931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CBD4-CD4A-E139-06E8-E5294509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6EFBC-DF70-CC29-FC58-572CBFAF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/>
              <a:t>Uniswap: </a:t>
            </a:r>
            <a:r>
              <a:rPr lang="en-US" dirty="0" err="1"/>
              <a:t>Desventajas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B723870-D03A-FAED-9B5E-78ABD5D924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0" y="1120878"/>
                <a:ext cx="9950103" cy="5250425"/>
              </a:xfrm>
            </p:spPr>
            <p:txBody>
              <a:bodyPr>
                <a:normAutofit/>
              </a:bodyPr>
              <a:lstStyle/>
              <a:p>
                <a:r>
                  <a:rPr lang="es-ES" sz="2600" b="1" dirty="0"/>
                  <a:t>Ejemplo de </a:t>
                </a:r>
                <a:r>
                  <a:rPr lang="en-US" sz="2600" b="1" dirty="0"/>
                  <a:t>Impermanent Loss</a:t>
                </a:r>
                <a:endParaRPr lang="es-ES" sz="2600" b="1" dirty="0"/>
              </a:p>
              <a:p>
                <a:pPr marL="0" indent="0">
                  <a:buNone/>
                </a:pPr>
                <a:r>
                  <a:rPr lang="en-US" sz="2600" noProof="0" dirty="0"/>
                  <a:t>Si </a:t>
                </a:r>
                <a:r>
                  <a:rPr lang="en-US" sz="2600" noProof="0" dirty="0" err="1"/>
                  <a:t>el</a:t>
                </a:r>
                <a:r>
                  <a:rPr lang="en-US" sz="2600" noProof="0" dirty="0"/>
                  <a:t> </a:t>
                </a:r>
                <a:r>
                  <a:rPr lang="en-US" sz="2600" b="1" dirty="0"/>
                  <a:t>LP</a:t>
                </a:r>
                <a:r>
                  <a:rPr lang="en-US" sz="2600" dirty="0"/>
                  <a:t> </a:t>
                </a:r>
                <a:r>
                  <a:rPr lang="en-US" sz="2600" dirty="0" err="1"/>
                  <a:t>invirti</a:t>
                </a:r>
                <a:r>
                  <a:rPr lang="es-ES" sz="2600" dirty="0" err="1"/>
                  <a:t>ó</a:t>
                </a:r>
                <a:r>
                  <a:rPr lang="es-ES" sz="2600" dirty="0"/>
                  <a:t>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𝑬𝑻𝑯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s-ES" sz="2600" dirty="0"/>
                  <a:t> en una pool, convirtiéndose en dueño de un </a:t>
                </a:r>
                <a14:m>
                  <m:oMath xmlns:m="http://schemas.openxmlformats.org/officeDocument/2006/math">
                    <m:r>
                      <a:rPr lang="es-ES" sz="2600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sz="2600" dirty="0"/>
                  <a:t> de la </a:t>
                </a:r>
                <a:r>
                  <a:rPr lang="es-ES" sz="2600" dirty="0" err="1"/>
                  <a:t>liquidity</a:t>
                </a:r>
                <a:r>
                  <a:rPr lang="es-ES" sz="2600" dirty="0"/>
                  <a:t>, y luego el precio exterior cambia a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𝑬𝑻𝑯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s-ES" sz="2600" dirty="0"/>
                  <a:t> y se refleja en la pool, al quemar liquidez su </a:t>
                </a:r>
                <a14:m>
                  <m:oMath xmlns:m="http://schemas.openxmlformats.org/officeDocument/2006/math">
                    <m:r>
                      <a:rPr lang="es-ES" sz="2600" b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sz="2600" dirty="0"/>
                  <a:t> se compondrá de:</a:t>
                </a:r>
              </a:p>
              <a:p>
                <a:pPr marL="0" indent="0" algn="ctr">
                  <a:buNone/>
                </a:pPr>
                <a:r>
                  <a:rPr lang="es-E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𝑬𝑻𝑯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endParaRPr lang="en-US" sz="2600" b="1" dirty="0"/>
              </a:p>
              <a:p>
                <a:pPr marL="0" indent="0">
                  <a:buNone/>
                </a:pPr>
                <a:r>
                  <a:rPr lang="es-ES" sz="2600" dirty="0"/>
                  <a:t>Sin embargo, si hubiera </a:t>
                </a:r>
                <a:r>
                  <a:rPr lang="es-ES" sz="2600" b="1" i="1" dirty="0" err="1"/>
                  <a:t>holdeado</a:t>
                </a:r>
                <a:r>
                  <a:rPr lang="es-ES" sz="2600" dirty="0"/>
                  <a:t> y no hubiera invertido en la pool, actualmente tendría:</a:t>
                </a:r>
              </a:p>
              <a:p>
                <a:pPr marL="0" indent="0" algn="ctr">
                  <a:buNone/>
                </a:pPr>
                <a:r>
                  <a:rPr lang="es-E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𝑬𝑻𝑯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endParaRPr lang="en-US" sz="2600" b="1" dirty="0"/>
              </a:p>
              <a:p>
                <a:pPr marL="0" indent="0">
                  <a:buNone/>
                </a:pPr>
                <a:endParaRPr lang="es-ES" sz="2600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B723870-D03A-FAED-9B5E-78ABD5D92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0" y="1120878"/>
                <a:ext cx="9950103" cy="5250425"/>
              </a:xfrm>
              <a:blipFill>
                <a:blip r:embed="rId2"/>
                <a:stretch>
                  <a:fillRect l="-1103" t="-348" r="-2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98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3E2A9-AD1B-35D8-3FA1-E32C390C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45FAE-0F06-60F4-ADB2-1D59DB32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/>
              <a:t>Uniswap: </a:t>
            </a:r>
            <a:r>
              <a:rPr lang="en-US" dirty="0" err="1"/>
              <a:t>Desventajas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5617BE6D-92D7-9703-EC2C-8AB95D13DE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27432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6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54864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59436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Tx/>
                  <a:buNone/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82296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600" b="1" dirty="0"/>
                  <a:t>Sandwich Attack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El </a:t>
                </a:r>
                <a:r>
                  <a:rPr lang="en-US" sz="2600" dirty="0" err="1"/>
                  <a:t>atacante</a:t>
                </a:r>
                <a:r>
                  <a:rPr lang="en-US" sz="2600" dirty="0"/>
                  <a:t> </a:t>
                </a:r>
                <a:r>
                  <a:rPr lang="en-US" sz="2600" dirty="0" err="1"/>
                  <a:t>observa</a:t>
                </a:r>
                <a:r>
                  <a:rPr lang="en-US" sz="2600" dirty="0"/>
                  <a:t> </a:t>
                </a:r>
                <a:r>
                  <a:rPr lang="en-US" sz="2600" dirty="0" err="1"/>
                  <a:t>en</a:t>
                </a:r>
                <a:r>
                  <a:rPr lang="en-US" sz="2600" dirty="0"/>
                  <a:t> la </a:t>
                </a:r>
                <a:r>
                  <a:rPr lang="en-US" sz="2600" b="1" dirty="0" err="1"/>
                  <a:t>mempool</a:t>
                </a:r>
                <a:r>
                  <a:rPr lang="en-US" sz="2600" b="1" dirty="0"/>
                  <a:t> </a:t>
                </a:r>
                <a:r>
                  <a:rPr lang="en-US" sz="2600" dirty="0"/>
                  <a:t>que la </a:t>
                </a:r>
                <a:r>
                  <a:rPr lang="es-ES" sz="2600" dirty="0"/>
                  <a:t>víctima va a realizar un </a:t>
                </a:r>
                <a:r>
                  <a:rPr lang="es-ES" sz="2600" b="1" dirty="0"/>
                  <a:t>swap</a:t>
                </a:r>
                <a:r>
                  <a:rPr lang="es-ES" sz="2600" dirty="0"/>
                  <a:t> grande de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sz="2600" dirty="0"/>
                  <a:t> a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600" dirty="0"/>
                  <a:t> (vende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sz="2600" dirty="0"/>
                  <a:t> a cambio de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600" dirty="0"/>
                  <a:t>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s-ES" sz="2600" dirty="0"/>
                  <a:t>Compra el activo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600" dirty="0"/>
                  <a:t> antes de que se ejecute el </a:t>
                </a:r>
                <a:r>
                  <a:rPr lang="es-ES" sz="2600" b="1" dirty="0"/>
                  <a:t>swap </a:t>
                </a:r>
                <a:r>
                  <a:rPr lang="es-ES" sz="2600" dirty="0"/>
                  <a:t>de la víctima y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600" dirty="0"/>
                  <a:t> suba de precio.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s-ES" sz="2600" dirty="0"/>
                  <a:t>La víctima obtiene menor cantidad de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600" dirty="0"/>
                  <a:t> porque el atacante lo subió levemente de precio.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s-ES" sz="2600" dirty="0"/>
                  <a:t>El atacante aprovecha que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sz="2600" dirty="0"/>
                  <a:t> está barato, utiliza el activo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600" dirty="0"/>
                  <a:t> que compró antes para comprar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sz="2600" dirty="0"/>
                  <a:t>, recuperando la inversión y obteniendo ganancias seguras.</a:t>
                </a:r>
              </a:p>
            </p:txBody>
          </p:sp>
        </mc:Choice>
        <mc:Fallback xmlns="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5617BE6D-92D7-9703-EC2C-8AB95D13D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60" y="1196857"/>
                <a:ext cx="9950103" cy="5250425"/>
              </a:xfrm>
              <a:prstGeom prst="rect">
                <a:avLst/>
              </a:prstGeom>
              <a:blipFill>
                <a:blip r:embed="rId3"/>
                <a:stretch>
                  <a:fillRect l="-980" t="-928" r="-4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736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66AD1-EB9F-B4A3-4A0C-FAF6E25A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57464-7C0F-71D7-1F93-87129A39E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410718"/>
            <a:ext cx="9950103" cy="710160"/>
          </a:xfrm>
        </p:spPr>
        <p:txBody>
          <a:bodyPr anchor="t"/>
          <a:lstStyle/>
          <a:p>
            <a:r>
              <a:rPr lang="en-US" dirty="0"/>
              <a:t>Uniswap: </a:t>
            </a:r>
            <a:r>
              <a:rPr lang="en-US" dirty="0" err="1"/>
              <a:t>Desventajas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ADA069B-C920-36B9-810E-81F991091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360" y="1120878"/>
                <a:ext cx="9950103" cy="52504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sz="2600" b="1" dirty="0"/>
                  <a:t>Ejemplo de </a:t>
                </a:r>
                <a:r>
                  <a:rPr lang="es-ES" sz="2600" b="1" dirty="0" err="1"/>
                  <a:t>Sandwich</a:t>
                </a:r>
                <a:r>
                  <a:rPr lang="es-ES" sz="2600" b="1" dirty="0"/>
                  <a:t> </a:t>
                </a:r>
                <a:r>
                  <a:rPr lang="es-ES" sz="2600" b="1" dirty="0" err="1"/>
                  <a:t>Attack</a:t>
                </a:r>
                <a:r>
                  <a:rPr lang="es-ES" sz="2600" b="1" dirty="0"/>
                  <a:t> </a:t>
                </a:r>
                <a:r>
                  <a:rPr lang="es-ES" sz="2600" b="1" dirty="0">
                    <a:solidFill>
                      <a:srgbClr val="C00000"/>
                    </a:solidFill>
                  </a:rPr>
                  <a:t>(con valores aproximados)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noProof="0" dirty="0"/>
                  <a:t>En </a:t>
                </a:r>
                <a:r>
                  <a:rPr lang="en-US" sz="2600" noProof="0" dirty="0" err="1"/>
                  <a:t>una</a:t>
                </a:r>
                <a:r>
                  <a:rPr lang="en-US" sz="2600" noProof="0" dirty="0"/>
                  <a:t> pool de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n-US" sz="2600" noProof="0" dirty="0"/>
                  <a:t> y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𝟐𝟎𝟎𝟎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𝑬𝑻𝑯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noProof="0" dirty="0"/>
                  <a:t> la v</a:t>
                </a:r>
                <a:r>
                  <a:rPr lang="es-ES" sz="2600" noProof="0" dirty="0" err="1"/>
                  <a:t>íctima</a:t>
                </a:r>
                <a:r>
                  <a:rPr lang="es-ES" sz="2600" noProof="0" dirty="0"/>
                  <a:t> va a </a:t>
                </a:r>
                <a:r>
                  <a:rPr lang="es-ES" sz="2600" noProof="0" dirty="0" err="1"/>
                  <a:t>swapear</a:t>
                </a:r>
                <a:r>
                  <a:rPr lang="es-ES" sz="2600" noProof="0" dirty="0"/>
                  <a:t>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n-US" sz="2600" noProof="0" dirty="0"/>
                  <a:t> por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n-US" sz="2600" noProof="0" dirty="0"/>
                  <a:t>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noProof="0" dirty="0"/>
                  <a:t>El </a:t>
                </a:r>
                <a:r>
                  <a:rPr lang="en-US" sz="2600" noProof="0" dirty="0" err="1"/>
                  <a:t>atacante</a:t>
                </a:r>
                <a:r>
                  <a:rPr lang="en-US" sz="2600" noProof="0" dirty="0"/>
                  <a:t> </a:t>
                </a:r>
                <a:r>
                  <a:rPr lang="en-US" sz="2600" noProof="0" dirty="0" err="1"/>
                  <a:t>hace</a:t>
                </a:r>
                <a:r>
                  <a:rPr lang="en-US" sz="2600" noProof="0" dirty="0"/>
                  <a:t> un </a:t>
                </a:r>
                <a:r>
                  <a:rPr lang="en-US" sz="2600" b="1" noProof="0" dirty="0"/>
                  <a:t>front-run</a:t>
                </a:r>
                <a:r>
                  <a:rPr lang="en-US" sz="2600" noProof="0" dirty="0"/>
                  <a:t>: </a:t>
                </a:r>
                <a:r>
                  <a:rPr lang="en-US" sz="2600" noProof="0" dirty="0" err="1"/>
                  <a:t>Swapea</a:t>
                </a:r>
                <a:r>
                  <a:rPr lang="en-US" sz="2600" noProof="0" dirty="0"/>
                  <a:t>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n-US" sz="2600" dirty="0"/>
                  <a:t> por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n-US" sz="2600" noProof="0" dirty="0"/>
                  <a:t> al </a:t>
                </a:r>
                <a:r>
                  <a:rPr lang="en-US" sz="2600" noProof="0" dirty="0" err="1"/>
                  <a:t>precio</a:t>
                </a:r>
                <a:r>
                  <a:rPr lang="en-US" sz="2600" noProof="0" dirty="0"/>
                  <a:t> actual. La pool </a:t>
                </a:r>
                <a:r>
                  <a:rPr lang="en-US" sz="2600" noProof="0" dirty="0" err="1"/>
                  <a:t>ahora</a:t>
                </a:r>
                <a:r>
                  <a:rPr lang="en-US" sz="2600" noProof="0" dirty="0"/>
                  <a:t> </a:t>
                </a:r>
                <a:r>
                  <a:rPr lang="en-US" sz="2600" noProof="0" dirty="0" err="1"/>
                  <a:t>tiene</a:t>
                </a:r>
                <a:r>
                  <a:rPr lang="en-US" sz="2600" noProof="0" dirty="0"/>
                  <a:t>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n-US" sz="2600" dirty="0"/>
                  <a:t> y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𝟏𝟗𝟔𝟎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𝑬𝑻𝑯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2600" b="1" i="1" smtClean="0">
                            <a:latin typeface="Cambria Math" panose="02040503050406030204" pitchFamily="18" charset="0"/>
                          </a:rPr>
                          <m:t>𝟏𝟗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𝑫𝑨𝑰</m:t>
                        </m:r>
                      </m:e>
                    </m:d>
                    <m:r>
                      <a:rPr lang="es-ES" sz="2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600" noProof="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noProof="0" dirty="0"/>
                  <a:t>Se </a:t>
                </a:r>
                <a:r>
                  <a:rPr lang="en-US" sz="2600" noProof="0" dirty="0" err="1"/>
                  <a:t>ejecuta</a:t>
                </a:r>
                <a:r>
                  <a:rPr lang="en-US" sz="2600" noProof="0" dirty="0"/>
                  <a:t> </a:t>
                </a:r>
                <a:r>
                  <a:rPr lang="en-US" sz="2600" noProof="0" dirty="0" err="1"/>
                  <a:t>el</a:t>
                </a:r>
                <a:r>
                  <a:rPr lang="en-US" sz="2600" noProof="0" dirty="0"/>
                  <a:t> </a:t>
                </a:r>
                <a:r>
                  <a:rPr lang="en-US" sz="2600" noProof="0" dirty="0" err="1"/>
                  <a:t>intercambio</a:t>
                </a:r>
                <a:r>
                  <a:rPr lang="en-US" sz="2600" noProof="0" dirty="0"/>
                  <a:t> de la </a:t>
                </a:r>
                <a:r>
                  <a:rPr lang="en-US" sz="2600" noProof="0" dirty="0" err="1"/>
                  <a:t>víctima</a:t>
                </a:r>
                <a:r>
                  <a:rPr lang="en-US" sz="2600" noProof="0" dirty="0"/>
                  <a:t> y </a:t>
                </a:r>
                <a:r>
                  <a:rPr lang="en-US" sz="2600" noProof="0" dirty="0" err="1"/>
                  <a:t>obtiene</a:t>
                </a:r>
                <a:r>
                  <a:rPr lang="en-US" sz="2600" noProof="0" dirty="0"/>
                  <a:t>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𝟏𝟗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n-US" sz="2600" noProof="0" dirty="0"/>
                  <a:t>. La </a:t>
                </a:r>
                <a:r>
                  <a:rPr lang="en-US" sz="2600" dirty="0"/>
                  <a:t>pool </a:t>
                </a:r>
                <a:r>
                  <a:rPr lang="en-US" sz="2600" dirty="0" err="1"/>
                  <a:t>queda</a:t>
                </a:r>
                <a:r>
                  <a:rPr lang="en-US" sz="2600" dirty="0"/>
                  <a:t> </a:t>
                </a:r>
                <a:r>
                  <a:rPr lang="en-US" sz="2600" dirty="0" err="1"/>
                  <a:t>en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n-US" sz="2600" dirty="0"/>
                  <a:t> y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𝟕𝟕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𝑫𝑨𝑰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𝑬𝑻𝑯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2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26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𝑫𝑨𝑰</m:t>
                        </m:r>
                      </m:e>
                    </m:d>
                    <m:r>
                      <a:rPr lang="es-ES" sz="26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sz="2600" noProof="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s-ES" sz="2600" dirty="0"/>
                  <a:t>Con el </a:t>
                </a:r>
                <a:r>
                  <a:rPr lang="es-ES" sz="2600" b="1" dirty="0"/>
                  <a:t>ETH</a:t>
                </a:r>
                <a:r>
                  <a:rPr lang="es-ES" sz="2600" dirty="0"/>
                  <a:t> barato, el atacante hace un </a:t>
                </a:r>
                <a:r>
                  <a:rPr lang="es-ES" sz="2600" b="1" dirty="0"/>
                  <a:t>back</a:t>
                </a:r>
                <a:r>
                  <a:rPr lang="en-US" sz="2600" b="1" dirty="0"/>
                  <a:t>-run</a:t>
                </a:r>
                <a:r>
                  <a:rPr lang="es-ES" sz="2600" b="1" dirty="0"/>
                  <a:t> </a:t>
                </a:r>
                <a:r>
                  <a:rPr lang="es-ES" sz="2600" dirty="0"/>
                  <a:t>y usa los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n-US" sz="2600" dirty="0"/>
                  <a:t> que </a:t>
                </a:r>
                <a:r>
                  <a:rPr lang="en-US" sz="2600" dirty="0" err="1"/>
                  <a:t>compró</a:t>
                </a:r>
                <a:r>
                  <a:rPr lang="en-US" sz="2600" dirty="0"/>
                  <a:t> para </a:t>
                </a:r>
                <a:r>
                  <a:rPr lang="en-US" sz="2600" dirty="0" err="1"/>
                  <a:t>recuperar</a:t>
                </a:r>
                <a:r>
                  <a:rPr lang="en-US" sz="2600" dirty="0"/>
                  <a:t> sus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s-ES" sz="2600" noProof="0" dirty="0"/>
                  <a:t>: Gasta </a:t>
                </a:r>
                <a14:m>
                  <m:oMath xmlns:m="http://schemas.openxmlformats.org/officeDocument/2006/math">
                    <m:r>
                      <a:rPr lang="es-ES" sz="2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n-US" sz="2600" dirty="0"/>
                  <a:t> y </a:t>
                </a:r>
                <a:r>
                  <a:rPr lang="en-US" sz="2600" dirty="0" err="1"/>
                  <a:t>compra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s-ES" sz="2600" noProof="0" dirty="0"/>
                  <a:t>, recuperando la inversión y obteniendo ganancia de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s-ES" sz="2600" noProof="0" dirty="0"/>
                  <a:t>, cuando antes hubiera tenido que gastar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𝑫𝑨𝑰</m:t>
                    </m:r>
                  </m:oMath>
                </a14:m>
                <a:r>
                  <a:rPr lang="es-ES" sz="2600" noProof="0" dirty="0"/>
                  <a:t> para comprar </a:t>
                </a:r>
                <a14:m>
                  <m:oMath xmlns:m="http://schemas.openxmlformats.org/officeDocument/2006/math"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600" b="1" i="1" smtClean="0">
                        <a:latin typeface="Cambria Math" panose="02040503050406030204" pitchFamily="18" charset="0"/>
                      </a:rPr>
                      <m:t>𝑬𝑻𝑯</m:t>
                    </m:r>
                  </m:oMath>
                </a14:m>
                <a:r>
                  <a:rPr lang="es-ES" sz="2600" noProof="0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ADA069B-C920-36B9-810E-81F991091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360" y="1120878"/>
                <a:ext cx="9950103" cy="5250425"/>
              </a:xfrm>
              <a:blipFill>
                <a:blip r:embed="rId2"/>
                <a:stretch>
                  <a:fillRect l="-858" t="-697" r="-11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61601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2169</Words>
  <Application>Microsoft Office PowerPoint</Application>
  <PresentationFormat>Panorámica</PresentationFormat>
  <Paragraphs>195</Paragraphs>
  <Slides>29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Aptos</vt:lpstr>
      <vt:lpstr>Arial</vt:lpstr>
      <vt:lpstr>Cambria Math</vt:lpstr>
      <vt:lpstr>Wingdings</vt:lpstr>
      <vt:lpstr>BlocksVTI</vt:lpstr>
      <vt:lpstr>Automated Market Makers</vt:lpstr>
      <vt:lpstr>Automated Market Makers</vt:lpstr>
      <vt:lpstr>Automated Market Makers</vt:lpstr>
      <vt:lpstr>Tipos de Exchanges</vt:lpstr>
      <vt:lpstr>Tipos de Exchanges</vt:lpstr>
      <vt:lpstr>Tipos de Exchanges</vt:lpstr>
      <vt:lpstr>Tipos de Exchanges</vt:lpstr>
      <vt:lpstr>Automated Market Makers</vt:lpstr>
      <vt:lpstr>Constant Product Market Maker Model</vt:lpstr>
      <vt:lpstr>Constant Product Market Maker Model</vt:lpstr>
      <vt:lpstr>Constant Product Market Maker Model</vt:lpstr>
      <vt:lpstr>Constant Product Market Maker Model</vt:lpstr>
      <vt:lpstr>Constant Product Market Maker Model</vt:lpstr>
      <vt:lpstr>Constant Product Market Maker Model</vt:lpstr>
      <vt:lpstr>Automated Market Makers</vt:lpstr>
      <vt:lpstr>Constant Product Market Maker Model</vt:lpstr>
      <vt:lpstr>Constant Product Market Maker Model</vt:lpstr>
      <vt:lpstr>Constant Product Market Maker Model</vt:lpstr>
      <vt:lpstr>Automated Market Makers</vt:lpstr>
      <vt:lpstr>Constant Product Market Maker Model</vt:lpstr>
      <vt:lpstr>Constant Product Market Maker Model</vt:lpstr>
      <vt:lpstr>Constant Product Market Maker Model</vt:lpstr>
      <vt:lpstr>Automated Market Makers</vt:lpstr>
      <vt:lpstr>Uniswap</vt:lpstr>
      <vt:lpstr>Automated Market Makers</vt:lpstr>
      <vt:lpstr>Uniswap: Desventajas</vt:lpstr>
      <vt:lpstr>Uniswap: Desventajas</vt:lpstr>
      <vt:lpstr>Uniswap: Desventajas</vt:lpstr>
      <vt:lpstr>Uniswap: Desventajas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Elisiri</dc:creator>
  <cp:lastModifiedBy>Abril Elisiri</cp:lastModifiedBy>
  <cp:revision>6</cp:revision>
  <dcterms:created xsi:type="dcterms:W3CDTF">2025-12-05T15:07:10Z</dcterms:created>
  <dcterms:modified xsi:type="dcterms:W3CDTF">2025-12-11T03:32:02Z</dcterms:modified>
</cp:coreProperties>
</file>